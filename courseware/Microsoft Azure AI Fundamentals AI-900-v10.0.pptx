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Validation score</c:v>
                </c:pt>
              </c:strCache>
            </c:strRef>
          </c:tx>
          <c:cat>
            <c:strRef>
              <c:f>Sheet1!$A$2:$A$5</c:f>
              <c:strCache>
                <c:ptCount val="4"/>
                <c:pt idx="0">
                  <c:v>Baseline</c:v>
                </c:pt>
                <c:pt idx="1">
                  <c:v>Linear</c:v>
                </c:pt>
                <c:pt idx="2">
                  <c:v>Tree</c:v>
                </c:pt>
                <c:pt idx="3">
                  <c:v>Ensemble</c:v>
                </c:pt>
              </c:strCache>
            </c:strRef>
          </c:cat>
          <c:val>
            <c:numRef>
              <c:f>Sheet1!$B$2:$B$5</c:f>
              <c:numCache>
                <c:formatCode>General</c:formatCode>
                <c:ptCount val="4"/>
                <c:pt idx="0">
                  <c:v>0.61</c:v>
                </c:pt>
                <c:pt idx="1">
                  <c:v>0.72</c:v>
                </c:pt>
                <c:pt idx="2">
                  <c:v>0.81</c:v>
                </c:pt>
                <c:pt idx="3">
                  <c:v>0.86</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Validation score</c:v>
                </c:pt>
              </c:strCache>
            </c:strRef>
          </c:tx>
          <c:cat>
            <c:strRef>
              <c:f>Sheet1!$A$2:$A$5</c:f>
              <c:strCache>
                <c:ptCount val="4"/>
                <c:pt idx="0">
                  <c:v>Baseline</c:v>
                </c:pt>
                <c:pt idx="1">
                  <c:v>Linear</c:v>
                </c:pt>
                <c:pt idx="2">
                  <c:v>Tree</c:v>
                </c:pt>
                <c:pt idx="3">
                  <c:v>Ensemble</c:v>
                </c:pt>
              </c:strCache>
            </c:strRef>
          </c:cat>
          <c:val>
            <c:numRef>
              <c:f>Sheet1!$B$2:$B$5</c:f>
              <c:numCache>
                <c:formatCode>General</c:formatCode>
                <c:ptCount val="4"/>
                <c:pt idx="0">
                  <c:v>0.61</c:v>
                </c:pt>
                <c:pt idx="1">
                  <c:v>0.72</c:v>
                </c:pt>
                <c:pt idx="2">
                  <c:v>0.81</c:v>
                </c:pt>
                <c:pt idx="3">
                  <c:v>0.86</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Validation score</c:v>
                </c:pt>
              </c:strCache>
            </c:strRef>
          </c:tx>
          <c:cat>
            <c:strRef>
              <c:f>Sheet1!$A$2:$A$5</c:f>
              <c:strCache>
                <c:ptCount val="4"/>
                <c:pt idx="0">
                  <c:v>Baseline</c:v>
                </c:pt>
                <c:pt idx="1">
                  <c:v>Linear</c:v>
                </c:pt>
                <c:pt idx="2">
                  <c:v>Tree</c:v>
                </c:pt>
                <c:pt idx="3">
                  <c:v>Ensemble</c:v>
                </c:pt>
              </c:strCache>
            </c:strRef>
          </c:cat>
          <c:val>
            <c:numRef>
              <c:f>Sheet1!$B$2:$B$5</c:f>
              <c:numCache>
                <c:formatCode>General</c:formatCode>
                <c:ptCount val="4"/>
                <c:pt idx="0">
                  <c:v>0.61</c:v>
                </c:pt>
                <c:pt idx="1">
                  <c:v>0.72</c:v>
                </c:pt>
                <c:pt idx="2">
                  <c:v>0.81</c:v>
                </c:pt>
                <c:pt idx="3">
                  <c:v>0.86</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Validation score</c:v>
                </c:pt>
              </c:strCache>
            </c:strRef>
          </c:tx>
          <c:cat>
            <c:strRef>
              <c:f>Sheet1!$A$2:$A$5</c:f>
              <c:strCache>
                <c:ptCount val="4"/>
                <c:pt idx="0">
                  <c:v>Baseline</c:v>
                </c:pt>
                <c:pt idx="1">
                  <c:v>Linear</c:v>
                </c:pt>
                <c:pt idx="2">
                  <c:v>Tree</c:v>
                </c:pt>
                <c:pt idx="3">
                  <c:v>Ensemble</c:v>
                </c:pt>
              </c:strCache>
            </c:strRef>
          </c:cat>
          <c:val>
            <c:numRef>
              <c:f>Sheet1!$B$2:$B$5</c:f>
              <c:numCache>
                <c:formatCode>General</c:formatCode>
                <c:ptCount val="4"/>
                <c:pt idx="0">
                  <c:v>0.61</c:v>
                </c:pt>
                <c:pt idx="1">
                  <c:v>0.72</c:v>
                </c:pt>
                <c:pt idx="2">
                  <c:v>0.81</c:v>
                </c:pt>
                <c:pt idx="3">
                  <c:v>0.86</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Validation score</c:v>
                </c:pt>
              </c:strCache>
            </c:strRef>
          </c:tx>
          <c:cat>
            <c:strRef>
              <c:f>Sheet1!$A$2:$A$5</c:f>
              <c:strCache>
                <c:ptCount val="4"/>
                <c:pt idx="0">
                  <c:v>Baseline</c:v>
                </c:pt>
                <c:pt idx="1">
                  <c:v>Linear</c:v>
                </c:pt>
                <c:pt idx="2">
                  <c:v>Tree</c:v>
                </c:pt>
                <c:pt idx="3">
                  <c:v>Ensemble</c:v>
                </c:pt>
              </c:strCache>
            </c:strRef>
          </c:cat>
          <c:val>
            <c:numRef>
              <c:f>Sheet1!$B$2:$B$5</c:f>
              <c:numCache>
                <c:formatCode>General</c:formatCode>
                <c:ptCount val="4"/>
                <c:pt idx="0">
                  <c:v>0.61</c:v>
                </c:pt>
                <c:pt idx="1">
                  <c:v>0.72</c:v>
                </c:pt>
                <c:pt idx="2">
                  <c:v>0.81</c:v>
                </c:pt>
                <c:pt idx="3">
                  <c:v>0.86</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Validation cases</c:v>
                </c:pt>
              </c:strCache>
            </c:strRef>
          </c:tx>
          <c:cat>
            <c:strRef>
              <c:f>Sheet1!$A$2:$A$5</c:f>
              <c:strCache>
                <c:ptCount val="4"/>
                <c:pt idx="0">
                  <c:v>True positive</c:v>
                </c:pt>
                <c:pt idx="1">
                  <c:v>False positive</c:v>
                </c:pt>
                <c:pt idx="2">
                  <c:v>False negative</c:v>
                </c:pt>
                <c:pt idx="3">
                  <c:v>True negative</c:v>
                </c:pt>
              </c:strCache>
            </c:strRef>
          </c:cat>
          <c:val>
            <c:numRef>
              <c:f>Sheet1!$B$2:$B$5</c:f>
              <c:numCache>
                <c:formatCode>General</c:formatCode>
                <c:ptCount val="4"/>
                <c:pt idx="0">
                  <c:v>38</c:v>
                </c:pt>
                <c:pt idx="1">
                  <c:v>6</c:v>
                </c:pt>
                <c:pt idx="2">
                  <c:v>9</c:v>
                </c:pt>
                <c:pt idx="3">
                  <c:v>47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Validation cases</c:v>
                </c:pt>
              </c:strCache>
            </c:strRef>
          </c:tx>
          <c:cat>
            <c:strRef>
              <c:f>Sheet1!$A$2:$A$5</c:f>
              <c:strCache>
                <c:ptCount val="4"/>
                <c:pt idx="0">
                  <c:v>True positive</c:v>
                </c:pt>
                <c:pt idx="1">
                  <c:v>False positive</c:v>
                </c:pt>
                <c:pt idx="2">
                  <c:v>False negative</c:v>
                </c:pt>
                <c:pt idx="3">
                  <c:v>True negative</c:v>
                </c:pt>
              </c:strCache>
            </c:strRef>
          </c:cat>
          <c:val>
            <c:numRef>
              <c:f>Sheet1!$B$2:$B$5</c:f>
              <c:numCache>
                <c:formatCode>General</c:formatCode>
                <c:ptCount val="4"/>
                <c:pt idx="0">
                  <c:v>38</c:v>
                </c:pt>
                <c:pt idx="1">
                  <c:v>6</c:v>
                </c:pt>
                <c:pt idx="2">
                  <c:v>9</c:v>
                </c:pt>
                <c:pt idx="3">
                  <c:v>47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Validation cases</c:v>
                </c:pt>
              </c:strCache>
            </c:strRef>
          </c:tx>
          <c:cat>
            <c:strRef>
              <c:f>Sheet1!$A$2:$A$5</c:f>
              <c:strCache>
                <c:ptCount val="4"/>
                <c:pt idx="0">
                  <c:v>True positive</c:v>
                </c:pt>
                <c:pt idx="1">
                  <c:v>False positive</c:v>
                </c:pt>
                <c:pt idx="2">
                  <c:v>False negative</c:v>
                </c:pt>
                <c:pt idx="3">
                  <c:v>True negative</c:v>
                </c:pt>
              </c:strCache>
            </c:strRef>
          </c:cat>
          <c:val>
            <c:numRef>
              <c:f>Sheet1!$B$2:$B$5</c:f>
              <c:numCache>
                <c:formatCode>General</c:formatCode>
                <c:ptCount val="4"/>
                <c:pt idx="0">
                  <c:v>38</c:v>
                </c:pt>
                <c:pt idx="1">
                  <c:v>6</c:v>
                </c:pt>
                <c:pt idx="2">
                  <c:v>9</c:v>
                </c:pt>
                <c:pt idx="3">
                  <c:v>47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Validation cases</c:v>
                </c:pt>
              </c:strCache>
            </c:strRef>
          </c:tx>
          <c:cat>
            <c:strRef>
              <c:f>Sheet1!$A$2:$A$5</c:f>
              <c:strCache>
                <c:ptCount val="4"/>
                <c:pt idx="0">
                  <c:v>True positive</c:v>
                </c:pt>
                <c:pt idx="1">
                  <c:v>False positive</c:v>
                </c:pt>
                <c:pt idx="2">
                  <c:v>False negative</c:v>
                </c:pt>
                <c:pt idx="3">
                  <c:v>True negative</c:v>
                </c:pt>
              </c:strCache>
            </c:strRef>
          </c:cat>
          <c:val>
            <c:numRef>
              <c:f>Sheet1!$B$2:$B$5</c:f>
              <c:numCache>
                <c:formatCode>General</c:formatCode>
                <c:ptCount val="4"/>
                <c:pt idx="0">
                  <c:v>38</c:v>
                </c:pt>
                <c:pt idx="1">
                  <c:v>6</c:v>
                </c:pt>
                <c:pt idx="2">
                  <c:v>9</c:v>
                </c:pt>
                <c:pt idx="3">
                  <c:v>47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Validation cases</c:v>
                </c:pt>
              </c:strCache>
            </c:strRef>
          </c:tx>
          <c:cat>
            <c:strRef>
              <c:f>Sheet1!$A$2:$A$3</c:f>
              <c:strCache>
                <c:ptCount val="2"/>
                <c:pt idx="0">
                  <c:v>Correct</c:v>
                </c:pt>
                <c:pt idx="1">
                  <c:v>Incorrect</c:v>
                </c:pt>
              </c:strCache>
            </c:strRef>
          </c:cat>
          <c:val>
            <c:numRef>
              <c:f>Sheet1!$B$2:$B$3</c:f>
              <c:numCache>
                <c:formatCode>General</c:formatCode>
                <c:ptCount val="2"/>
                <c:pt idx="0">
                  <c:v>85</c:v>
                </c:pt>
                <c:pt idx="1">
                  <c:v>15</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Cases</c:v>
                </c:pt>
              </c:strCache>
            </c:strRef>
          </c:tx>
          <c:cat>
            <c:strRef>
              <c:f>Sheet1!$A$2:$A$3</c:f>
              <c:strCache>
                <c:ptCount val="2"/>
                <c:pt idx="0">
                  <c:v>Found positives</c:v>
                </c:pt>
                <c:pt idx="1">
                  <c:v>Missed positives</c:v>
                </c:pt>
              </c:strCache>
            </c:strRef>
          </c:cat>
          <c:val>
            <c:numRef>
              <c:f>Sheet1!$B$2:$B$3</c:f>
              <c:numCache>
                <c:formatCode>General</c:formatCode>
                <c:ptCount val="2"/>
                <c:pt idx="0">
                  <c:v>16</c:v>
                </c:pt>
                <c:pt idx="1">
                  <c:v>9</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True positives</c:v>
                </c:pt>
              </c:strCache>
            </c:strRef>
          </c:tx>
          <c:cat>
            <c:strRef>
              <c:f>Sheet1!$A$2:$A$4</c:f>
              <c:strCache>
                <c:ptCount val="3"/>
                <c:pt idx="0">
                  <c:v>0.30</c:v>
                </c:pt>
                <c:pt idx="1">
                  <c:v>0.50</c:v>
                </c:pt>
                <c:pt idx="2">
                  <c:v>0.70</c:v>
                </c:pt>
              </c:strCache>
            </c:strRef>
          </c:cat>
          <c:val>
            <c:numRef>
              <c:f>Sheet1!$B$2:$B$4</c:f>
              <c:numCache>
                <c:formatCode>General</c:formatCode>
                <c:ptCount val="3"/>
                <c:pt idx="0">
                  <c:v>23</c:v>
                </c:pt>
                <c:pt idx="1">
                  <c:v>20</c:v>
                </c:pt>
                <c:pt idx="2">
                  <c:v>15</c:v>
                </c:pt>
              </c:numCache>
            </c:numRef>
          </c:val>
        </c:ser>
        <c:ser>
          <c:idx val="1"/>
          <c:order val="1"/>
          <c:tx>
            <c:strRef>
              <c:f>Sheet1!$C$1</c:f>
              <c:strCache>
                <c:ptCount val="1"/>
                <c:pt idx="0">
                  <c:v>False positives</c:v>
                </c:pt>
              </c:strCache>
            </c:strRef>
          </c:tx>
          <c:cat>
            <c:strRef>
              <c:f>Sheet1!$A$2:$A$4</c:f>
              <c:strCache>
                <c:ptCount val="3"/>
                <c:pt idx="0">
                  <c:v>0.30</c:v>
                </c:pt>
                <c:pt idx="1">
                  <c:v>0.50</c:v>
                </c:pt>
                <c:pt idx="2">
                  <c:v>0.70</c:v>
                </c:pt>
              </c:strCache>
            </c:strRef>
          </c:cat>
          <c:val>
            <c:numRef>
              <c:f>Sheet1!$C$2:$C$4</c:f>
              <c:numCache>
                <c:formatCode>General</c:formatCode>
                <c:ptCount val="3"/>
                <c:pt idx="0">
                  <c:v>18</c:v>
                </c:pt>
                <c:pt idx="1">
                  <c:v>9</c:v>
                </c:pt>
                <c:pt idx="2">
                  <c:v>3</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lineChart>
        <c:grouping val="standard"/>
        <c:varyColors val="0"/>
        <c:ser>
          <c:idx val="0"/>
          <c:order val="0"/>
          <c:tx>
            <c:strRef>
              <c:f>Sheet1!$B$1</c:f>
              <c:strCache>
                <c:ptCount val="1"/>
                <c:pt idx="0">
                  <c:v>True-positive rate</c:v>
                </c:pt>
              </c:strCache>
            </c:strRef>
          </c:tx>
          <c:cat>
            <c:strRef>
              <c:f>Sheet1!$A$2:$A$6</c:f>
              <c:strCache>
                <c:ptCount val="5"/>
                <c:pt idx="0">
                  <c:v>0.00</c:v>
                </c:pt>
                <c:pt idx="1">
                  <c:v>0.10</c:v>
                </c:pt>
                <c:pt idx="2">
                  <c:v>0.30</c:v>
                </c:pt>
                <c:pt idx="3">
                  <c:v>0.60</c:v>
                </c:pt>
                <c:pt idx="4">
                  <c:v>1.00</c:v>
                </c:pt>
              </c:strCache>
            </c:strRef>
          </c:cat>
          <c:val>
            <c:numRef>
              <c:f>Sheet1!$B$2:$B$6</c:f>
              <c:numCache>
                <c:formatCode>General</c:formatCode>
                <c:ptCount val="5"/>
                <c:pt idx="0">
                  <c:v>0</c:v>
                </c:pt>
                <c:pt idx="1">
                  <c:v>0.62</c:v>
                </c:pt>
                <c:pt idx="2">
                  <c:v>0.82</c:v>
                </c:pt>
                <c:pt idx="3">
                  <c:v>0.94</c:v>
                </c:pt>
                <c:pt idx="4">
                  <c:v>1</c:v>
                </c:pt>
              </c:numCache>
            </c:numRef>
          </c:val>
          <c:smooth val="0"/>
        </c:ser>
        <c:ser>
          <c:idx val="1"/>
          <c:order val="1"/>
          <c:tx>
            <c:strRef>
              <c:f>Sheet1!$C$1</c:f>
              <c:strCache>
                <c:ptCount val="1"/>
                <c:pt idx="0">
                  <c:v>Random baseline</c:v>
                </c:pt>
              </c:strCache>
            </c:strRef>
          </c:tx>
          <c:cat>
            <c:strRef>
              <c:f>Sheet1!$A$2:$A$6</c:f>
              <c:strCache>
                <c:ptCount val="5"/>
                <c:pt idx="0">
                  <c:v>0.00</c:v>
                </c:pt>
                <c:pt idx="1">
                  <c:v>0.10</c:v>
                </c:pt>
                <c:pt idx="2">
                  <c:v>0.30</c:v>
                </c:pt>
                <c:pt idx="3">
                  <c:v>0.60</c:v>
                </c:pt>
                <c:pt idx="4">
                  <c:v>1.00</c:v>
                </c:pt>
              </c:strCache>
            </c:strRef>
          </c:cat>
          <c:val>
            <c:numRef>
              <c:f>Sheet1!$C$2:$C$6</c:f>
              <c:numCache>
                <c:formatCode>General</c:formatCode>
                <c:ptCount val="5"/>
                <c:pt idx="0">
                  <c:v>0</c:v>
                </c:pt>
                <c:pt idx="1">
                  <c:v>0.1</c:v>
                </c:pt>
                <c:pt idx="2">
                  <c:v>0.3</c:v>
                </c:pt>
                <c:pt idx="3">
                  <c:v>0.6</c:v>
                </c:pt>
                <c:pt idx="4">
                  <c:v>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lineChart>
        <c:grouping val="standard"/>
        <c:varyColors val="0"/>
        <c:ser>
          <c:idx val="0"/>
          <c:order val="0"/>
          <c:tx>
            <c:strRef>
              <c:f>Sheet1!$B$1</c:f>
              <c:strCache>
                <c:ptCount val="1"/>
                <c:pt idx="0">
                  <c:v>True-positive rate</c:v>
                </c:pt>
              </c:strCache>
            </c:strRef>
          </c:tx>
          <c:cat>
            <c:strRef>
              <c:f>Sheet1!$A$2:$A$6</c:f>
              <c:strCache>
                <c:ptCount val="5"/>
                <c:pt idx="0">
                  <c:v>0.00</c:v>
                </c:pt>
                <c:pt idx="1">
                  <c:v>0.10</c:v>
                </c:pt>
                <c:pt idx="2">
                  <c:v>0.30</c:v>
                </c:pt>
                <c:pt idx="3">
                  <c:v>0.60</c:v>
                </c:pt>
                <c:pt idx="4">
                  <c:v>1.00</c:v>
                </c:pt>
              </c:strCache>
            </c:strRef>
          </c:cat>
          <c:val>
            <c:numRef>
              <c:f>Sheet1!$B$2:$B$6</c:f>
              <c:numCache>
                <c:formatCode>General</c:formatCode>
                <c:ptCount val="5"/>
                <c:pt idx="0">
                  <c:v>0</c:v>
                </c:pt>
                <c:pt idx="1">
                  <c:v>0.62</c:v>
                </c:pt>
                <c:pt idx="2">
                  <c:v>0.82</c:v>
                </c:pt>
                <c:pt idx="3">
                  <c:v>0.94</c:v>
                </c:pt>
                <c:pt idx="4">
                  <c:v>1</c:v>
                </c:pt>
              </c:numCache>
            </c:numRef>
          </c:val>
          <c:smooth val="0"/>
        </c:ser>
        <c:ser>
          <c:idx val="1"/>
          <c:order val="1"/>
          <c:tx>
            <c:strRef>
              <c:f>Sheet1!$C$1</c:f>
              <c:strCache>
                <c:ptCount val="1"/>
                <c:pt idx="0">
                  <c:v>Random baseline</c:v>
                </c:pt>
              </c:strCache>
            </c:strRef>
          </c:tx>
          <c:cat>
            <c:strRef>
              <c:f>Sheet1!$A$2:$A$6</c:f>
              <c:strCache>
                <c:ptCount val="5"/>
                <c:pt idx="0">
                  <c:v>0.00</c:v>
                </c:pt>
                <c:pt idx="1">
                  <c:v>0.10</c:v>
                </c:pt>
                <c:pt idx="2">
                  <c:v>0.30</c:v>
                </c:pt>
                <c:pt idx="3">
                  <c:v>0.60</c:v>
                </c:pt>
                <c:pt idx="4">
                  <c:v>1.00</c:v>
                </c:pt>
              </c:strCache>
            </c:strRef>
          </c:cat>
          <c:val>
            <c:numRef>
              <c:f>Sheet1!$C$2:$C$6</c:f>
              <c:numCache>
                <c:formatCode>General</c:formatCode>
                <c:ptCount val="5"/>
                <c:pt idx="0">
                  <c:v>0</c:v>
                </c:pt>
                <c:pt idx="1">
                  <c:v>0.1</c:v>
                </c:pt>
                <c:pt idx="2">
                  <c:v>0.3</c:v>
                </c:pt>
                <c:pt idx="3">
                  <c:v>0.6</c:v>
                </c:pt>
                <c:pt idx="4">
                  <c:v>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Mean sepal length</c:v>
                </c:pt>
              </c:strCache>
            </c:strRef>
          </c:tx>
          <c:cat>
            <c:strRef>
              <c:f>Sheet1!$A$2:$A$4</c:f>
              <c:strCache>
                <c:ptCount val="3"/>
                <c:pt idx="0">
                  <c:v>Setosa</c:v>
                </c:pt>
                <c:pt idx="1">
                  <c:v>Versicolor</c:v>
                </c:pt>
                <c:pt idx="2">
                  <c:v>Virginica</c:v>
                </c:pt>
              </c:strCache>
            </c:strRef>
          </c:cat>
          <c:val>
            <c:numRef>
              <c:f>Sheet1!$B$2:$B$4</c:f>
              <c:numCache>
                <c:formatCode>General</c:formatCode>
                <c:ptCount val="3"/>
                <c:pt idx="0">
                  <c:v>5.0</c:v>
                </c:pt>
                <c:pt idx="1">
                  <c:v>5.9</c:v>
                </c:pt>
                <c:pt idx="2">
                  <c:v>6.6</c:v>
                </c:pt>
              </c:numCache>
            </c:numRef>
          </c:val>
        </c:ser>
        <c:ser>
          <c:idx val="1"/>
          <c:order val="1"/>
          <c:tx>
            <c:strRef>
              <c:f>Sheet1!$C$1</c:f>
              <c:strCache>
                <c:ptCount val="1"/>
                <c:pt idx="0">
                  <c:v>Mean petal length</c:v>
                </c:pt>
              </c:strCache>
            </c:strRef>
          </c:tx>
          <c:cat>
            <c:strRef>
              <c:f>Sheet1!$A$2:$A$4</c:f>
              <c:strCache>
                <c:ptCount val="3"/>
                <c:pt idx="0">
                  <c:v>Setosa</c:v>
                </c:pt>
                <c:pt idx="1">
                  <c:v>Versicolor</c:v>
                </c:pt>
                <c:pt idx="2">
                  <c:v>Virginica</c:v>
                </c:pt>
              </c:strCache>
            </c:strRef>
          </c:cat>
          <c:val>
            <c:numRef>
              <c:f>Sheet1!$C$2:$C$4</c:f>
              <c:numCache>
                <c:formatCode>General</c:formatCode>
                <c:ptCount val="3"/>
                <c:pt idx="0">
                  <c:v>1.5</c:v>
                </c:pt>
                <c:pt idx="1">
                  <c:v>4.3</c:v>
                </c:pt>
                <c:pt idx="2">
                  <c:v>5.6</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Mean sepal length</c:v>
                </c:pt>
              </c:strCache>
            </c:strRef>
          </c:tx>
          <c:cat>
            <c:strRef>
              <c:f>Sheet1!$A$2:$A$4</c:f>
              <c:strCache>
                <c:ptCount val="3"/>
                <c:pt idx="0">
                  <c:v>Setosa</c:v>
                </c:pt>
                <c:pt idx="1">
                  <c:v>Versicolor</c:v>
                </c:pt>
                <c:pt idx="2">
                  <c:v>Virginica</c:v>
                </c:pt>
              </c:strCache>
            </c:strRef>
          </c:cat>
          <c:val>
            <c:numRef>
              <c:f>Sheet1!$B$2:$B$4</c:f>
              <c:numCache>
                <c:formatCode>General</c:formatCode>
                <c:ptCount val="3"/>
                <c:pt idx="0">
                  <c:v>5.0</c:v>
                </c:pt>
                <c:pt idx="1">
                  <c:v>5.9</c:v>
                </c:pt>
                <c:pt idx="2">
                  <c:v>6.6</c:v>
                </c:pt>
              </c:numCache>
            </c:numRef>
          </c:val>
        </c:ser>
        <c:ser>
          <c:idx val="1"/>
          <c:order val="1"/>
          <c:tx>
            <c:strRef>
              <c:f>Sheet1!$C$1</c:f>
              <c:strCache>
                <c:ptCount val="1"/>
                <c:pt idx="0">
                  <c:v>Mean petal length</c:v>
                </c:pt>
              </c:strCache>
            </c:strRef>
          </c:tx>
          <c:cat>
            <c:strRef>
              <c:f>Sheet1!$A$2:$A$4</c:f>
              <c:strCache>
                <c:ptCount val="3"/>
                <c:pt idx="0">
                  <c:v>Setosa</c:v>
                </c:pt>
                <c:pt idx="1">
                  <c:v>Versicolor</c:v>
                </c:pt>
                <c:pt idx="2">
                  <c:v>Virginica</c:v>
                </c:pt>
              </c:strCache>
            </c:strRef>
          </c:cat>
          <c:val>
            <c:numRef>
              <c:f>Sheet1!$C$2:$C$4</c:f>
              <c:numCache>
                <c:formatCode>General</c:formatCode>
                <c:ptCount val="3"/>
                <c:pt idx="0">
                  <c:v>1.5</c:v>
                </c:pt>
                <c:pt idx="1">
                  <c:v>4.3</c:v>
                </c:pt>
                <c:pt idx="2">
                  <c:v>5.6</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lineChart>
        <c:grouping val="standard"/>
        <c:varyColors val="0"/>
        <c:ser>
          <c:idx val="0"/>
          <c:order val="0"/>
          <c:tx>
            <c:strRef>
              <c:f>Sheet1!$B$1</c:f>
              <c:strCache>
                <c:ptCount val="1"/>
                <c:pt idx="0">
                  <c:v>Observed</c:v>
                </c:pt>
              </c:strCache>
            </c:strRef>
          </c:tx>
          <c:cat>
            <c:strRef>
              <c:f>Sheet1!$A$2:$A$7</c:f>
              <c:strCache>
                <c:ptCount val="6"/>
                <c:pt idx="0">
                  <c:v>08:00</c:v>
                </c:pt>
                <c:pt idx="1">
                  <c:v>09:00</c:v>
                </c:pt>
                <c:pt idx="2">
                  <c:v>10:00</c:v>
                </c:pt>
                <c:pt idx="3">
                  <c:v>11:00</c:v>
                </c:pt>
                <c:pt idx="4">
                  <c:v>12:00</c:v>
                </c:pt>
                <c:pt idx="5">
                  <c:v>13:00</c:v>
                </c:pt>
              </c:strCache>
            </c:strRef>
          </c:cat>
          <c:val>
            <c:numRef>
              <c:f>Sheet1!$B$2:$B$7</c:f>
              <c:numCache>
                <c:formatCode>General</c:formatCode>
                <c:ptCount val="6"/>
                <c:pt idx="0">
                  <c:v>20</c:v>
                </c:pt>
                <c:pt idx="1">
                  <c:v>21</c:v>
                </c:pt>
                <c:pt idx="2">
                  <c:v>20</c:v>
                </c:pt>
                <c:pt idx="3">
                  <c:v>35</c:v>
                </c:pt>
                <c:pt idx="4">
                  <c:v>22</c:v>
                </c:pt>
                <c:pt idx="5">
                  <c:v>21</c:v>
                </c:pt>
              </c:numCache>
            </c:numRef>
          </c:val>
          <c:smooth val="0"/>
        </c:ser>
        <c:ser>
          <c:idx val="1"/>
          <c:order val="1"/>
          <c:tx>
            <c:strRef>
              <c:f>Sheet1!$C$1</c:f>
              <c:strCache>
                <c:ptCount val="1"/>
                <c:pt idx="0">
                  <c:v>Expected</c:v>
                </c:pt>
              </c:strCache>
            </c:strRef>
          </c:tx>
          <c:cat>
            <c:strRef>
              <c:f>Sheet1!$A$2:$A$7</c:f>
              <c:strCache>
                <c:ptCount val="6"/>
                <c:pt idx="0">
                  <c:v>08:00</c:v>
                </c:pt>
                <c:pt idx="1">
                  <c:v>09:00</c:v>
                </c:pt>
                <c:pt idx="2">
                  <c:v>10:00</c:v>
                </c:pt>
                <c:pt idx="3">
                  <c:v>11:00</c:v>
                </c:pt>
                <c:pt idx="4">
                  <c:v>12:00</c:v>
                </c:pt>
                <c:pt idx="5">
                  <c:v>13:00</c:v>
                </c:pt>
              </c:strCache>
            </c:strRef>
          </c:cat>
          <c:val>
            <c:numRef>
              <c:f>Sheet1!$C$2:$C$7</c:f>
              <c:numCache>
                <c:formatCode>General</c:formatCode>
                <c:ptCount val="6"/>
                <c:pt idx="0">
                  <c:v>20</c:v>
                </c:pt>
                <c:pt idx="1">
                  <c:v>20</c:v>
                </c:pt>
                <c:pt idx="2">
                  <c:v>21</c:v>
                </c:pt>
                <c:pt idx="3">
                  <c:v>21</c:v>
                </c:pt>
                <c:pt idx="4">
                  <c:v>22</c:v>
                </c:pt>
                <c:pt idx="5">
                  <c:v>22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Batch fit</c:v>
                </c:pt>
              </c:strCache>
            </c:strRef>
          </c:tx>
          <c:cat>
            <c:strRef>
              <c:f>Sheet1!$A$2:$A$3</c:f>
              <c:strCache>
                <c:ptCount val="2"/>
                <c:pt idx="0">
                  <c:v>Historical review</c:v>
                </c:pt>
                <c:pt idx="1">
                  <c:v>Streaming alert</c:v>
                </c:pt>
              </c:strCache>
            </c:strRef>
          </c:cat>
          <c:val>
            <c:numRef>
              <c:f>Sheet1!$B$2:$B$3</c:f>
              <c:numCache>
                <c:formatCode>General</c:formatCode>
                <c:ptCount val="2"/>
                <c:pt idx="0">
                  <c:v>9</c:v>
                </c:pt>
                <c:pt idx="1">
                  <c:v>3</c:v>
                </c:pt>
              </c:numCache>
            </c:numRef>
          </c:val>
        </c:ser>
        <c:ser>
          <c:idx val="1"/>
          <c:order val="1"/>
          <c:tx>
            <c:strRef>
              <c:f>Sheet1!$C$1</c:f>
              <c:strCache>
                <c:ptCount val="1"/>
                <c:pt idx="0">
                  <c:v>Real-time fit</c:v>
                </c:pt>
              </c:strCache>
            </c:strRef>
          </c:tx>
          <c:cat>
            <c:strRef>
              <c:f>Sheet1!$A$2:$A$3</c:f>
              <c:strCache>
                <c:ptCount val="2"/>
                <c:pt idx="0">
                  <c:v>Historical review</c:v>
                </c:pt>
                <c:pt idx="1">
                  <c:v>Streaming alert</c:v>
                </c:pt>
              </c:strCache>
            </c:strRef>
          </c:cat>
          <c:val>
            <c:numRef>
              <c:f>Sheet1!$C$2:$C$3</c:f>
              <c:numCache>
                <c:formatCode>General</c:formatCode>
                <c:ptCount val="2"/>
                <c:pt idx="0">
                  <c:v>4</c:v>
                </c:pt>
                <c:pt idx="1">
                  <c:v>9</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lineChart>
        <c:grouping val="standard"/>
        <c:varyColors val="0"/>
        <c:ser>
          <c:idx val="0"/>
          <c:order val="0"/>
          <c:tx>
            <c:strRef>
              <c:f>Sheet1!$B$1</c:f>
              <c:strCache>
                <c:ptCount val="1"/>
                <c:pt idx="0">
                  <c:v>Storage °C</c:v>
                </c:pt>
              </c:strCache>
            </c:strRef>
          </c:tx>
          <c:cat>
            <c:strRef>
              <c:f>Sheet1!$A$2:$A$7</c:f>
              <c:strCache>
                <c:ptCount val="6"/>
                <c:pt idx="0">
                  <c:v>Week 1</c:v>
                </c:pt>
                <c:pt idx="1">
                  <c:v>Week 2</c:v>
                </c:pt>
                <c:pt idx="2">
                  <c:v>Week 3</c:v>
                </c:pt>
                <c:pt idx="3">
                  <c:v>Week 4</c:v>
                </c:pt>
                <c:pt idx="4">
                  <c:v>Week 5</c:v>
                </c:pt>
                <c:pt idx="5">
                  <c:v>Week 6</c:v>
                </c:pt>
              </c:strCache>
            </c:strRef>
          </c:cat>
          <c:val>
            <c:numRef>
              <c:f>Sheet1!$B$2:$B$7</c:f>
              <c:numCache>
                <c:formatCode>General</c:formatCode>
                <c:ptCount val="6"/>
                <c:pt idx="0">
                  <c:v>5</c:v>
                </c:pt>
                <c:pt idx="1">
                  <c:v>5.2</c:v>
                </c:pt>
                <c:pt idx="2">
                  <c:v>7.8</c:v>
                </c:pt>
                <c:pt idx="3">
                  <c:v>5.1</c:v>
                </c:pt>
                <c:pt idx="4">
                  <c:v>4.9</c:v>
                </c:pt>
                <c:pt idx="5">
                  <c:v>5</c:v>
                </c:pt>
              </c:numCache>
            </c:numRef>
          </c:val>
          <c:smooth val="0"/>
        </c:ser>
        <c:ser>
          <c:idx val="1"/>
          <c:order val="1"/>
          <c:tx>
            <c:strRef>
              <c:f>Sheet1!$C$1</c:f>
              <c:strCache>
                <c:ptCount val="1"/>
                <c:pt idx="0">
                  <c:v>Upper limit</c:v>
                </c:pt>
              </c:strCache>
            </c:strRef>
          </c:tx>
          <c:cat>
            <c:strRef>
              <c:f>Sheet1!$A$2:$A$7</c:f>
              <c:strCache>
                <c:ptCount val="6"/>
                <c:pt idx="0">
                  <c:v>Week 1</c:v>
                </c:pt>
                <c:pt idx="1">
                  <c:v>Week 2</c:v>
                </c:pt>
                <c:pt idx="2">
                  <c:v>Week 3</c:v>
                </c:pt>
                <c:pt idx="3">
                  <c:v>Week 4</c:v>
                </c:pt>
                <c:pt idx="4">
                  <c:v>Week 5</c:v>
                </c:pt>
                <c:pt idx="5">
                  <c:v>Week 6</c:v>
                </c:pt>
              </c:strCache>
            </c:strRef>
          </c:cat>
          <c:val>
            <c:numRef>
              <c:f>Sheet1!$C$2:$C$7</c:f>
              <c:numCache>
                <c:formatCode>General</c:formatCode>
                <c:ptCount val="6"/>
                <c:pt idx="0">
                  <c:v>7</c:v>
                </c:pt>
                <c:pt idx="1">
                  <c:v>7</c:v>
                </c:pt>
                <c:pt idx="2">
                  <c:v>7</c:v>
                </c:pt>
                <c:pt idx="3">
                  <c:v>7</c:v>
                </c:pt>
                <c:pt idx="4">
                  <c:v>7</c:v>
                </c:pt>
                <c:pt idx="5">
                  <c:v>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lineChart>
        <c:grouping val="standard"/>
        <c:varyColors val="0"/>
        <c:ser>
          <c:idx val="0"/>
          <c:order val="0"/>
          <c:tx>
            <c:strRef>
              <c:f>Sheet1!$B$1</c:f>
              <c:strCache>
                <c:ptCount val="1"/>
                <c:pt idx="0">
                  <c:v>Observed</c:v>
                </c:pt>
              </c:strCache>
            </c:strRef>
          </c:tx>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20</c:v>
                </c:pt>
                <c:pt idx="1">
                  <c:v>22</c:v>
                </c:pt>
                <c:pt idx="2">
                  <c:v>21</c:v>
                </c:pt>
                <c:pt idx="3">
                  <c:v>32</c:v>
                </c:pt>
                <c:pt idx="4">
                  <c:v>23</c:v>
                </c:pt>
                <c:pt idx="5">
                  <c:v>22</c:v>
                </c:pt>
              </c:numCache>
            </c:numRef>
          </c:val>
          <c:smooth val="0"/>
        </c:ser>
        <c:ser>
          <c:idx val="1"/>
          <c:order val="1"/>
          <c:tx>
            <c:strRef>
              <c:f>Sheet1!$C$1</c:f>
              <c:strCache>
                <c:ptCount val="1"/>
                <c:pt idx="0">
                  <c:v>Seasonal baseline</c:v>
                </c:pt>
              </c:strCache>
            </c:strRef>
          </c:tx>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20</c:v>
                </c:pt>
                <c:pt idx="1">
                  <c:v>21</c:v>
                </c:pt>
                <c:pt idx="2">
                  <c:v>22</c:v>
                </c:pt>
                <c:pt idx="3">
                  <c:v>23</c:v>
                </c:pt>
                <c:pt idx="4">
                  <c:v>23</c:v>
                </c:pt>
                <c:pt idx="5">
                  <c:v>22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lineChart>
        <c:grouping val="standard"/>
        <c:varyColors val="0"/>
        <c:ser>
          <c:idx val="0"/>
          <c:order val="0"/>
          <c:tx>
            <c:strRef>
              <c:f>Sheet1!$B$1</c:f>
              <c:strCache>
                <c:ptCount val="1"/>
                <c:pt idx="0">
                  <c:v>Stream</c:v>
                </c:pt>
              </c:strCache>
            </c:strRef>
          </c:tx>
          <c:cat>
            <c:strRef>
              <c:f>Sheet1!$A$2:$A$6</c:f>
              <c:strCache>
                <c:ptCount val="5"/>
                <c:pt idx="0">
                  <c:v>t-4</c:v>
                </c:pt>
                <c:pt idx="1">
                  <c:v>t-3</c:v>
                </c:pt>
                <c:pt idx="2">
                  <c:v>t-2</c:v>
                </c:pt>
                <c:pt idx="3">
                  <c:v>t-1</c:v>
                </c:pt>
                <c:pt idx="4">
                  <c:v>current</c:v>
                </c:pt>
              </c:strCache>
            </c:strRef>
          </c:cat>
          <c:val>
            <c:numRef>
              <c:f>Sheet1!$B$2:$B$6</c:f>
              <c:numCache>
                <c:formatCode>General</c:formatCode>
                <c:ptCount val="5"/>
                <c:pt idx="0">
                  <c:v>20</c:v>
                </c:pt>
                <c:pt idx="1">
                  <c:v>21</c:v>
                </c:pt>
                <c:pt idx="2">
                  <c:v>20</c:v>
                </c:pt>
                <c:pt idx="3">
                  <c:v>22</c:v>
                </c:pt>
                <c:pt idx="4">
                  <c:v>37</c:v>
                </c:pt>
              </c:numCache>
            </c:numRef>
          </c:val>
          <c:smooth val="0"/>
        </c:ser>
        <c:ser>
          <c:idx val="1"/>
          <c:order val="1"/>
          <c:tx>
            <c:strRef>
              <c:f>Sheet1!$C$1</c:f>
              <c:strCache>
                <c:ptCount val="1"/>
                <c:pt idx="0">
                  <c:v>Upper boundary</c:v>
                </c:pt>
              </c:strCache>
            </c:strRef>
          </c:tx>
          <c:cat>
            <c:strRef>
              <c:f>Sheet1!$A$2:$A$6</c:f>
              <c:strCache>
                <c:ptCount val="5"/>
                <c:pt idx="0">
                  <c:v>t-4</c:v>
                </c:pt>
                <c:pt idx="1">
                  <c:v>t-3</c:v>
                </c:pt>
                <c:pt idx="2">
                  <c:v>t-2</c:v>
                </c:pt>
                <c:pt idx="3">
                  <c:v>t-1</c:v>
                </c:pt>
                <c:pt idx="4">
                  <c:v>current</c:v>
                </c:pt>
              </c:strCache>
            </c:strRef>
          </c:cat>
          <c:val>
            <c:numRef>
              <c:f>Sheet1!$C$2:$C$6</c:f>
              <c:numCache>
                <c:formatCode>General</c:formatCode>
                <c:ptCount val="5"/>
                <c:pt idx="0">
                  <c:v>25</c:v>
                </c:pt>
                <c:pt idx="1">
                  <c:v>25</c:v>
                </c:pt>
                <c:pt idx="2">
                  <c:v>25</c:v>
                </c:pt>
                <c:pt idx="3">
                  <c:v>26</c:v>
                </c:pt>
                <c:pt idx="4">
                  <c:v>26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lineChart>
        <c:grouping val="standard"/>
        <c:varyColors val="0"/>
        <c:ser>
          <c:idx val="0"/>
          <c:order val="0"/>
          <c:tx>
            <c:strRef>
              <c:f>Sheet1!$B$1</c:f>
              <c:strCache>
                <c:ptCount val="1"/>
                <c:pt idx="0">
                  <c:v>Carbo-cooler °C</c:v>
                </c:pt>
              </c:strCache>
            </c:strRef>
          </c:tx>
          <c:cat>
            <c:strRef>
              <c:f>Sheet1!$A$2:$A$7</c:f>
              <c:strCache>
                <c:ptCount val="6"/>
                <c:pt idx="0">
                  <c:v>10:00</c:v>
                </c:pt>
                <c:pt idx="1">
                  <c:v>10:01</c:v>
                </c:pt>
                <c:pt idx="2">
                  <c:v>10:02</c:v>
                </c:pt>
                <c:pt idx="3">
                  <c:v>10:03</c:v>
                </c:pt>
                <c:pt idx="4">
                  <c:v>10:04</c:v>
                </c:pt>
                <c:pt idx="5">
                  <c:v>10:05</c:v>
                </c:pt>
              </c:strCache>
            </c:strRef>
          </c:cat>
          <c:val>
            <c:numRef>
              <c:f>Sheet1!$B$2:$B$7</c:f>
              <c:numCache>
                <c:formatCode>General</c:formatCode>
                <c:ptCount val="6"/>
                <c:pt idx="0">
                  <c:v>3.8</c:v>
                </c:pt>
                <c:pt idx="1">
                  <c:v>3.9</c:v>
                </c:pt>
                <c:pt idx="2">
                  <c:v>4.0</c:v>
                </c:pt>
                <c:pt idx="3">
                  <c:v>6.4</c:v>
                </c:pt>
                <c:pt idx="4">
                  <c:v>4.1</c:v>
                </c:pt>
                <c:pt idx="5">
                  <c:v>4</c:v>
                </c:pt>
              </c:numCache>
            </c:numRef>
          </c:val>
          <c:smooth val="0"/>
        </c:ser>
        <c:ser>
          <c:idx val="1"/>
          <c:order val="1"/>
          <c:tx>
            <c:strRef>
              <c:f>Sheet1!$C$1</c:f>
              <c:strCache>
                <c:ptCount val="1"/>
                <c:pt idx="0">
                  <c:v>Upper limit</c:v>
                </c:pt>
              </c:strCache>
            </c:strRef>
          </c:tx>
          <c:cat>
            <c:strRef>
              <c:f>Sheet1!$A$2:$A$7</c:f>
              <c:strCache>
                <c:ptCount val="6"/>
                <c:pt idx="0">
                  <c:v>10:00</c:v>
                </c:pt>
                <c:pt idx="1">
                  <c:v>10:01</c:v>
                </c:pt>
                <c:pt idx="2">
                  <c:v>10:02</c:v>
                </c:pt>
                <c:pt idx="3">
                  <c:v>10:03</c:v>
                </c:pt>
                <c:pt idx="4">
                  <c:v>10:04</c:v>
                </c:pt>
                <c:pt idx="5">
                  <c:v>10:05</c:v>
                </c:pt>
              </c:strCache>
            </c:strRef>
          </c:cat>
          <c:val>
            <c:numRef>
              <c:f>Sheet1!$C$2:$C$7</c:f>
              <c:numCache>
                <c:formatCode>General</c:formatCode>
                <c:ptCount val="6"/>
                <c:pt idx="0">
                  <c:v>5</c:v>
                </c:pt>
                <c:pt idx="1">
                  <c:v>5</c:v>
                </c:pt>
                <c:pt idx="2">
                  <c:v>5</c:v>
                </c:pt>
                <c:pt idx="3">
                  <c:v>5</c:v>
                </c:pt>
                <c:pt idx="4">
                  <c:v>5</c:v>
                </c:pt>
                <c:pt idx="5">
                  <c:v>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a:t>
            </a:r>
          </a:p>
          <a:p/>
          <a:p>
            <a:r>
              <a:t>It is mandatory for you to take both AM, PM and Assessment digital attendance for WSQ funded courses. The trainer or administrator will show you the digital attendance QR code generated from SSG portal. Please scan the QR code from your mobile phone camera and submit your attendance. Digital Attendance (Mandatory)</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3</a:t>
            </a:r>
          </a:p>
          <a:p/>
          <a:p>
            <a:r>
              <a:t>About the Trainer</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4</a:t>
            </a:r>
          </a:p>
          <a:p/>
          <a:p>
            <a:r>
              <a:t>Let's Know Each Other...</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5</a:t>
            </a:r>
          </a:p>
          <a:p/>
          <a:p>
            <a:r>
              <a:t>Ground Rules Set your mobile phone to silent mode Participate actively in the class. No question is stupid. Mutual respect. Agree to disagree. One conversation at one time. Be punctual. Back from breaks on time. Exit the class silently if you need to step out for phone call, toilet break etc. 75% attendance is required</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6</a:t>
            </a:r>
          </a:p>
          <a:p/>
          <a:p>
            <a:r>
              <a:t>Lesson Plan Day 1 Digital Attendance (AM) Trainer and Learners Introduction Learning Outcomes Course Outline Topic 1 Get started with artificial intelligence Topic 2 Explore visual tools for machine learning Lunch Break Digital Attendance (PM) Topic 3 Explore computer vision Topic 4 Explore natural language processing End of Day 1</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7</a:t>
            </a:r>
          </a:p>
          <a:p/>
          <a:p>
            <a:r>
              <a:t>Lesson Plan Day 2 Digital Attendance (AM) Topic 4 Explore natural language processing Topic 5 Explore decision support Lunch Break Digital Attendance (PM) Topic 6 Explore knowledge mining Course Feedback and TRAQOM Survey Digital Attendance (Assessment) Final Assessment End of Class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8</a:t>
            </a:r>
          </a:p>
          <a:p/>
          <a:p>
            <a:r>
              <a:t>TSC Title: Artificial Intelligence Application in Product Development TSC Code: ICT-TEM-3034-1.1 TSC Skills Framework</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9</a:t>
            </a:r>
          </a:p>
          <a:p/>
          <a:p>
            <a:r>
              <a:t>TSC Abilities: A1: Implement AI applications in collaboration with technology service providers A2: Deploy AI workflows according to plan A3: Identify and report any issues with the AI applications and data collected A4: Maintain data interoperability during the development of AI A5: Perform data cleaning techniques TSC Knowledge: K1: Background and basics of AI K2: Fundamental concepts and methods of statistics and programming K3: Mathematics and computing theories K4: Machine learning techniques and applications K5: Principles of data management K6: Software development methodologies K7: Types of AI applications K8: AI implementation procedures K9: Interoperability of data K10: Data cleaning techniques K11: Principles of clean data sets Skills Framework TSC</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10</a:t>
            </a:r>
          </a:p>
          <a:p/>
          <a:p>
            <a:r>
              <a:t>Learning Outcomes LO1: Learners will be able to implement AI applications with Microsoft Azure services LO2: Learners will be able to deploy AI computer vision and natural language processing workflows on Azure LO3 - Learners will be able to identify and report any issues with AI anomaly detector LO4: Learners will be able to maintain data interoperability and perform data cleaning with Azure knowledge mining.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11</a:t>
            </a:r>
          </a:p>
          <a:p/>
          <a:p>
            <a:r>
              <a:t>Course Outline Topic 1 Get started with artificial intelligence (K1, K2, K6, K7, A1) Get started with AI on Azure Introduction to Azure OpenAI Service Topic 2 Explore visual tools for machine learning (K3, K4, A2) Use Automated Machine Learning in Azure Machine Learning Create a regression model with Azure Machine Learning designer Create a classification model with Azure Machine Learning designer Create a clustering model with Azure Machine Learning designer</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12</a:t>
            </a:r>
          </a:p>
          <a:p/>
          <a:p>
            <a:r>
              <a:t>Course Outline Topic 3 Explore computer vision (K8, A3) Analyze images with the Computer Vision service Classify images with the Custom Vision service Detect objects in images with the Custom Vision service Detect and analyze faces with the Face service Read text with the Computer Vision service Analyze receipts with the Azure AI Document Intelligence service Topic 4 Explore natural language processing (K5, K9, K10, K11, A4, A5) Analyze text with the Language service Recognize and synthesize speech Translate text and speech Create a language model with Conversational Language Understanding Build a bot with the Language Service and Azure Bot Service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13</a:t>
            </a:r>
          </a:p>
          <a:p/>
          <a:p>
            <a:r>
              <a:t>Course Outline Topic 5 Explore decision support Introduction to Anomaly Detector Topic 6 Explore knowledge mining Introduction to Azure AI Search AI-900 Facilitator knowledge evidence review</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14</a:t>
            </a:r>
          </a:p>
          <a:p/>
          <a:p>
            <a:r>
              <a:t>Prerequisite This is an introductory course to Machine Learning. There is no prerequisite.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15</a:t>
            </a:r>
          </a:p>
          <a:p/>
          <a:p>
            <a:r>
              <a:t>Final Assessment Written Assessment - Short-Answer Questions (WA-SAQ) Practical Performance (PP) Assessment format: Open Book Open book assessment ONLY includes Slides, Learner Guide or any approved materials. Appeal process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16</a:t>
            </a:r>
          </a:p>
          <a:p/>
          <a:p>
            <a:r>
              <a:t>Briefing for Assessment Place phones &amp; other materials under the table or on the floor No photos or recording of assessment scripts No discussion during assessment Use black/blue pen for assessment [hard copies] No usage of liquid paper or correction tape Assessment scripts will be collected when the time is up</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17</a:t>
            </a:r>
          </a:p>
          <a:p/>
          <a:p>
            <a:r>
              <a:t>Criteria for Funding Minimum attendance rate of 75% based on SSG Digital Attendance record. Complete the assessment and be assessed as ‘Competent’</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18</a:t>
            </a:r>
          </a:p>
          <a:p/>
          <a:p>
            <a:r>
              <a:t>LMS/TMS https://lms-tms.tertiaryinfotech.com/</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19</a:t>
            </a:r>
          </a:p>
          <a:p/>
          <a:p>
            <a:r>
              <a:t>Topic 1 Get started with Artificial Intelligence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20</a:t>
            </a:r>
          </a:p>
          <a:p/>
          <a:p>
            <a:r>
              <a:t>Describe Artificial Intelligence workloads and considerations (20–25%) Describe fundamental principles of machine learning on Azure (25–30%) Describe features of computer vision workloads on Azure (15–20%) Describe features of Natural Language Processing (NLP) workloads on Azure (25–30%) AI-900 Azure AI Fundamentals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21</a:t>
            </a:r>
          </a:p>
          <a:p/>
          <a:p>
            <a:r>
              <a:t>What is AI? Simply put, AI is the creation of software that imitates human behaviors and capabilities. Key workloads include: Machine learning - This is often the foundation for an AI system, and is the way we "teach" a computer model to make predictions and draw conclusions from data. Anomaly detection - The capability to automatically detect errors or unusual activity in a system. Computer vision - The capability of software to interpret the world visually through cameras, video, and images. Natural language processing - The capability for a computer to interpret written or spoken language, and respond in kind. Knowledge mining - The capability to extract information from large volumes of often unstructured data to create a searchable knowledge store.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22</a:t>
            </a:r>
          </a:p>
          <a:p/>
          <a:p>
            <a:r>
              <a:t>Microsoft Azure provides the Azure Machine Learning service - a cloud-based platform for creating, managing, and publishing machine learning models. Machine Learning in Microsoft Azure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23</a:t>
            </a:r>
          </a:p>
          <a:p/>
          <a:p>
            <a:r>
              <a:t>A machine learning based technique that analyzes data over time and identifies unusual changes. Anomaly Detection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24</a:t>
            </a:r>
          </a:p>
          <a:p/>
          <a:p>
            <a:r>
              <a:t>Computer Vision is an area of AI that deals with visual processing. Computer Vision tasks can be grouped into image classification vs object detection localization vs segmentation Computer Vision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25</a:t>
            </a:r>
          </a:p>
          <a:p/>
          <a:p>
            <a:r>
              <a:t>Image classification involves training a machine learning model to classify images based on their contents. Image Classification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26</a:t>
            </a:r>
          </a:p>
          <a:p/>
          <a:p>
            <a:r>
              <a:t>Object detection machine learning models are trained to classify individual objects within an image, and identify their location with a bounding box. Object Detection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27</a:t>
            </a:r>
          </a:p>
          <a:p/>
          <a:p>
            <a:r>
              <a:t>Semantic segmentation is an advanced machine learning technique in which individual pixels in the image are classified according to the object to which they belong. Semantic Segmentation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28</a:t>
            </a:r>
          </a:p>
          <a:p/>
          <a:p>
            <a:r>
              <a:t>You can create solutions that combine machine learning models with advanced image analysis techniques to extract information from images Image Analysis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29</a:t>
            </a:r>
          </a:p>
          <a:p/>
          <a:p>
            <a:r>
              <a:t>Face detection is a specialized form of object detection that locates human faces in an image. Face Detection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30</a:t>
            </a:r>
          </a:p>
          <a:p/>
          <a:p>
            <a:r>
              <a:t>Optical character recognition is a technique used to detect and read text in images. OCR</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31</a:t>
            </a:r>
          </a:p>
          <a:p/>
          <a:p>
            <a:r>
              <a:t>Natural Language Processing Natural language processing (NLP) is the area of AI that deals with creating software that understands written and spoken language NLP enables you to create software that can: Analyze and interpret text in documents, email messages, and other sources. Interpret spoken language, and synthesize speech responses. Automatically translate spoken or written phrases between languages. Interpret commands and determine appropriate actions.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32</a:t>
            </a:r>
          </a:p>
          <a:p/>
          <a:p>
            <a:r>
              <a:t>Natural Language Processing in Microsoft Azure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33</a:t>
            </a:r>
          </a:p>
          <a:p/>
          <a:p>
            <a:r>
              <a:t>Microsoft AI Principles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34</a:t>
            </a:r>
          </a:p>
          <a:p/>
          <a:p>
            <a:r>
              <a:t>Microsoft AI Principles Fairness: Al systems shouldn't make decisions that discriminate against or support bias of a group or individual. Reliability and Safety: Al systems should respond safely to new situations and potential manipulation. Privacy and Security: Al systems should be secure and respect data privacy. Inclusiveness: Al systems should empower everyone and engage people. Accountability: People must be accountable for how Al systems operate. Transparency: AI systems should have explanations so users can understand how they're built and used.</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35</a:t>
            </a:r>
          </a:p>
          <a:p/>
          <a:p>
            <a:r>
              <a:t>This material belongs to Tertiary Infotech Academy Pte Ltd (UEN: 20120096W). All Rights Reserved</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36</a:t>
            </a:r>
          </a:p>
          <a:p/>
          <a:p>
            <a:r>
              <a:t>This material belongs to Tertiary Infotech Academy Pte Ltd (UEN: 20120096W). All Rights Reserved</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37</a:t>
            </a:r>
          </a:p>
          <a:p/>
          <a:p>
            <a:r>
              <a:t>This material belongs to Tertiary Infotech Academy Pte Ltd (UEN: 20120096W). All Rights Reserved</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38</a:t>
            </a:r>
          </a:p>
          <a:p/>
          <a:p>
            <a:r>
              <a:t>This material belongs to Tertiary Infotech Academy Pte Ltd (UEN: 20120096W). All Rights Reserved</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39</a:t>
            </a:r>
          </a:p>
          <a:p/>
          <a:p>
            <a:r>
              <a:t>This material belongs to Tertiary Infotech Academy Pte Ltd (UEN: 20120096W). All Rights Reserved</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40</a:t>
            </a:r>
          </a:p>
          <a:p/>
          <a:p>
            <a:r>
              <a:t>Conversational AI Conversational AI is the term used to describe solutions where AI agents participate in conversations with humans. Most commonly, conversational AI solutions use bots to manage dialogs with users. These dialogs can take place through web site interfaces, email, social media platforms, messaging systems, phone calls, and other channels. Bots can be the basis of AI solutions for: Customer support for products or services. Reservation systems for restaurants, airlines, cinemas, and other appointment based businesses. Health care consultations and self-diagnosis. Home automation and personal digital assistants.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41</a:t>
            </a:r>
          </a:p>
          <a:p/>
          <a:p>
            <a:r>
              <a:t>To create conversational AI solutions on Microsoft Azure, you can use the following services: Conversational AI in Microsoft Azure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42</a:t>
            </a:r>
          </a:p>
          <a:p/>
          <a:p>
            <a:r>
              <a:t>Try out the Azure Conversational AI below https://www.microsoft.com/en-us/research/project/health-bot/ Activity: Conversational AI</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43</a:t>
            </a:r>
          </a:p>
          <a:p/>
          <a:p>
            <a:r>
              <a:t>OpenAI makes its AI models available to developers to build powerful software applications, such as ChatGPT. There are tons of other examples of OpenAI applications on the OpenAI site, ranging from practical, such as generating text from code, to purely entertaining, such as making up scary stories. Let's identify where OpenAI models fit into the AI landscape. Artificial Intelligence imitates human behavior by relying on machines to learn and execute tasks without explicit directions on what to output. Machine learning models take in data like weather conditions and fit the data to an algorithm, to make predictions like how much money a store might make in a given day. Deep learning models use layers of algorithms in the form of artificial neural networks to return results for more complex use cases. Many Azure AI services are built on deep learning models. You can check out this article to learn more about the difference between machine learning and deep learning. Generative AI models can produce new content based on what is described in the input. The OpenAI models are a collection of generative AI models that can produce language, code, and images. What is Generative AI</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44</a:t>
            </a:r>
          </a:p>
          <a:p/>
          <a:p>
            <a:r>
              <a:t>Azure OpenAI Azure OpenAI is available for Azure users and consists of four components: Pre-trained generative AI models Customization capabilities; the ability to fine-tune AI models with your own data Built-in tools to detect and mitigate harmful use cases so users can implement AI responsibly Enterprise-grade security with role-based access control (RBAC) and private networks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45</a:t>
            </a:r>
          </a:p>
          <a:p/>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46</a:t>
            </a:r>
          </a:p>
          <a:p/>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47</a:t>
            </a:r>
          </a:p>
          <a:p/>
          <a:p>
            <a:r>
              <a:t>Microsoft Foundry model playground In the Microsoft Foundry model playground, you can build AI models and deploy them for public consumption in software applications. Azure OpenAI's capabilities are made possible by specific generative AI models. These Azure OpenAI models fall into a few main families: GPT-4 current chat model family Codex Embeddings image generation model</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48</a:t>
            </a:r>
          </a:p>
          <a:p/>
          <a:p>
            <a:r>
              <a:t>GitHub Copilot OpenAI partnered with GitHub to create GitHub Copilot, which they call an AI pair programmer. GitHub Copilot integrates the power of OpenAI Codex into a plugin for developer environments like Visual Studio Code. Once the plugin is installed and enabled, you can start writing your code, and GitHub Copilot starts automatically suggesting the remainder of the function based on code comments or the function name.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49</a:t>
            </a:r>
          </a:p>
          <a:p/>
          <a:p>
            <a:r>
              <a:t>For example, we have only a function name in the file, and the gray text is automatically suggested to complete it. GitHub Copilot</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50</a:t>
            </a:r>
          </a:p>
          <a:p/>
          <a:p>
            <a:r>
              <a:t>GitHub Copilot offers multiple suggestions for code completion, which you can tab through using keyboard shortcuts. When given informative code comments, it can even suggest a function name along with the complete function code. GitHub Copilot</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51</a:t>
            </a:r>
          </a:p>
          <a:p/>
          <a:p>
            <a:r>
              <a:t>OpenAI's NLP Capabilities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52</a:t>
            </a:r>
          </a:p>
          <a:p/>
          <a:p>
            <a:r>
              <a:t>In addition to natural language capabilities, generative AI models can edit and create images. The model that works with images is called image generation model. image generation model</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53</a:t>
            </a:r>
          </a:p>
          <a:p/>
          <a:p>
            <a:r>
              <a:t>Knowledge Quiz - Fundamental AI Concepts https://learn.microsoft.com/en-us/training/modules/get-started-ai-fundamentals/8b-knowledge-check?ns-enrollment-type=learningpath&amp;ns-enrollment-id=learn.wwl.get-started-with-artificial-intelligence-on-azure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54</a:t>
            </a:r>
          </a:p>
          <a:p/>
          <a:p>
            <a:r>
              <a:t>Knowledge Quiz - Fundamentals of machine learning https://learn.microsoft.com/en-us/training/modules/fundamentals-machine-learning/11-knowledge-check?ns-enrollment-type=learningpath&amp;ns-enrollment-id=learn.wwl.get-started-with-artificial-intelligence-on-azure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55</a:t>
            </a:r>
          </a:p>
          <a:p/>
          <a:p>
            <a:r>
              <a:t>Knowledge Quiz - Fundamentals of Azure AI services https://learn.microsoft.com/en-us/training/modules/fundamentals-azure-ai-services/7-knowledge-check?ns-enrollment-type=learningpath&amp;ns-enrollment-id=learn.wwl.get-started-with-artificial-intelligence-on-azure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56</a:t>
            </a:r>
          </a:p>
          <a:p/>
          <a:p>
            <a:r>
              <a:t>Topic 2 Explore Visual Tools For Machine Learning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57</a:t>
            </a:r>
          </a:p>
          <a:p/>
          <a:p>
            <a:r>
              <a:t>What is Machine Learning Machine learning is a technique that uses mathematics and statistics to create a model that can predict unknown values. Mathematically, you can think of machine learning as a way of defining a function (let's call it f) that operates on one or more features of something (which we'll call x) to calculate a predicted label (y) - like this: f(x) = y</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58</a:t>
            </a:r>
          </a:p>
          <a:p/>
          <a:p>
            <a:r>
              <a:t>Types of Machine Learning There are two general approaches to machine learning: supervised and unsupervised machine learning. In both approaches, you train a model to make predictions. The supervised machine learning approach requires you to start with a dataset with known label values. Two types of supervised machine learning tasks include regression and classification. The unsupervised machine learning approach starts with a dataset without known label values. One type of unsupervised machine learning task is clustering.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59</a:t>
            </a:r>
          </a:p>
          <a:p/>
          <a:p>
            <a:r>
              <a:t>Azure Machine Learning Studio Azure Machine Learning Studio is the web portal for data scientist developers in Azure Machine Learning. The studio combines no-code and code-first experiences for an inclusive data science platform. The studio offers multiple authoring experiences depending on the type project and the level of user experience.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60</a:t>
            </a:r>
          </a:p>
          <a:p/>
          <a:p>
            <a:r>
              <a:t>Azure Machine Learning Studio</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61</a:t>
            </a:r>
          </a:p>
          <a:p/>
          <a:p>
            <a:r>
              <a:t>Azure Machine Learning Compute In Azure Machine Learning studio, you can manage the compute targets for your data science activities. There are four kinds of compute resource you can create: Compute Instances: Development workstations that data scientists can use to work with data and models. Compute Clusters: Scalable clusters of virtual machines for on-demand processing of experiment code. Inference Clusters: Deployment targets for predictive services that use your trained models. Attached Compute: Links to existing Azure compute resources, such as Virtual Machines or Azure Databricks clusters.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62</a:t>
            </a:r>
          </a:p>
          <a:p/>
          <a:p>
            <a:r>
              <a:t>You can write and run your own code in managed Jupyter Notebook servers that are directly integrated in the studio. Azure ML Studio Notebook</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63</a:t>
            </a:r>
          </a:p>
          <a:p/>
          <a:p>
            <a:r>
              <a:t>You can use the designer to train and deploy machine learning models without writing any code. Azure Machine Learning Designer</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64</a:t>
            </a:r>
          </a:p>
          <a:p/>
          <a:p>
            <a:r>
              <a:t>Azure Machine Learning Designer</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65</a:t>
            </a:r>
          </a:p>
          <a:p/>
          <a:p>
            <a:r>
              <a:t>Pipelines Pipelines let you organize, manage, and reuse complex machine learning workflows across projects and users. A pipeline starts with the dataset from which you want to train the model. Each time you run a pipeline, the configuration of the pipeline and its results are stored in your workspace as a pipeline job.</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66</a:t>
            </a:r>
          </a:p>
          <a:p/>
          <a:p>
            <a:r>
              <a:t>Pipelines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67</a:t>
            </a:r>
          </a:p>
          <a:p/>
          <a:p>
            <a:r>
              <a:t>Components An Azure Machine Learning component encapsulates one step in a machine learning pipeline. You can think of a component as a programming function and as a building block for Azure Machine Learning pipelines. In a pipeline project, you can access data assets and components from the left panel's Asset Library tab.</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68</a:t>
            </a:r>
          </a:p>
          <a:p/>
          <a:p>
            <a:r>
              <a:t>Components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69</a:t>
            </a:r>
          </a:p>
          <a:p/>
          <a:p>
            <a:r>
              <a:t>You can create data assets on the Data page from local files, a datastore, web files, and Open Datasets. These data assets will appear along with standard sample datasets in designer's Asset Library. Datasets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70</a:t>
            </a:r>
          </a:p>
          <a:p/>
          <a:p>
            <a:r>
              <a:t>An Azure Machine Learning (ML) job executes a task against a specified compute target. Jobs enable systematic tracking for your machine learning experimentation and workflows. Once a job is created, Azure ML maintains a run record for the job. All of your jobs' run records can be viewed in Azure ML studio. Azure Machine Learning Jobs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71</a:t>
            </a:r>
          </a:p>
          <a:p/>
          <a:p>
            <a:r>
              <a:t>Azure Machine Learning Jobs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72</a:t>
            </a:r>
          </a:p>
          <a:p/>
          <a:p>
            <a:r>
              <a:t>Azure Machine Learning Jobs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73</a:t>
            </a:r>
          </a:p>
          <a:p/>
          <a:p>
            <a:r>
              <a:t>Regression Regression is a form of machine learning that is used to predict a numeric label based on an item's features.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74</a:t>
            </a:r>
          </a:p>
          <a:p/>
          <a:p>
            <a:r>
              <a:t>Regression Example Prepare data: Identify the features and label in a dataset. Pre-process, or clean and transform, the data as needed. Train model: Split the data into two groups, a training and a validation set. Train a machine learning model using the training data set. Test the machine learning model for performance using the validation data set. Evaluate performance: Compare how close the model's predictions are to the known labels. Deploy a predictive service: After you train a machine learning model, you need to convert the training pipeline into a real-time inference pipeline. Then you can deploy the model as an application on a server or device so that others can use it.</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75</a:t>
            </a:r>
          </a:p>
          <a:p/>
          <a:p>
            <a:r>
              <a:t>Regression Example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76</a:t>
            </a:r>
          </a:p>
          <a:p/>
          <a:p>
            <a:r>
              <a:t>Inference Pipeline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77</a:t>
            </a:r>
          </a:p>
          <a:p/>
          <a:p>
            <a:r>
              <a:t>Automatic Price Prediction Regression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78</a:t>
            </a:r>
          </a:p>
          <a:p/>
          <a:p>
            <a:r>
              <a:t>Next to the pipeline name on the left, select the button &gt;&gt; to expand the panel. Find the Sample datasets section, and drag the Automobile price data (Raw) dataset from the Samples section onto the canvas. Add and Explore a Dataset</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79</a:t>
            </a:r>
          </a:p>
          <a:p/>
          <a:p>
            <a:r>
              <a:t>You typically apply data transformations to prepare the data for modeling. In the case of the automobile price data, you'll add transformations to address the issues you identified when exploring the data. Add Data Transformations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80</a:t>
            </a:r>
          </a:p>
          <a:p/>
          <a:p>
            <a:r>
              <a:t>Select the Select Columns in Dataset module, and in its Settings pane on the right, select Edit column. Select the Select Column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81</a:t>
            </a:r>
          </a:p>
          <a:p/>
          <a:p>
            <a:r>
              <a:t>Clean Missing Data</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82</a:t>
            </a:r>
          </a:p>
          <a:p/>
          <a:p>
            <a:r>
              <a:t>Normalize Data</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83</a:t>
            </a:r>
          </a:p>
          <a:p/>
          <a:p>
            <a:r>
              <a:t>Run the Pipeline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84</a:t>
            </a:r>
          </a:p>
          <a:p/>
          <a:p>
            <a:r>
              <a:t>Add Training Modules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85</a:t>
            </a:r>
          </a:p>
          <a:p/>
          <a:p>
            <a:r>
              <a:t>Run the Training Pipeline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86</a:t>
            </a:r>
          </a:p>
          <a:p/>
          <a:p>
            <a:r>
              <a:t>Evaluate a Regression Model</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87</a:t>
            </a:r>
          </a:p>
          <a:p/>
          <a:p>
            <a:r>
              <a:t>Model Performance Metrics Mean Absolute Error (MAE): The average difference between predicted values and true values. Root Mean Squared Error (RMSE): The square root of the mean squared difference between predicted and true values. Coefficient of Determination (R2): This metric is more commonly referred to as R-Squared, and summarizes how much of the variance between predicted and true values is explained by the model. The closer to 1 this value is, the better the model is performing.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88</a:t>
            </a:r>
          </a:p>
          <a:p/>
          <a:p>
            <a:r>
              <a:t>Create an Inference Pipeline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89</a:t>
            </a:r>
          </a:p>
          <a:p/>
          <a:p>
            <a:r>
              <a:t>Deployment</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90</a:t>
            </a:r>
          </a:p>
          <a:p/>
          <a:p>
            <a:r>
              <a:t>Testing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91</a:t>
            </a:r>
          </a:p>
          <a:p/>
          <a:p>
            <a:r>
              <a:t>Testing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92</a:t>
            </a:r>
          </a:p>
          <a:p/>
          <a:p>
            <a:r>
              <a:t>Activity: Regression Import the Boston dataset from internet https://raw.githubusercontent.com/selva86/datasets/master/BostonHousing.csv Create a Predictive Regression Model for Housing Price based on 3 factors Crime Rate Room Size Age The output is the median value of housing price Deploy the model for web services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93</a:t>
            </a:r>
          </a:p>
          <a:p/>
          <a:p>
            <a:r>
              <a:t>Classification is a form of machine learning that is used to predict which category, or class, an item belongs to. Classification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94</a:t>
            </a:r>
          </a:p>
          <a:p/>
          <a:p>
            <a:r>
              <a:t>Classification Example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95</a:t>
            </a:r>
          </a:p>
          <a:p/>
          <a:p>
            <a:r>
              <a:t>Before you can train a model, you typically need to apply some preprocessing transformations to the data. Add Data Transformations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96</a:t>
            </a:r>
          </a:p>
          <a:p/>
          <a:p>
            <a:r>
              <a:t>Select the Normalize Data module and view its settings, noting that it requires you to specify the transformation method and the columns to be transformed. Normalize Data</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97</a:t>
            </a:r>
          </a:p>
          <a:p/>
          <a:p>
            <a:r>
              <a:t>To apply your data transformations, you need to run the pipeline as an experiment. Run the Pipeline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98</a:t>
            </a:r>
          </a:p>
          <a:p/>
          <a:p>
            <a:r>
              <a:t>Add Training Modules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99</a:t>
            </a:r>
          </a:p>
          <a:p/>
          <a:p>
            <a:r>
              <a:t>Run the Training Pipeline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100</a:t>
            </a:r>
          </a:p>
          <a:p/>
          <a:p>
            <a:r>
              <a:t>Create an Inference Pipeline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101</a:t>
            </a:r>
          </a:p>
          <a:p/>
          <a:p>
            <a:r>
              <a:t>When the experiment run has finished, select the Evaluate Model module and in the settings pane, on the Outputs + Logs tab, under Data outputs in the Evaluation results section, use the Preview Data icon to view the performance metrics. These metrics can help data scientists assess how well the model predicts based on the validation data. View the confusion matrix for the model, which is a tabulation of the predicted and actual value counts for each possible class. For a binary classification model like this one, where you're predicting one of two possible values, the confusion matrix is a 2x2 grid showing the predicted and actual value counts for classes 0 and 1, similar to this: Confusion Matrix</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102</a:t>
            </a:r>
          </a:p>
          <a:p/>
          <a:p>
            <a:r>
              <a:t>Confusion Matrix The confusion matrix is a tool used to assess the quality of a classification model's predictions. It compares predicted labels against actual labels. True Positive: The model predicts the patient has diabetes, and the patient does actually have diabetes. False Positive: The model predicts the patient has diabetes, but the patient does not actually have diabetes. False Negative: The model predicts the patient does not have diabetes, but the patient actually does have diabetes. True Negative: The model predicts the patient does not have diabetes, and the patient actually does not have diabetes.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103</a:t>
            </a:r>
          </a:p>
          <a:p/>
          <a:p>
            <a:r>
              <a:t>The confusion matrix is a tool used to assess the quality of a classification model's predictions. It compares predicted labels against actual labels. Confusion Matrix</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104</a:t>
            </a:r>
          </a:p>
          <a:p/>
          <a:p>
            <a:r>
              <a:t>Suppose you have data for 100 patients. You create a model that predicts a patient does not have diabetes 15% of the time, so it predicts 15 people have diabetes and predicts 85 people do not have diabetes. In actuality, suppose 25 people actually do have diabetes and 75 people actually do not have diabetes. This information can be presented in a confusion matrix such as the one below: Confusion Matrix Example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105</a:t>
            </a:r>
          </a:p>
          <a:p/>
          <a:p>
            <a:r>
              <a:t>Metrics Accuracy: The number of correct predictions (true positives + true negatives) divided by the total number of predictions. Precision: The number of the cases classified as positive that are actually positive: the number of true positives divided by (the number of true positives plus false positives). Recall: The fraction of positive cases correctly identified: the number of true positives divided by (the number of true positives plus false negatives). F1 Score: An overall metric that essentially combines precision and recall.</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106</a:t>
            </a:r>
          </a:p>
          <a:p/>
          <a:p>
            <a:r>
              <a:t>Accuracy</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107</a:t>
            </a:r>
          </a:p>
          <a:p/>
          <a:p>
            <a:r>
              <a:t>Precision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108</a:t>
            </a:r>
          </a:p>
          <a:p/>
          <a:p>
            <a:r>
              <a:t>Recall or Sensitivity</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109</a:t>
            </a:r>
          </a:p>
          <a:p/>
          <a:p>
            <a:r>
              <a:t>Specificity</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110</a:t>
            </a:r>
          </a:p>
          <a:p/>
          <a:p>
            <a:r>
              <a:t>F1 Score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111</a:t>
            </a:r>
          </a:p>
          <a:p/>
          <a:p>
            <a:r>
              <a:t>Threshold By default, a predicted probability including or above 0.5 results in a class prediction of 1, while a prediction below this threshold means that there's a greater probability of a negative prediction (remember that the probabilities for all classes add up to 1), so the predicted class would be 0. Designer has a useful threshold slider for reviewing how the model performance would change depending on the set threshold.</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112</a:t>
            </a:r>
          </a:p>
          <a:p/>
          <a:p>
            <a:r>
              <a:t>Threshold</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113</a:t>
            </a:r>
          </a:p>
          <a:p/>
          <a:p>
            <a:r>
              <a:t>ROC Another term for recall is True positive rate, and it has a corresponding metric named False positive rate, which measures the number of negative cases incorrectly identified as positive compared the number of actual negative cases. Plotting these metrics against each other for every possible threshold value between 0 and 1 results in a curve, known as the ROC curve.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114</a:t>
            </a:r>
          </a:p>
          <a:p/>
          <a:p>
            <a:r>
              <a:t>ROC</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115</a:t>
            </a:r>
          </a:p>
          <a:p/>
          <a:p>
            <a:r>
              <a:t>AUC In an ideal model, the curve would go all the way up the left side and across the top, so that it covers the full area of the chart. The larger the area under the curve, of AUC metric, (which can be any value from 0 to 1), the better the model is performing.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116</a:t>
            </a:r>
          </a:p>
          <a:p/>
          <a:p>
            <a:r>
              <a:t>Activity: Classification Import the Iris flower dataset from internet https://raw.githubusercontent.com/pandas-dev/pandas/master/pandas/tests/data/iris.csv Create a Predictive Classification Model for iris flower with Logistics Regression Evaluate the model Deploy the model for web services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117</a:t>
            </a:r>
          </a:p>
          <a:p/>
          <a:p>
            <a:r>
              <a:t>Iris Flower Dataset setosa (0) versicolor (1) virginica (2) Iris flower dataset, introduced in 1936 by Sir Ronald Fisher</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118</a:t>
            </a:r>
          </a:p>
          <a:p/>
          <a:p>
            <a:r>
              <a:t>Iris Flower Dataset Features in the Iris dataset: sepal length in cm sepal width in cm petal length in cm petal width in cm Target classes to predict: setosa : 0 versicolor : 1 virginica : 2</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119</a:t>
            </a:r>
          </a:p>
          <a:p/>
          <a:p>
            <a:r>
              <a:t>Hint for Activity</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120</a:t>
            </a:r>
          </a:p>
          <a:p/>
          <a:p>
            <a:r>
              <a:t>Clustering Clustering is a form of machine learning that is used to group similar items into clusters based on their features.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121</a:t>
            </a:r>
          </a:p>
          <a:p/>
          <a:p>
            <a:r>
              <a:t>Clustering Example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122</a:t>
            </a:r>
          </a:p>
          <a:p/>
          <a:p>
            <a:r>
              <a:t>Create a Pipeline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123</a:t>
            </a:r>
          </a:p>
          <a:p/>
          <a:p>
            <a:r>
              <a:t>Add Data Transformations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124</a:t>
            </a:r>
          </a:p>
          <a:p/>
          <a:p>
            <a:r>
              <a:t>Select Columns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125</a:t>
            </a:r>
          </a:p>
          <a:p/>
          <a:p>
            <a:r>
              <a:t>Clean Missing Data</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126</a:t>
            </a:r>
          </a:p>
          <a:p/>
          <a:p>
            <a:r>
              <a:t>Normalize Data</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127</a:t>
            </a:r>
          </a:p>
          <a:p/>
          <a:p>
            <a:r>
              <a:t>Run the Pipeline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128</a:t>
            </a:r>
          </a:p>
          <a:p/>
          <a:p>
            <a:r>
              <a:t>Add Training Modules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129</a:t>
            </a:r>
          </a:p>
          <a:p/>
          <a:p>
            <a:r>
              <a:t>Run the Training Pipeline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130</a:t>
            </a:r>
          </a:p>
          <a:p/>
          <a:p>
            <a:r>
              <a:t>Evaluate a Clustering Model</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131</a:t>
            </a:r>
          </a:p>
          <a:p/>
          <a:p>
            <a:r>
              <a:t>Create an Inference Pipeline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132</a:t>
            </a:r>
          </a:p>
          <a:p/>
          <a:p>
            <a:r>
              <a:t>Test the Service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133</a:t>
            </a:r>
          </a:p>
          <a:p/>
          <a:p>
            <a:r>
              <a:t>What is Azure Automated Machine Learning? Azure Machine Learning includes an automated machine learning capability that automatically tries multiple pre-processing techniques and model-training algorithms in parallel. These automated capabilities use the power of cloud compute to find the best performing supervised machine learning model for your data. Automated machine learning allows you to train models without extensive data science or programming knowledge For people with a data science and programming background, it provides a way to save time and resources by automating algorithm selection and hyperparameter tuning.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134</a:t>
            </a:r>
          </a:p>
          <a:p/>
          <a:p>
            <a:r>
              <a:t>Understand the AutoML process Prepare data: Identify the features and label in a dataset. Pre-process, or clean and transform, the data as needed. Train model: Split the data into two groups, a training and a validation set. Train a machine learning model using the training data set. Test the machine learning model for performance using the validation data set. Evaluate performance: Compare how close the model's predictions are to the known labels. Deploy a predictive service: After you train a machine learning model, you can deploy the model as an application on a server or device so that others can use it.</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135</a:t>
            </a:r>
          </a:p>
          <a:p/>
          <a:p>
            <a:r>
              <a:t>Understand the AutoML process This material belongs to Tertiary Infotech Academy Pte Ltd (UEN: 20120096W). All Rights Reserved</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136</a:t>
            </a:r>
          </a:p>
          <a:p/>
          <a:p>
            <a:r>
              <a:t>Azure Machine Learning studio</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137</a:t>
            </a:r>
          </a:p>
          <a:p/>
          <a:p>
            <a:r>
              <a:t>Prepare data</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138</a:t>
            </a:r>
          </a:p>
          <a:p/>
          <a:p>
            <a:r>
              <a:t>Train model</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139</a:t>
            </a:r>
          </a:p>
          <a:p/>
          <a:p>
            <a:r>
              <a:t>Configuration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140</a:t>
            </a:r>
          </a:p>
          <a:p/>
          <a:p>
            <a:r>
              <a:t>Additional Configuration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141</a:t>
            </a:r>
          </a:p>
          <a:p/>
          <a:p>
            <a:r>
              <a:t>Additional Configuration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142</a:t>
            </a:r>
          </a:p>
          <a:p/>
          <a:p>
            <a:r>
              <a:t>Auto ML Experiment</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143</a:t>
            </a:r>
          </a:p>
          <a:p/>
          <a:p>
            <a:r>
              <a:t>Auto ML Experiment</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144</a:t>
            </a:r>
          </a:p>
          <a:p/>
          <a:p>
            <a:r>
              <a:t>Evaluate Performance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145</a:t>
            </a:r>
          </a:p>
          <a:p/>
          <a:p>
            <a:r>
              <a:t>Review Result</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146</a:t>
            </a:r>
          </a:p>
          <a:p/>
          <a:p>
            <a:r>
              <a:t>Model Summary</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147</a:t>
            </a:r>
          </a:p>
          <a:p/>
          <a:p>
            <a:r>
              <a:t>Review the Best Model</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148</a:t>
            </a:r>
          </a:p>
          <a:p/>
          <a:p>
            <a:r>
              <a:t>Deploy a Predictive Service In Azure Machine Learning, you can deploy a service as an Azure Container Instances (ACI) or to an Azure Kubernetes Service (AKS) cluster. For production scenarios, an AKS deployment is recommended, for which you must create an inference cluster compute target. In this exercise, you'll use an ACI service, which is a suitable deployment target for testing, and does not require you to create an inference cluster.</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149</a:t>
            </a:r>
          </a:p>
          <a:p/>
          <a:p>
            <a:r>
              <a:t>Deploy a Model as a Service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150</a:t>
            </a:r>
          </a:p>
          <a:p/>
          <a:p>
            <a:r>
              <a:t>Deploy a Model as a Service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151</a:t>
            </a:r>
          </a:p>
          <a:p/>
          <a:p>
            <a:r>
              <a:t>Topic 3 Explore Computer Vision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152</a:t>
            </a:r>
          </a:p>
          <a:p/>
          <a:p>
            <a:r>
              <a:t>What is Computer Vision Computer vision is an area of artificial intelligence (AI) in which software systems are designed to perceive the world visually, though cameras, images, and video.</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153</a:t>
            </a:r>
          </a:p>
          <a:p/>
          <a:p>
            <a:r>
              <a:t>Image Classification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154</a:t>
            </a:r>
          </a:p>
          <a:p/>
          <a:p>
            <a:r>
              <a:t>Azure Resources for Computer Vision To use the Computer Vision service, you need to create a resource for it in your Azure subscription. You can use either of the following resource types: Custom Vision: A dedicated resource for the custom vision service, which can be training, a prediction, or both resources. Cognitive Services: A general cognitive services resource that includes Custom Vision along with many other cognitive services. You can use this type of resource for training, prediction, or both</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155</a:t>
            </a:r>
          </a:p>
          <a:p/>
          <a:p>
            <a:r>
              <a:t>Model Evaluation Precision: What percentage of the class predictions made by the model were correct? For example, if the model predicted that 10 images are oranges, of which eight were actually oranges, then the precision is 0.8 (80%). Recall: What percentage of class predictions did the model correctly identify? For example, if there are 10 images of apples, and the model found 7 of them, then the recall is 0.7 (70%). Average Precision (AP): An overall metric that takes into account both precision and recall</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156</a:t>
            </a:r>
          </a:p>
          <a:p/>
          <a:p>
            <a:r>
              <a:t>Using the model for prediction Project ID: The unique ID of the Custom Vision project you created to train the model. Model name: The name you assigned to the model during publishing. Prediction endpoint: The HTTP address of the endpoints for the prediction resource to which you published the model (not the training resource). Prediction key: The authentication key for the prediction resource to which you published the model (not the training resource).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157</a:t>
            </a:r>
          </a:p>
          <a:p/>
          <a:p>
            <a:r>
              <a:t>An object detection model might be used to identify the individual objects in this image and return the following information: Object Detection The class of each object identified in the image. The probability score of the object classification (which you can interpret as the confidence of the predicted class being correct) The coordinates of a bounding box for each object.</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158</a:t>
            </a:r>
          </a:p>
          <a:p/>
          <a:p>
            <a:r>
              <a:t>Face detection involves identifying regions of an image that contain a human face, typically by returning bounding box coordinates that form a rectangle around the face, like this: Face Detection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159</a:t>
            </a:r>
          </a:p>
          <a:p/>
          <a:p>
            <a:r>
              <a:t>Moving beyond simple face detection, some algorithms can also return other information, such as facial landmarks (nose, eyes, eyebrows, lips, and others). Face Analysis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160</a:t>
            </a:r>
          </a:p>
          <a:p/>
          <a:p>
            <a:r>
              <a:t>A further application of facial analysis is to train a machine learning model to identify known individuals from their facial features. Face Recognition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161</a:t>
            </a:r>
          </a:p>
          <a:p/>
          <a:p>
            <a:r>
              <a:t>Face Analysis in Azure Computer Vision, which offers face detection and some basic face analysis, such as returning the bounding box coordinates around an image. Video Indexer, which you can use to detect and identify faces in a video. Face, which offers pre-built algorithms that can detect, recognize, and analyze faces.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162</a:t>
            </a:r>
          </a:p>
          <a:p/>
          <a:p>
            <a:r>
              <a:t>Open 01d - Face Analysis.ipynb Run the code as per jupyter file Activity: Face Analysis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163</a:t>
            </a:r>
          </a:p>
          <a:p/>
          <a:p>
            <a:r>
              <a:t>Read API The Read API uses the latest recognition models and is optimized for images that have a significant amount of text or has considerable visual noise. The Read API can handle scanned documents that have a lot of text. It also has the ability to automatically determine the proper recognition model to use, taking into consideration lines of text and supporting images with printed text as well as recognizing handwriting.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164</a:t>
            </a:r>
          </a:p>
          <a:p/>
          <a:p>
            <a:r>
              <a:t>Open 01e - Optical Character Recognition.ipynb Run the code as per jupyter file Activity: OCR</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165</a:t>
            </a:r>
          </a:p>
          <a:p/>
          <a:p>
            <a:r>
              <a:t>Azure AI Document Intelligence Azure AI Document Intelligence supports automated document processing through: A pre-built receipt model that is provided out-of-the-box, and is trained to recognize and extract data from sales receipts. Custom models are trained using your own data, which helps to tailor this model to your specific forms. Starting with only five samples of your forms, you can train the custom model.</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166</a:t>
            </a:r>
          </a:p>
          <a:p/>
          <a:p>
            <a:r>
              <a:t>Pre-built Receipt Model The model is able to extract key information from the receipt slip: time of transaction date of transaction merchant information taxes paid receipt totals other pertinent information that may be present on the receipt all text on the receipt is recognized and returned as well</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167</a:t>
            </a:r>
          </a:p>
          <a:p/>
          <a:p>
            <a:r>
              <a:t>Knowledge Quiz - Fundamentals of Computer Vision https://learn.microsoft.com/en-us/training/modules/analyze-images-computer-vision/5-knowledge-check?ns-enrollment-type=learningpath&amp;ns-enrollment-id=learn.wwl.explore-computer-vision-microsoft-azure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168</a:t>
            </a:r>
          </a:p>
          <a:p/>
          <a:p>
            <a:r>
              <a:t>Knowledge Quiz - Fundamentals of Facial Recognition https://learn.microsoft.com/en-us/training/modules/detect-analyze-faces/5-knowledge-check?ns-enrollment-type=learningpath&amp;ns-enrollment-id=learn.wwl.explore-computer-vision-microsoft-azure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169</a:t>
            </a:r>
          </a:p>
          <a:p/>
          <a:p>
            <a:r>
              <a:t>Knowledge Quiz - Fundamentals of optical character recognition https://learn.microsoft.com/en-us/training/modules/read-text-computer-vision/5-knowledge-check?ns-enrollment-type=learningpath&amp;ns-enrollment-id=learn.wwl.explore-computer-vision-microsoft-azure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170</a:t>
            </a:r>
          </a:p>
          <a:p/>
          <a:p>
            <a:r>
              <a:t>Topic 4 Explore Natural Language Processing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171</a:t>
            </a:r>
          </a:p>
          <a:p/>
          <a:p>
            <a:r>
              <a:t>Natural Language Processing Natural language processing supports applications that can see, hear, speak with, and understand users. Text analytics is a process where an artificial intelligence (AI) algorithm, running on a computer, evaluates these same attributes in text, to determine specific insights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172</a:t>
            </a:r>
          </a:p>
          <a:p/>
          <a:p>
            <a:r>
              <a:t>Use the language detection capability of the Language service to identify the language in which text is written. You can submit multiple documents at a time for analysis. For each document submitted to it, the service will detect: The language name (for example "English"). The ISO 6391 language code (for example, "en"). A score indicating a level of confidence in the language detection. Language Detection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173</a:t>
            </a:r>
          </a:p>
          <a:p/>
          <a:p>
            <a:r>
              <a:t>Sentiment Analysis The text analytics capabilities in the Language service can evaluate text and return sentiment scores and labels for each sentence. This capability is useful for detecting positive and negative sentiment in social media, customer reviews, discussion forums and more. Using the pre-built machine learning classification model, the service evaluates the text and returns a sentiment score in the range of 0 to 1, with values closer to 1 being a positive sentiment. Scores that are close to the middle of the range (0.5) are considered neutral or indeterminate.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174</a:t>
            </a:r>
          </a:p>
          <a:p/>
          <a:p>
            <a:r>
              <a:t>Key Phrase Extraction table friendly hostess dinner ambiance place attentive service great food birthday celebration fantastic experience Key phrase extraction is the concept of evaluating the text of a document, or documents, and then identifying the main talking points of the document(s). Key phrase extraction can provide some context to this review by extracting the following phrases: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175</a:t>
            </a:r>
          </a:p>
          <a:p/>
          <a:p>
            <a:r>
              <a:t>You can provide the Language service with unstructured text and it will return a list of entities in the text that it recognizes. The service can also provide links to more information about that entity on the web. An entity is essentially an item of a particular type or a category; and in some cases, subtype, Entity Recognition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176</a:t>
            </a:r>
          </a:p>
          <a:p/>
          <a:p>
            <a:r>
              <a:t>Open 02a - Text Analytics.ipynb Run the code as per jupyter file Identifying the language in which these reviews are written. Activity: Text Analytics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177</a:t>
            </a:r>
          </a:p>
          <a:p/>
          <a:p>
            <a:r>
              <a:t>Speech Recognition Speech recognition is concerned with taking the spoken word and converting it into data that can be processed - often by transcribing it into a text representation. The spoken words can be in the form of a recorded voice in an audio file, or live audio from a microphone. Speech patterns are analyzed in the audio to determine recognizable patterns that are mapped to words. To accomplish this feat, the software typically uses multiple types of models, including: An acoustic model that converts the audio signal into phonemes (representations of specific sounds). A language model that maps phonemes to words, usually using a statistical algorithm that predicts the most probable sequence of words based on the phonemes.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178</a:t>
            </a:r>
          </a:p>
          <a:p/>
          <a:p>
            <a:r>
              <a:t>Speech Synthesis Speech synthesis is in many respects the reverse of speech recognition. It is concerned with vocalizing data, usually by converting text to speech. A speech synthesis solution typically requires the following information: The text to be spoken. The voice to be used to vocalize the speech. To synthesize speech, the system typically tokenizes the text to break it down into individual words, and assigns phonetic sounds to each word. It then breaks the phonetic transcription into prosodic units (such as phrases, clauses, or sentences) to create phonemes that will be converted to audio format</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179</a:t>
            </a:r>
          </a:p>
          <a:p/>
          <a:p>
            <a:r>
              <a:t>Speech Service The Speech service includes the following application programming interfaces (APIs): Speech-to-text - used to transcribe speech from an audio source to text format. Text-to-speech - used to generate spoken audio from a text source. Speech Translation - used to translate speech in one language to text or speech in another.</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180</a:t>
            </a:r>
          </a:p>
          <a:p/>
          <a:p>
            <a:r>
              <a:t>Speech-to-Text API You can use the speech-to-text API to perform real-time or batch transcription of audio into a text format. The audio source for transcription can be a real-time audio stream from a microphone or an audio file. The model that is used by the speech-to-text API, is based on the Universal Language Model that was trained by Microsoft. The data for the model is Microsoft-owned and deployed to Microsoft Azure. The model is optimized for two scenarios, conversational and dictation. You can also create and train your own custom models including acoustics, language, and pronunciation if the pre-built models from Microsoft do not provide what you need.</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181</a:t>
            </a:r>
          </a:p>
          <a:p/>
          <a:p>
            <a:r>
              <a:t>Text-to-Speech API The text-to-speech API enables you to convert text input to audible speech, which can either be played directly through a computer speaker or written to an audio file. When you use the text-to-speech API, you can specify the voice to be used to vocalize the text. This capability offers you the flexibility to personalize your speech synthesis solution and give it a specific character.</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182</a:t>
            </a:r>
          </a:p>
          <a:p/>
          <a:p>
            <a:r>
              <a:t>Open 02b - Speech.ipynb Run the code as per jupyter file Turn the light on and off Activity: Speech response_text = 'Turning the light on.' response_text = 'Turning the light off.'</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183</a:t>
            </a:r>
          </a:p>
          <a:p/>
          <a:p>
            <a:r>
              <a:t>Text and Speech Translation Text translation can be used to translate documents from one language to another, translate email communications that come from foreign governments, and even provide the ability to translate web pages on the Internet. Many times you will see a Translate option for posts on social media sites, or the Bing search engine can offer to translate entire web pages that are turned in search results. Speech translation is used to translate between spoken languages, sometimes directly (speech-to-speech translation) and sometimes by translating to an intermediary text format (speech-to-text translation).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184</a:t>
            </a:r>
          </a:p>
          <a:p/>
          <a:p>
            <a:r>
              <a:t>Open 02d - Language Understanding.ipynb Run the code as per jupyter file Try different text in the code Activity: Text and Speech Translation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185</a:t>
            </a:r>
          </a:p>
          <a:p/>
          <a:p>
            <a:r>
              <a:t>Conversational language understanding Azure has a Language Understanding web application (https://www.Microsoft Foundry / Azure AI Language/) that provides machine learning-based service to build natural language into apps, bots, and IoT devices. You can quickly create enterprise-ready, custom models that continuously improve.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186</a:t>
            </a:r>
          </a:p>
          <a:p/>
          <a:p>
            <a:r>
              <a:t>Open 02d - Language Understanding.ipynb Run the code as per jupyter file You will need to create an app on LUIS for this activity Activity: Language Understanding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187</a:t>
            </a:r>
          </a:p>
          <a:p/>
          <a:p>
            <a:r>
              <a:t>Think about how often you communicate with other people through instant messaging, social media, email, or other online technologies. Conversational AI</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188</a:t>
            </a:r>
          </a:p>
          <a:p/>
          <a:p>
            <a:r>
              <a:t>Conversational AI Bots are designed to interact with users in a conversational manner, as shown in this example of a chat interface: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189</a:t>
            </a:r>
          </a:p>
          <a:p/>
          <a:p>
            <a:r>
              <a:t>Custom question answering and Azure Bot Service You can easily create a user support bot solution on Microsoft Azure using a combination of two core technologies: Custom question answering. This cognitive service enables you to create and publish a knowledge base with built-in natural language processing capabilities. Azure Bot Service. This service provides a framework for developing, publishing, and managing bots on Azure.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190</a:t>
            </a:r>
          </a:p>
          <a:p/>
          <a:p>
            <a:r>
              <a:t>Azure Custom question answering Azure has a Language Understanding web application (https://www.Microsoft Foundry / Azure AI Language/) allow one to build, train and publish a sophisticated bot using FAQ pages, support websites, product manuals, SharePoint documents or editorial content through an easy-to-use UI or via REST APIs.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191</a:t>
            </a:r>
          </a:p>
          <a:p/>
          <a:p>
            <a:r>
              <a:t>Open Run the code as per jupyter file You will need to create an app on LUIS for this activity Activity: Custom question answering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192</a:t>
            </a:r>
          </a:p>
          <a:p/>
          <a:p>
            <a:r>
              <a:t>Define questions and answers After provisioning a Language service resource, you can use the Language Studio's custom question answering feature to create a knowledge base that consists of question-and-answer pairs. These questions and answers can be: Generated from an existing FAQ document or web page. Entered and edited manually.</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193</a:t>
            </a:r>
          </a:p>
          <a:p/>
          <a:p>
            <a:r>
              <a:t>Test the Knowledge Base After creating a set of question-and-answer pairs, you must save it. This process analyzes your literal questions and answers and applies a built-in natural language processing model to match appropriate answers to questions, even when they are not phrased exactly as specified in your question definitions. Then you can use the built-in test interface in the Language Studio to test your knowledge base by submitting questions and reviewing the answers that are returned.</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194</a:t>
            </a:r>
          </a:p>
          <a:p/>
          <a:p>
            <a:r>
              <a:t>Use the knowledge base When you're satisfied with your knowledge base, deploy it. Then you can use it over its REST interface. To access the knowledge base, client applications require: The knowledge base ID The knowledge base endpoint The knowledge base authorization key</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195</a:t>
            </a:r>
          </a:p>
          <a:p/>
          <a:p>
            <a:r>
              <a:t>Open 03a - QnA Bot.ipynb Follow the instructions on the notebook You will need to login to https://www.Microsoft Foundry / Azure AI Language/ to create a knowledge base Activity: Custom question answering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196</a:t>
            </a:r>
          </a:p>
          <a:p/>
          <a:p>
            <a:r>
              <a:t>Build a bot with the Azure Bot Service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197</a:t>
            </a:r>
          </a:p>
          <a:p/>
          <a:p>
            <a:r>
              <a:t>Conversational Language Understanding On Microsoft Azure, conversational language understanding is supported through the Language Service. To work with Conversational Language Understanding, you need to take into account three core concepts: utterances entities intents.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198</a:t>
            </a:r>
          </a:p>
          <a:p/>
          <a:p>
            <a:r>
              <a:t>An utterance is an example of something a user might say, and which your application must interpret. For example, when using a home automation system, a user might use the following utterances: Utterances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199</a:t>
            </a:r>
          </a:p>
          <a:p/>
          <a:p>
            <a:r>
              <a:t>An entity is an item to which an utterance refers. For example, fan and light in the following utterances: Entities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200</a:t>
            </a:r>
          </a:p>
          <a:p/>
          <a:p>
            <a:r>
              <a:t>An intent represents the purpose, or goal, expressed in a user's utterance. Intents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201</a:t>
            </a:r>
          </a:p>
          <a:p/>
          <a:p>
            <a:r>
              <a:t>Knowledge Quiz - Fundamentals of Text Analysis with the Language Service https://learn.microsoft.com/en-us/training/modules/analyze-text-with-text-analytics-service/5-knowledge-check?ns-enrollment-type=learningpath&amp;ns-enrollment-id=learn.wwl.explore-natural-language-processing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202</a:t>
            </a:r>
          </a:p>
          <a:p/>
          <a:p>
            <a:r>
              <a:t>Knowledge Quiz - Fundamentals of question answering with the Language Service https://learn.microsoft.com/en-us/training/modules/build-faq-chatbot-qna-maker-azure-bot-service/5-knowledge-check?ns-enrollment-type=learningpath&amp;ns-enrollment-id=learn.wwl.explore-natural-language-processing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203</a:t>
            </a:r>
          </a:p>
          <a:p/>
          <a:p>
            <a:r>
              <a:t>Knowledge Quiz - Fundamentals of conversational language understanding https://learn.microsoft.com/en-us/training/modules/create-language-model-with-language-understanding/5-knowledge-check?ns-enrollment-type=learningpath&amp;ns-enrollment-id=learn.wwl.explore-natural-language-processing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204</a:t>
            </a:r>
          </a:p>
          <a:p/>
          <a:p>
            <a:r>
              <a:t>Knowledge Quiz - Fundamentals of Azure AI Speech https://learn.microsoft.com/en-us/training/modules/recognize-synthesize-speech/5-knowledge-check?ns-enrollment-type=learningpath&amp;ns-enrollment-id=learn.wwl.explore-natural-language-processing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205</a:t>
            </a:r>
          </a:p>
          <a:p/>
          <a:p>
            <a:r>
              <a:t>Knowledge Quiz - Fundamentals of language translation https://learn.microsoft.com/en-us/training/modules/translate-text-with-translation-service/3a-knowledge-check?ns-enrollment-type=learningpath&amp;ns-enrollment-id=learn.wwl.explore-natural-language-processing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206</a:t>
            </a:r>
          </a:p>
          <a:p/>
          <a:p>
            <a:r>
              <a:t>Topic 5 Explore Decision Support</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207</a:t>
            </a:r>
          </a:p>
          <a:p/>
          <a:p>
            <a:r>
              <a:t>How Anomaly Detector works The Anomaly Detector service identifies anomalies that exist outside the scope of a boundary. The boundary is set using a sensitivity value. By default, the upper and lower boundaries for anomaly detection are calculated using concepts known as expectedValue, upperMargin, and lowerMargin. The upper and lower boundaries are calculated using these three values. If a value exceeds either boundary, it will be identified as an anomaly. You can adjust the boundaries by applying a marginScale to the upper and lower margins as demonstrated by the following formula. upperBoundary = expectedValue + (100 - marginScale) * upperMargin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208</a:t>
            </a:r>
          </a:p>
          <a:p/>
          <a:p>
            <a:r>
              <a:t>Data format</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209</a:t>
            </a:r>
          </a:p>
          <a:p/>
          <a:p>
            <a:r>
              <a:t>When to use Anomaly Detector The Anomaly Detector service supports batch processing of time series data and last-point anomaly detection for real-time data.</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210</a:t>
            </a:r>
          </a:p>
          <a:p/>
          <a:p>
            <a:r>
              <a:t>Batch Detection Consider a pharmaceutical company that stores medications in storage facilities where the temperature in the facilities needs to remain within a specific range. To evaluate whether the medication remained stored in a safe temperature range in the past three months we need to know: the maximum allowable temperature the minimum allowable temperature the acceptable duration of time for temperatures to be outside the safe range</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211</a:t>
            </a:r>
          </a:p>
          <a:p/>
          <a:p>
            <a:r>
              <a:t>Batch Detection Example Batch detection involves applying the algorithm to an entire data series at one time. The concept of time series data involves evaluation of a data set as a batch. Use your time series to detect any anomalies that might exist throughout your data. This operation generates a model using your entire time series data, with each point analyzed using the same model. Batch detection is best used when your data contains: Flat trend time series data with occasional spikes or dips Seasonal time series data with occasional anomalies Seasonality is considered to be a pattern in your data, that occurs at regular intervals. Examples would be hourly, daily, or monthly patterns. Using seasonal data, and specifying a period for that pattern, can help to reduce the latency in detection.</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212</a:t>
            </a:r>
          </a:p>
          <a:p/>
          <a:p>
            <a:r>
              <a:t>Real-time Detection Real-time detection uses streaming data by comparing previously seen data points to the last data point to determine if your latest one is an anomaly. This operation generates a model using the data points you send, and determines if the target (current) point is an anomaly. By calling the service with each new data point you generate, you can monitor your data as it's created.</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213</a:t>
            </a:r>
          </a:p>
          <a:p/>
          <a:p>
            <a:r>
              <a:t>Real-time Detection Example Consider a scenario in the carbonated beverage industry where real-time anomaly detection may be useful. The carbon dioxide added to soft drinks during the bottling or canning process needs to stay in a specific temperature range. Bottling systems use a device known as a carbo-cooler to achieve the refrigeration of the product for this process. If the temperature goes too low, the product will freeze in the carbo-cooler. If the temperature is too warm, the carbon dioxide will not adhere properly.</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214</a:t>
            </a:r>
          </a:p>
          <a:p/>
          <a:p>
            <a:r>
              <a:t>Topic 6 Explore knowledge mining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215</a:t>
            </a:r>
          </a:p>
          <a:p/>
          <a:p>
            <a:r>
              <a:t>Azure AI Search Azure AI Search provides the infrastructure and tools to create search solutions that extract data from various structured, semi-structured, and non-structured documents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216</a:t>
            </a:r>
          </a:p>
          <a:p/>
          <a:p>
            <a:r>
              <a:t>Understand Indexes An Azure AI Search index can be thought of as a container of searchable documents. Conceptually you can think of an index as a table and each row in the table represents a document. Tables have columns, and the columns can be thought of as equivalent to the fields in a document. Columns have data types, just as the fields do on the documents.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217</a:t>
            </a:r>
          </a:p>
          <a:p/>
          <a:p>
            <a:r>
              <a:t>Index Schema</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218</a:t>
            </a:r>
          </a:p>
          <a:p/>
          <a:p>
            <a:r>
              <a:t>Index Attributes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219</a:t>
            </a:r>
          </a:p>
          <a:p/>
          <a:p>
            <a:r>
              <a:t>Use an indexer to build an index Azure AI Search lets you create and load JSON documents into an index with two approaches: Push method: JSON data is pushed into a search index via either the REST API or the .NET SDK. Pushing data has the most flexibility as it has no restrictions on the data source type, location, or frequency of execution. Pull method: Search service indexers can pull data from popular Azure data sources, and if necessary, export that data into JSON if it isn't already in that format.</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220</a:t>
            </a:r>
          </a:p>
          <a:p/>
          <a:p>
            <a:r>
              <a:t>Knowledge Store A knowledge store is persistent storage of enriched content. The purpose of a knowledge store is to store the data generated from AI enrichment in a container. For example, you may want to save the results of an AI skillset that generates captions from images.</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221</a:t>
            </a:r>
          </a:p>
          <a:p/>
          <a:p>
            <a:r>
              <a:t>Create an index in the Azure portal</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222</a:t>
            </a:r>
          </a:p>
          <a:p/>
          <a:p>
            <a:r>
              <a:t>Query data in an Azure AI Search index Index and query design are closely linked. After we build the index, we can perform queries. A crucial component to understand is that the schema of the index determines what queries can be answered. Azure AI Search queries can be submitted as an HTTP or REST API request, with the response coming back as JSON. Queries can specify what fields are searched and returned, how search results are shaped, and how the results should be filtered or sorted. A query that doesn't specify the field to search will execute against all the searchable fields within the index</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223</a:t>
            </a:r>
          </a:p>
          <a:p/>
          <a:p>
            <a:r>
              <a:t>Simple query requests A query request is a list or words (search terms) and query operators (simple or full) of what you would like to see returned in a result set. Let's look what components make up a search query. Consider this simple search example coffee (-"busy" + "wifi")</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224</a:t>
            </a:r>
          </a:p>
          <a:p/>
          <a:p>
            <a:r>
              <a:t>Knowledge Quiz - Fundamentals of Azure AI Document Intelligence https://learn.microsoft.com/en-us/training/modules/analyze-receipts-form-recognizer/5-knowledge-check?ns-enrollment-type=learningpath&amp;ns-enrollment-id=learn.wwl.document-intelligence-knowledge-mining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225</a:t>
            </a:r>
          </a:p>
          <a:p/>
          <a:p>
            <a:r>
              <a:t>Knowledge Quiz - Fundamentals of Knowledge Mining and Azure AI Search https://learn.microsoft.com/en-us/training/modules/intro-to-azure-search/8-knowledge-check?ns-enrollment-type=learningpath&amp;ns-enrollment-id=learn.wwl.document-intelligence-knowledge-mining</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226</a:t>
            </a:r>
          </a:p>
          <a:p/>
          <a:p>
            <a:r>
              <a:t>Summary Q&amp;A</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227</a:t>
            </a:r>
          </a:p>
          <a:p/>
          <a:p>
            <a:r>
              <a:t>Cert &amp; TRAQOM Survey (Mandatory) https://lms-tms.tertiaryinfotech.com/</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228</a:t>
            </a:r>
          </a:p>
          <a:p/>
          <a:p>
            <a:r>
              <a:t>It is mandatory for you to take both AM, PM and Assessment digital attendance for WSQ funded courses. The trainer or administrator will show you the digital attendance QR code generated from SSG portal. Please scan the QR code from your mobile phone camera and submit your attendance. Digital Attendance (Mandatory)</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229</a:t>
            </a:r>
          </a:p>
          <a:p/>
          <a:p>
            <a:r>
              <a:t>Final Assessment</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230</a:t>
            </a:r>
          </a:p>
          <a:p/>
          <a:p>
            <a:r>
              <a:t>Recommended Courses WSQ - Create Copilot Chatbots and Agents with Microsoft Copilot Studio WSQ - Develop Generative AI Solutions with Azure OpenAI Service WSQ - Data Analytics with Excel WSQ - Applications Integration with Power Apps and Power Automate WSQ - Data Analytics and Visualization with Power BI</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231</a:t>
            </a:r>
          </a:p>
          <a:p/>
          <a:p>
            <a:r>
              <a:t>Support If you have any enquiries during and after the class, you can contact us below Email: enquiry@tertiaryinfotech.com Tel: 61000613</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v9 source slide 232</a:t>
            </a:r>
          </a:p>
          <a:p/>
          <a:p>
            <a:r>
              <a:t>Thank You!</a:t>
            </a:r>
          </a:p>
          <a:p/>
          <a:p>
            <a:r>
              <a:t>Terminology reviewed against MicrosoftLearning commit d1a6668.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7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7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7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8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9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9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notesSlide" Target="../notesSlides/notesSlide10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notesSlide" Target="../notesSlides/notesSlide10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 Id="rId3" Type="http://schemas.openxmlformats.org/officeDocument/2006/relationships/notesSlide" Target="../notesSlides/notesSlide10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 Id="rId3" Type="http://schemas.openxmlformats.org/officeDocument/2006/relationships/notesSlide" Target="../notesSlides/notesSlide10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 Id="rId3" Type="http://schemas.openxmlformats.org/officeDocument/2006/relationships/notesSlide" Target="../notesSlides/notesSlide11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3.xml"/><Relationship Id="rId3" Type="http://schemas.openxmlformats.org/officeDocument/2006/relationships/notesSlide" Target="../notesSlides/notesSlide11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4.xml"/><Relationship Id="rId3" Type="http://schemas.openxmlformats.org/officeDocument/2006/relationships/notesSlide" Target="../notesSlides/notesSlide11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5.xml"/><Relationship Id="rId3" Type="http://schemas.openxmlformats.org/officeDocument/2006/relationships/notesSlide" Target="../notesSlides/notesSlide11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6.xml"/><Relationship Id="rId3" Type="http://schemas.openxmlformats.org/officeDocument/2006/relationships/notesSlide" Target="../notesSlides/notesSlide11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6.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4.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5.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9.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8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90.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9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94.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5.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7.xml"/><Relationship Id="rId3" Type="http://schemas.openxmlformats.org/officeDocument/2006/relationships/notesSlide" Target="../notesSlides/notesSlide206.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8.xml"/><Relationship Id="rId3" Type="http://schemas.openxmlformats.org/officeDocument/2006/relationships/notesSlide" Target="../notesSlides/notesSlide208.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9.xml"/><Relationship Id="rId3" Type="http://schemas.openxmlformats.org/officeDocument/2006/relationships/notesSlide" Target="../notesSlides/notesSlide209.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0.xml"/><Relationship Id="rId3" Type="http://schemas.openxmlformats.org/officeDocument/2006/relationships/notesSlide" Target="../notesSlides/notesSlide210.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1.xml"/><Relationship Id="rId3" Type="http://schemas.openxmlformats.org/officeDocument/2006/relationships/notesSlide" Target="../notesSlides/notesSlide211.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2.xml"/><Relationship Id="rId3" Type="http://schemas.openxmlformats.org/officeDocument/2006/relationships/notesSlide" Target="../notesSlides/notesSlide21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20.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0.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i900-cloud-workspace-concept.png"/>
          <p:cNvPicPr>
            <a:picLocks noChangeAspect="1"/>
          </p:cNvPicPr>
          <p:nvPr/>
        </p:nvPicPr>
        <p:blipFill>
          <a:blip r:embed="rId2"/>
          <a:stretch>
            <a:fillRect/>
          </a:stretch>
        </p:blipFill>
        <p:spPr>
          <a:xfrm>
            <a:off x="4754880" y="137160"/>
            <a:ext cx="7315200" cy="6355080"/>
          </a:xfrm>
          <a:prstGeom prst="rect">
            <a:avLst/>
          </a:prstGeom>
        </p:spPr>
      </p:pic>
      <p:sp>
        <p:nvSpPr>
          <p:cNvPr id="4" name="Rectangle 3"/>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3"/>
          <a:stretch>
            <a:fillRect/>
          </a:stretch>
        </p:blipFill>
        <p:spPr>
          <a:xfrm>
            <a:off x="658368" y="411480"/>
            <a:ext cx="658368" cy="658368"/>
          </a:xfrm>
          <a:prstGeom prst="rect">
            <a:avLst/>
          </a:prstGeom>
        </p:spPr>
      </p:pic>
      <p:sp>
        <p:nvSpPr>
          <p:cNvPr id="6" name="TextBox 5"/>
          <p:cNvSpPr txBox="1"/>
          <p:nvPr/>
        </p:nvSpPr>
        <p:spPr>
          <a:xfrm>
            <a:off x="658368" y="1444752"/>
            <a:ext cx="4526280" cy="320040"/>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WSQ COURSE · MICROSOFT AZURE</a:t>
            </a:r>
          </a:p>
        </p:txBody>
      </p:sp>
      <p:sp>
        <p:nvSpPr>
          <p:cNvPr id="7" name="TextBox 6"/>
          <p:cNvSpPr txBox="1"/>
          <p:nvPr/>
        </p:nvSpPr>
        <p:spPr>
          <a:xfrm>
            <a:off x="658368" y="1847088"/>
            <a:ext cx="4709160" cy="1508760"/>
          </a:xfrm>
          <a:prstGeom prst="rect">
            <a:avLst/>
          </a:prstGeom>
          <a:noFill/>
        </p:spPr>
        <p:txBody>
          <a:bodyPr wrap="square" anchor="t" lIns="45720" rIns="45720" tIns="27432" bIns="27432">
            <a:spAutoFit/>
          </a:bodyPr>
          <a:lstStyle/>
          <a:p>
            <a:pPr algn="l">
              <a:spcAft>
                <a:spcPts val="0"/>
              </a:spcAft>
            </a:pPr>
            <a:r>
              <a:rPr sz="3200" b="1">
                <a:solidFill>
                  <a:srgbClr val="161B26"/>
                </a:solidFill>
                <a:latin typeface="Arial"/>
              </a:rPr>
              <a:t>Microsoft Azure AI Fundamentals (AI-900)</a:t>
            </a:r>
          </a:p>
        </p:txBody>
      </p:sp>
      <p:sp>
        <p:nvSpPr>
          <p:cNvPr id="8" name="TextBox 7"/>
          <p:cNvSpPr txBox="1"/>
          <p:nvPr/>
        </p:nvSpPr>
        <p:spPr>
          <a:xfrm>
            <a:off x="658368" y="3566160"/>
            <a:ext cx="4434840" cy="749808"/>
          </a:xfrm>
          <a:prstGeom prst="rect">
            <a:avLst/>
          </a:prstGeom>
          <a:noFill/>
        </p:spPr>
        <p:txBody>
          <a:bodyPr wrap="square" anchor="t" lIns="45720" rIns="45720" tIns="27432" bIns="27432">
            <a:spAutoFit/>
          </a:bodyPr>
          <a:lstStyle/>
          <a:p>
            <a:pPr algn="l">
              <a:spcAft>
                <a:spcPts val="0"/>
              </a:spcAft>
            </a:pPr>
            <a:r>
              <a:rPr sz="1400" b="0">
                <a:solidFill>
                  <a:srgbClr val="5B6372"/>
                </a:solidFill>
                <a:latin typeface="Arial"/>
              </a:rPr>
              <a:t>Course Code: TGS-2023021100
ICT-TEM-3034-1.1 · 2 days · 16 hours</a:t>
            </a:r>
          </a:p>
        </p:txBody>
      </p:sp>
      <p:sp>
        <p:nvSpPr>
          <p:cNvPr id="9" name="Rounded Rectangle 8"/>
          <p:cNvSpPr/>
          <p:nvPr/>
        </p:nvSpPr>
        <p:spPr>
          <a:xfrm>
            <a:off x="658368" y="4681728"/>
            <a:ext cx="3931920" cy="603504"/>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4828032"/>
            <a:ext cx="3566160" cy="274320"/>
          </a:xfrm>
          <a:prstGeom prst="rect">
            <a:avLst/>
          </a:prstGeom>
          <a:noFill/>
        </p:spPr>
        <p:txBody>
          <a:bodyPr wrap="square" anchor="t" lIns="45720" rIns="45720" tIns="27432" bIns="27432">
            <a:spAutoFit/>
          </a:bodyPr>
          <a:lstStyle/>
          <a:p>
            <a:pPr algn="ctr">
              <a:spcAft>
                <a:spcPts val="0"/>
              </a:spcAft>
            </a:pPr>
            <a:r>
              <a:rPr sz="1300" b="1">
                <a:solidFill>
                  <a:srgbClr val="FFFFFF"/>
                </a:solidFill>
                <a:latin typeface="Arial"/>
              </a:rPr>
              <a:t>Version 10.0 · 2 September 2026</a:t>
            </a:r>
          </a:p>
        </p:txBody>
      </p:sp>
      <p:sp>
        <p:nvSpPr>
          <p:cNvPr id="11" name="TextBox 10"/>
          <p:cNvSpPr txBox="1"/>
          <p:nvPr/>
        </p:nvSpPr>
        <p:spPr>
          <a:xfrm>
            <a:off x="658368" y="5870448"/>
            <a:ext cx="4389120" cy="475488"/>
          </a:xfrm>
          <a:prstGeom prst="rect">
            <a:avLst/>
          </a:prstGeom>
          <a:noFill/>
        </p:spPr>
        <p:txBody>
          <a:bodyPr wrap="square" anchor="t" lIns="45720" rIns="45720" tIns="27432" bIns="27432">
            <a:spAutoFit/>
          </a:bodyPr>
          <a:lstStyle/>
          <a:p>
            <a:pPr algn="l">
              <a:spcAft>
                <a:spcPts val="0"/>
              </a:spcAft>
            </a:pPr>
            <a:r>
              <a:rPr sz="1000" b="0">
                <a:solidFill>
                  <a:srgbClr val="5B6372"/>
                </a:solidFill>
                <a:latin typeface="Arial"/>
              </a:rPr>
              <a:t>Tertiary Infotech Academy Pte Ltd
UEN 201200696W</a:t>
            </a:r>
          </a:p>
        </p:txBody>
      </p:sp>
    </p:spTree>
  </p:cSld>
  <p:clrMapOvr>
    <a:masterClrMapping/>
  </p:clrMapOvr>
  <p:transition spd="fast">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002 · ADMIN</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Digital Attendance Is Mandatory</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Scan the SSG-issued QR code shown by the trainer.</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Submit AM, PM and assessment attendance separately.</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Use the enrolled learner identity and correct course run.</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Show the confirmation state before closing the form.</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a:t>
            </a:r>
          </a:p>
        </p:txBody>
      </p:sp>
    </p:spTree>
  </p:cSld>
  <p:clrMapOvr>
    <a:masterClrMapping/>
  </p:clrMapOvr>
  <p:transition spd="fast">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5B6372"/>
                </a:solidFill>
                <a:latin typeface="Arial"/>
              </a:rPr>
              <a:t>COURSE ADMINISTRATION</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About the Trainer</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55648"/>
            <a:ext cx="3154680" cy="409651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72768" y="2148840"/>
            <a:ext cx="1325880" cy="1325880"/>
          </a:xfrm>
          <a:prstGeom prst="round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2768" y="2496312"/>
            <a:ext cx="1325880" cy="457200"/>
          </a:xfrm>
          <a:prstGeom prst="rect">
            <a:avLst/>
          </a:prstGeom>
          <a:noFill/>
        </p:spPr>
        <p:txBody>
          <a:bodyPr wrap="square" anchor="t" lIns="45720" rIns="45720" tIns="27432" bIns="27432">
            <a:spAutoFit/>
          </a:bodyPr>
          <a:lstStyle/>
          <a:p>
            <a:pPr algn="ctr">
              <a:spcAft>
                <a:spcPts val="0"/>
              </a:spcAft>
            </a:pPr>
            <a:r>
              <a:rPr sz="3200" b="1">
                <a:solidFill>
                  <a:srgbClr val="FFFFFF"/>
                </a:solidFill>
                <a:latin typeface="Arial"/>
              </a:rPr>
              <a:t>?</a:t>
            </a:r>
          </a:p>
        </p:txBody>
      </p:sp>
      <p:sp>
        <p:nvSpPr>
          <p:cNvPr id="10" name="TextBox 9"/>
          <p:cNvSpPr txBox="1"/>
          <p:nvPr/>
        </p:nvSpPr>
        <p:spPr>
          <a:xfrm>
            <a:off x="914400" y="3730752"/>
            <a:ext cx="2651760" cy="411480"/>
          </a:xfrm>
          <a:prstGeom prst="rect">
            <a:avLst/>
          </a:prstGeom>
          <a:noFill/>
        </p:spPr>
        <p:txBody>
          <a:bodyPr wrap="square" anchor="t" lIns="45720" rIns="45720" tIns="27432" bIns="27432">
            <a:spAutoFit/>
          </a:bodyPr>
          <a:lstStyle/>
          <a:p>
            <a:pPr algn="ctr">
              <a:spcAft>
                <a:spcPts val="0"/>
              </a:spcAft>
            </a:pPr>
            <a:r>
              <a:rPr sz="1900" b="1">
                <a:solidFill>
                  <a:srgbClr val="161B26"/>
                </a:solidFill>
                <a:latin typeface="Arial"/>
              </a:rPr>
              <a:t>Trainer Profile Template</a:t>
            </a:r>
          </a:p>
        </p:txBody>
      </p:sp>
      <p:sp>
        <p:nvSpPr>
          <p:cNvPr id="11" name="TextBox 10"/>
          <p:cNvSpPr txBox="1"/>
          <p:nvPr/>
        </p:nvSpPr>
        <p:spPr>
          <a:xfrm>
            <a:off x="914400" y="4224528"/>
            <a:ext cx="2651760" cy="548640"/>
          </a:xfrm>
          <a:prstGeom prst="rect">
            <a:avLst/>
          </a:prstGeom>
          <a:noFill/>
        </p:spPr>
        <p:txBody>
          <a:bodyPr wrap="square" anchor="t" lIns="45720" rIns="45720" tIns="27432" bIns="27432">
            <a:spAutoFit/>
          </a:bodyPr>
          <a:lstStyle/>
          <a:p>
            <a:pPr algn="ctr">
              <a:spcAft>
                <a:spcPts val="0"/>
              </a:spcAft>
            </a:pPr>
            <a:r>
              <a:rPr sz="1200" b="0">
                <a:solidFill>
                  <a:srgbClr val="5B6372"/>
                </a:solidFill>
                <a:latin typeface="Arial"/>
              </a:rPr>
              <a:t>Complete before delivery</a:t>
            </a:r>
          </a:p>
        </p:txBody>
      </p:sp>
      <p:sp>
        <p:nvSpPr>
          <p:cNvPr id="12" name="Rounded Rectangle 11"/>
          <p:cNvSpPr/>
          <p:nvPr/>
        </p:nvSpPr>
        <p:spPr>
          <a:xfrm>
            <a:off x="4160520" y="1755648"/>
            <a:ext cx="7333488" cy="85953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60520" y="1755648"/>
            <a:ext cx="73152" cy="8595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07408" y="1865376"/>
            <a:ext cx="1828800" cy="22860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NAME / DESIGNATION</a:t>
            </a:r>
          </a:p>
        </p:txBody>
      </p:sp>
      <p:sp>
        <p:nvSpPr>
          <p:cNvPr id="15" name="TextBox 14"/>
          <p:cNvSpPr txBox="1"/>
          <p:nvPr/>
        </p:nvSpPr>
        <p:spPr>
          <a:xfrm>
            <a:off x="6172200" y="1865376"/>
            <a:ext cx="5029200" cy="475488"/>
          </a:xfrm>
          <a:prstGeom prst="rect">
            <a:avLst/>
          </a:prstGeom>
          <a:noFill/>
        </p:spPr>
        <p:txBody>
          <a:bodyPr wrap="square" anchor="t" lIns="45720" rIns="45720" tIns="27432" bIns="27432">
            <a:spAutoFit/>
          </a:bodyPr>
          <a:lstStyle/>
          <a:p>
            <a:pPr algn="l">
              <a:spcAft>
                <a:spcPts val="0"/>
              </a:spcAft>
            </a:pPr>
            <a:r>
              <a:rPr sz="1300" b="0">
                <a:solidFill>
                  <a:srgbClr val="161B26"/>
                </a:solidFill>
                <a:latin typeface="Arial"/>
              </a:rPr>
              <a:t>________________________________</a:t>
            </a:r>
          </a:p>
        </p:txBody>
      </p:sp>
      <p:sp>
        <p:nvSpPr>
          <p:cNvPr id="16" name="Rounded Rectangle 15"/>
          <p:cNvSpPr/>
          <p:nvPr/>
        </p:nvSpPr>
        <p:spPr>
          <a:xfrm>
            <a:off x="4160520" y="2788920"/>
            <a:ext cx="7333488" cy="85953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60520" y="2788920"/>
            <a:ext cx="73152" cy="8595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07408" y="2898648"/>
            <a:ext cx="182880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QUALIFICATIONS</a:t>
            </a:r>
          </a:p>
        </p:txBody>
      </p:sp>
      <p:sp>
        <p:nvSpPr>
          <p:cNvPr id="19" name="TextBox 18"/>
          <p:cNvSpPr txBox="1"/>
          <p:nvPr/>
        </p:nvSpPr>
        <p:spPr>
          <a:xfrm>
            <a:off x="6172200" y="2898648"/>
            <a:ext cx="5029200" cy="475488"/>
          </a:xfrm>
          <a:prstGeom prst="rect">
            <a:avLst/>
          </a:prstGeom>
          <a:noFill/>
        </p:spPr>
        <p:txBody>
          <a:bodyPr wrap="square" anchor="t" lIns="45720" rIns="45720" tIns="27432" bIns="27432">
            <a:spAutoFit/>
          </a:bodyPr>
          <a:lstStyle/>
          <a:p>
            <a:pPr algn="l">
              <a:spcAft>
                <a:spcPts val="0"/>
              </a:spcAft>
            </a:pPr>
            <a:r>
              <a:rPr sz="1300" b="0">
                <a:solidFill>
                  <a:srgbClr val="161B26"/>
                </a:solidFill>
                <a:latin typeface="Arial"/>
              </a:rPr>
              <a:t>________________________________</a:t>
            </a:r>
          </a:p>
        </p:txBody>
      </p:sp>
      <p:sp>
        <p:nvSpPr>
          <p:cNvPr id="20" name="Rounded Rectangle 19"/>
          <p:cNvSpPr/>
          <p:nvPr/>
        </p:nvSpPr>
        <p:spPr>
          <a:xfrm>
            <a:off x="4160520" y="3822191"/>
            <a:ext cx="7333488" cy="85953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60520" y="3822191"/>
            <a:ext cx="73152" cy="8595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07408" y="3931920"/>
            <a:ext cx="1828800" cy="22860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EXPERTISE</a:t>
            </a:r>
          </a:p>
        </p:txBody>
      </p:sp>
      <p:sp>
        <p:nvSpPr>
          <p:cNvPr id="23" name="TextBox 22"/>
          <p:cNvSpPr txBox="1"/>
          <p:nvPr/>
        </p:nvSpPr>
        <p:spPr>
          <a:xfrm>
            <a:off x="6172200" y="3931920"/>
            <a:ext cx="5029200" cy="475488"/>
          </a:xfrm>
          <a:prstGeom prst="rect">
            <a:avLst/>
          </a:prstGeom>
          <a:noFill/>
        </p:spPr>
        <p:txBody>
          <a:bodyPr wrap="square" anchor="t" lIns="45720" rIns="45720" tIns="27432" bIns="27432">
            <a:spAutoFit/>
          </a:bodyPr>
          <a:lstStyle/>
          <a:p>
            <a:pPr algn="l">
              <a:spcAft>
                <a:spcPts val="0"/>
              </a:spcAft>
            </a:pPr>
            <a:r>
              <a:rPr sz="1300" b="0">
                <a:solidFill>
                  <a:srgbClr val="161B26"/>
                </a:solidFill>
                <a:latin typeface="Arial"/>
              </a:rPr>
              <a:t>________________________________</a:t>
            </a:r>
          </a:p>
        </p:txBody>
      </p:sp>
      <p:sp>
        <p:nvSpPr>
          <p:cNvPr id="24" name="Rounded Rectangle 23"/>
          <p:cNvSpPr/>
          <p:nvPr/>
        </p:nvSpPr>
        <p:spPr>
          <a:xfrm>
            <a:off x="4160520" y="4855464"/>
            <a:ext cx="7333488" cy="85953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60520" y="4855464"/>
            <a:ext cx="73152" cy="8595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07408" y="4965192"/>
            <a:ext cx="1828800" cy="22860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EXPERIENCE</a:t>
            </a:r>
          </a:p>
        </p:txBody>
      </p:sp>
      <p:sp>
        <p:nvSpPr>
          <p:cNvPr id="27" name="TextBox 26"/>
          <p:cNvSpPr txBox="1"/>
          <p:nvPr/>
        </p:nvSpPr>
        <p:spPr>
          <a:xfrm>
            <a:off x="6172200" y="4965192"/>
            <a:ext cx="5029200" cy="475488"/>
          </a:xfrm>
          <a:prstGeom prst="rect">
            <a:avLst/>
          </a:prstGeom>
          <a:noFill/>
        </p:spPr>
        <p:txBody>
          <a:bodyPr wrap="square" anchor="t" lIns="45720" rIns="45720" tIns="27432" bIns="27432">
            <a:spAutoFit/>
          </a:bodyPr>
          <a:lstStyle/>
          <a:p>
            <a:pPr algn="l">
              <a:spcAft>
                <a:spcPts val="0"/>
              </a:spcAft>
            </a:pPr>
            <a:r>
              <a:rPr sz="1300" b="0">
                <a:solidFill>
                  <a:srgbClr val="161B26"/>
                </a:solidFill>
                <a:latin typeface="Arial"/>
              </a:rPr>
              <a:t>________________________________</a:t>
            </a:r>
          </a:p>
        </p:txBody>
      </p:sp>
      <p:sp>
        <p:nvSpPr>
          <p:cNvPr id="28" name="TextBox 27"/>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9" name="TextBox 28"/>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0" name="TextBox 29"/>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3</a:t>
            </a:r>
          </a:p>
        </p:txBody>
      </p:sp>
    </p:spTree>
  </p:cSld>
  <p:clrMapOvr>
    <a:masterClrMapping/>
  </p:clrMapOvr>
  <p:transition spd="fast">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COURSE ADMINISTRATION</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About the Trainer</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55648"/>
            <a:ext cx="3154680" cy="409651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72768" y="2148840"/>
            <a:ext cx="1325880" cy="132588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2768" y="2496312"/>
            <a:ext cx="1325880" cy="457200"/>
          </a:xfrm>
          <a:prstGeom prst="rect">
            <a:avLst/>
          </a:prstGeom>
          <a:noFill/>
        </p:spPr>
        <p:txBody>
          <a:bodyPr wrap="square" anchor="t" lIns="45720" rIns="45720" tIns="27432" bIns="27432">
            <a:spAutoFit/>
          </a:bodyPr>
          <a:lstStyle/>
          <a:p>
            <a:pPr algn="ctr">
              <a:spcAft>
                <a:spcPts val="0"/>
              </a:spcAft>
            </a:pPr>
            <a:r>
              <a:rPr sz="3200" b="1">
                <a:solidFill>
                  <a:srgbClr val="FFFFFF"/>
                </a:solidFill>
                <a:latin typeface="Arial"/>
              </a:rPr>
              <a:t>AA</a:t>
            </a:r>
          </a:p>
        </p:txBody>
      </p:sp>
      <p:sp>
        <p:nvSpPr>
          <p:cNvPr id="10" name="TextBox 9"/>
          <p:cNvSpPr txBox="1"/>
          <p:nvPr/>
        </p:nvSpPr>
        <p:spPr>
          <a:xfrm>
            <a:off x="914400" y="3730752"/>
            <a:ext cx="2651760" cy="411480"/>
          </a:xfrm>
          <a:prstGeom prst="rect">
            <a:avLst/>
          </a:prstGeom>
          <a:noFill/>
        </p:spPr>
        <p:txBody>
          <a:bodyPr wrap="square" anchor="t" lIns="45720" rIns="45720" tIns="27432" bIns="27432">
            <a:spAutoFit/>
          </a:bodyPr>
          <a:lstStyle/>
          <a:p>
            <a:pPr algn="ctr">
              <a:spcAft>
                <a:spcPts val="0"/>
              </a:spcAft>
            </a:pPr>
            <a:r>
              <a:rPr sz="1900" b="1">
                <a:solidFill>
                  <a:srgbClr val="161B26"/>
                </a:solidFill>
                <a:latin typeface="Arial"/>
              </a:rPr>
              <a:t>Dr Alfred Ang</a:t>
            </a:r>
          </a:p>
        </p:txBody>
      </p:sp>
      <p:sp>
        <p:nvSpPr>
          <p:cNvPr id="11" name="TextBox 10"/>
          <p:cNvSpPr txBox="1"/>
          <p:nvPr/>
        </p:nvSpPr>
        <p:spPr>
          <a:xfrm>
            <a:off x="914400" y="4224528"/>
            <a:ext cx="2651760" cy="548640"/>
          </a:xfrm>
          <a:prstGeom prst="rect">
            <a:avLst/>
          </a:prstGeom>
          <a:noFill/>
        </p:spPr>
        <p:txBody>
          <a:bodyPr wrap="square" anchor="t" lIns="45720" rIns="45720" tIns="27432" bIns="27432">
            <a:spAutoFit/>
          </a:bodyPr>
          <a:lstStyle/>
          <a:p>
            <a:pPr algn="ctr">
              <a:spcAft>
                <a:spcPts val="0"/>
              </a:spcAft>
            </a:pPr>
            <a:r>
              <a:rPr sz="1200" b="0">
                <a:solidFill>
                  <a:srgbClr val="5B6372"/>
                </a:solidFill>
                <a:latin typeface="Arial"/>
              </a:rPr>
              <a:t>Principal Trainer · Tertiary Infotech Academy</a:t>
            </a:r>
          </a:p>
        </p:txBody>
      </p:sp>
      <p:sp>
        <p:nvSpPr>
          <p:cNvPr id="12" name="Rounded Rectangle 11"/>
          <p:cNvSpPr/>
          <p:nvPr/>
        </p:nvSpPr>
        <p:spPr>
          <a:xfrm>
            <a:off x="4160520" y="1755648"/>
            <a:ext cx="7333488" cy="85953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60520" y="1755648"/>
            <a:ext cx="73152" cy="8595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07408" y="1865376"/>
            <a:ext cx="1828800" cy="22860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ROLE</a:t>
            </a:r>
          </a:p>
        </p:txBody>
      </p:sp>
      <p:sp>
        <p:nvSpPr>
          <p:cNvPr id="15" name="TextBox 14"/>
          <p:cNvSpPr txBox="1"/>
          <p:nvPr/>
        </p:nvSpPr>
        <p:spPr>
          <a:xfrm>
            <a:off x="6172200" y="1865376"/>
            <a:ext cx="5029200" cy="475488"/>
          </a:xfrm>
          <a:prstGeom prst="rect">
            <a:avLst/>
          </a:prstGeom>
          <a:noFill/>
        </p:spPr>
        <p:txBody>
          <a:bodyPr wrap="square" anchor="t" lIns="45720" rIns="45720" tIns="27432" bIns="27432">
            <a:spAutoFit/>
          </a:bodyPr>
          <a:lstStyle/>
          <a:p>
            <a:pPr algn="l">
              <a:spcAft>
                <a:spcPts val="0"/>
              </a:spcAft>
            </a:pPr>
            <a:r>
              <a:rPr sz="1300" b="0">
                <a:solidFill>
                  <a:srgbClr val="161B26"/>
                </a:solidFill>
                <a:latin typeface="Arial"/>
              </a:rPr>
              <a:t>Principal trainer and course developer</a:t>
            </a:r>
          </a:p>
        </p:txBody>
      </p:sp>
      <p:sp>
        <p:nvSpPr>
          <p:cNvPr id="16" name="Rounded Rectangle 15"/>
          <p:cNvSpPr/>
          <p:nvPr/>
        </p:nvSpPr>
        <p:spPr>
          <a:xfrm>
            <a:off x="4160520" y="2788920"/>
            <a:ext cx="7333488" cy="85953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60520" y="2788920"/>
            <a:ext cx="73152" cy="8595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07408" y="2898648"/>
            <a:ext cx="182880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DOMAIN</a:t>
            </a:r>
          </a:p>
        </p:txBody>
      </p:sp>
      <p:sp>
        <p:nvSpPr>
          <p:cNvPr id="19" name="TextBox 18"/>
          <p:cNvSpPr txBox="1"/>
          <p:nvPr/>
        </p:nvSpPr>
        <p:spPr>
          <a:xfrm>
            <a:off x="6172200" y="2898648"/>
            <a:ext cx="5029200" cy="475488"/>
          </a:xfrm>
          <a:prstGeom prst="rect">
            <a:avLst/>
          </a:prstGeom>
          <a:noFill/>
        </p:spPr>
        <p:txBody>
          <a:bodyPr wrap="square" anchor="t" lIns="45720" rIns="45720" tIns="27432" bIns="27432">
            <a:spAutoFit/>
          </a:bodyPr>
          <a:lstStyle/>
          <a:p>
            <a:pPr algn="l">
              <a:spcAft>
                <a:spcPts val="0"/>
              </a:spcAft>
            </a:pPr>
            <a:r>
              <a:rPr sz="1300" b="0">
                <a:solidFill>
                  <a:srgbClr val="161B26"/>
                </a:solidFill>
                <a:latin typeface="Arial"/>
              </a:rPr>
              <a:t>Cloud, AI, automation and software engineering</a:t>
            </a:r>
          </a:p>
        </p:txBody>
      </p:sp>
      <p:sp>
        <p:nvSpPr>
          <p:cNvPr id="20" name="Rounded Rectangle 19"/>
          <p:cNvSpPr/>
          <p:nvPr/>
        </p:nvSpPr>
        <p:spPr>
          <a:xfrm>
            <a:off x="4160520" y="3822191"/>
            <a:ext cx="7333488" cy="85953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60520" y="3822191"/>
            <a:ext cx="73152" cy="8595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07408" y="3931920"/>
            <a:ext cx="1828800" cy="22860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DELIVERY</a:t>
            </a:r>
          </a:p>
        </p:txBody>
      </p:sp>
      <p:sp>
        <p:nvSpPr>
          <p:cNvPr id="23" name="TextBox 22"/>
          <p:cNvSpPr txBox="1"/>
          <p:nvPr/>
        </p:nvSpPr>
        <p:spPr>
          <a:xfrm>
            <a:off x="6172200" y="3931920"/>
            <a:ext cx="5029200" cy="475488"/>
          </a:xfrm>
          <a:prstGeom prst="rect">
            <a:avLst/>
          </a:prstGeom>
          <a:noFill/>
        </p:spPr>
        <p:txBody>
          <a:bodyPr wrap="square" anchor="t" lIns="45720" rIns="45720" tIns="27432" bIns="27432">
            <a:spAutoFit/>
          </a:bodyPr>
          <a:lstStyle/>
          <a:p>
            <a:pPr algn="l">
              <a:spcAft>
                <a:spcPts val="0"/>
              </a:spcAft>
            </a:pPr>
            <a:r>
              <a:rPr sz="1300" b="0">
                <a:solidFill>
                  <a:srgbClr val="161B26"/>
                </a:solidFill>
                <a:latin typeface="Arial"/>
              </a:rPr>
              <a:t>Applied WSQ technical training</a:t>
            </a:r>
          </a:p>
        </p:txBody>
      </p:sp>
      <p:sp>
        <p:nvSpPr>
          <p:cNvPr id="24" name="Rounded Rectangle 23"/>
          <p:cNvSpPr/>
          <p:nvPr/>
        </p:nvSpPr>
        <p:spPr>
          <a:xfrm>
            <a:off x="4160520" y="4855464"/>
            <a:ext cx="7333488" cy="85953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60520" y="4855464"/>
            <a:ext cx="73152" cy="8595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07408" y="4965192"/>
            <a:ext cx="1828800" cy="22860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CONTACT</a:t>
            </a:r>
          </a:p>
        </p:txBody>
      </p:sp>
      <p:sp>
        <p:nvSpPr>
          <p:cNvPr id="27" name="TextBox 26"/>
          <p:cNvSpPr txBox="1"/>
          <p:nvPr/>
        </p:nvSpPr>
        <p:spPr>
          <a:xfrm>
            <a:off x="6172200" y="4965192"/>
            <a:ext cx="5029200" cy="475488"/>
          </a:xfrm>
          <a:prstGeom prst="rect">
            <a:avLst/>
          </a:prstGeom>
          <a:noFill/>
        </p:spPr>
        <p:txBody>
          <a:bodyPr wrap="square" anchor="t" lIns="45720" rIns="45720" tIns="27432" bIns="27432">
            <a:spAutoFit/>
          </a:bodyPr>
          <a:lstStyle/>
          <a:p>
            <a:pPr algn="l">
              <a:spcAft>
                <a:spcPts val="0"/>
              </a:spcAft>
            </a:pPr>
            <a:r>
              <a:rPr sz="1300" b="0">
                <a:solidFill>
                  <a:srgbClr val="161B26"/>
                </a:solidFill>
                <a:latin typeface="Arial"/>
              </a:rPr>
              <a:t>enquiry@tertiaryinfotech.com</a:t>
            </a:r>
          </a:p>
        </p:txBody>
      </p:sp>
      <p:sp>
        <p:nvSpPr>
          <p:cNvPr id="28" name="TextBox 27"/>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9" name="TextBox 28"/>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0" name="TextBox 29"/>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4</a:t>
            </a:r>
          </a:p>
        </p:txBody>
      </p:sp>
    </p:spTree>
  </p:cSld>
  <p:clrMapOvr>
    <a:masterClrMapping/>
  </p:clrMapOvr>
  <p:transition spd="fast">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005 · ADMIN</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Ground Rules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Participate actively and ask technical questions.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Keep devices silent except during guided lab work.</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Use only trainer-approved Azure subscriptions and data.</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Complete attendance, evidence and assessment independently.</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5</a:t>
            </a:r>
          </a:p>
        </p:txBody>
      </p:sp>
    </p:spTree>
  </p:cSld>
  <p:clrMapOvr>
    <a:masterClrMapping/>
  </p:clrMapOvr>
  <p:transition spd="fast">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006 · ADMIN</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Lesson Plan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Day 1 AM: administration, outcomes and AI workload foundations.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Day 1 AM: Responsible AI, Foundry and machine learning concepts.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Day 1 PM: regression, classification, clustering and metrics.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Day 1 close: preserve evidence and stop billable compute.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6</a:t>
            </a:r>
          </a:p>
        </p:txBody>
      </p:sp>
    </p:spTree>
  </p:cSld>
  <p:clrMapOvr>
    <a:masterClrMapping/>
  </p:clrMapOvr>
  <p:transition spd="fast">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007 · ADMIN</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Lesson Plan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Day 2 AM: computer vision, OCR and Document Intelligence.</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Day 2 AM: language, speech, translation and conversational AI.</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Day 2 PM: anomaly evidence, safety and Azure AI Search.</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Day 2 close: feedback, digital attendance and final assessment.</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7</a:t>
            </a:r>
          </a:p>
        </p:txBody>
      </p:sp>
    </p:spTree>
  </p:cSld>
  <p:clrMapOvr>
    <a:masterClrMapping/>
  </p:clrMapOvr>
  <p:transition spd="fast">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008 · ADMIN</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Skills Framework and TSC</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TSC: Artificial Intelligence Application in Product Development.</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TSC code: ICT-TEM-3034-1.1.</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Context: implement and review AI applications with service providers.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Evidence spans deployment, issue reporting and data quality.</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8</a:t>
            </a:r>
          </a:p>
        </p:txBody>
      </p:sp>
    </p:spTree>
  </p:cSld>
  <p:clrMapOvr>
    <a:masterClrMapping/>
  </p:clrMapOvr>
  <p:transition spd="fast">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009 · ADMIN</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TSC Abilities and Knowledge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A1-A2: implement applications and deploy planned workflows.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A3: identify and report application or collected-data issues.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A4-A5: maintain interoperability and perform data cleaning.</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K1-K11 cover AI, ML, data, implementation and clean datasets.</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9</a:t>
            </a:r>
          </a:p>
        </p:txBody>
      </p:sp>
    </p:spTree>
  </p:cSld>
  <p:clrMapOvr>
    <a:masterClrMapping/>
  </p:clrMapOvr>
  <p:transition spd="fast">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010 · ADMIN</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Learning Outcomes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LO1: implement AI applications with Microsoft Azure services.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LO2: deploy computer vision and language workflows.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LO3: identify and report anomaly, safety and data issues.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LO4: maintain interoperability and clean data for knowledge mining.</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10</a:t>
            </a:r>
          </a:p>
        </p:txBody>
      </p:sp>
    </p:spTree>
  </p:cSld>
  <p:clrMapOvr>
    <a:masterClrMapping/>
  </p:clrMapOvr>
  <p:transition spd="fast">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011 · ADMIN</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Course Outline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Topic 1: AI workloads, Responsible AI and Microsoft Foundry.</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Topic 2: ML fundamentals, metrics, designer and AutoML.</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Labs 1-3 produce workload, metric and lifecycle evidence.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Knowledge: K1-K4, K6-K7 · Abilities: A1-A2.</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11</a:t>
            </a:r>
          </a:p>
        </p:txBody>
      </p:sp>
    </p:spTree>
  </p:cSld>
  <p:clrMapOvr>
    <a:masterClrMapping/>
  </p:clrMapOvr>
  <p:transition spd="fast">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012 · ADMIN</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Course Outline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Topic 3: computer vision, image analysis and OCR.</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Topic 4: language, speech, translation and conversational AI.</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Topics 5-6: anomaly evidence, governance and knowledge mining.</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Knowledge: K5, K8-K11 · Abilities: A3-A5.</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12</a:t>
            </a:r>
          </a:p>
        </p:txBody>
      </p:sp>
    </p:spTree>
  </p:cSld>
  <p:clrMapOvr>
    <a:masterClrMapping/>
  </p:clrMapOvr>
  <p:transition spd="fast">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013 · ADMIN</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Course Outline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Final blueprint: AI workloads, ML, vision, language and generative AI.</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AI-900 certification exam retired on 30 June 2026.</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The registered WSQ title and learning outcomes remain unchanged.</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Current labs use Microsoft Foundry and supported Azure AI capabilities.</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13</a:t>
            </a:r>
          </a:p>
        </p:txBody>
      </p:sp>
    </p:spTree>
  </p:cSld>
  <p:clrMapOvr>
    <a:masterClrMapping/>
  </p:clrMapOvr>
  <p:transition spd="fast">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014 · ADMIN</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Prerequisite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Use a Microsoft account approved for the class.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Use only the trainer-approved Azure subscription and region.</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Bring a modern browser; Python 3 supports local validation.</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Never place keys, personal data or confidential content in evidence.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14</a:t>
            </a:r>
          </a:p>
        </p:txBody>
      </p:sp>
    </p:spTree>
  </p:cSld>
  <p:clrMapOvr>
    <a:masterClrMapping/>
  </p:clrMapOvr>
  <p:transition spd="fast">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015 · ADMIN</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Final Assessment</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WA-SAQ: 11 open-ended questions in 60 minutes.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PP: four practical tasks in 90 minutes.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Open-book materials are limited to trainer-approved courseware.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Appeals follow the documented assessment and reassessment process.</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15</a:t>
            </a:r>
          </a:p>
        </p:txBody>
      </p:sp>
    </p:spTree>
  </p:cSld>
  <p:clrMapOvr>
    <a:masterClrMapping/>
  </p:clrMapOvr>
  <p:transition spd="fast">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016 · ADMIN</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Briefing for Assessment</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Place unapproved materials and phones away before assessment.</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Do not photograph, record or discuss assessment scripts.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Use the required pen or approved digital submission method.</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Submit every script and evidence artifact when time is called.</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16</a:t>
            </a:r>
          </a:p>
        </p:txBody>
      </p:sp>
    </p:spTree>
  </p:cSld>
  <p:clrMapOvr>
    <a:masterClrMapping/>
  </p:clrMapOvr>
  <p:transition spd="fast">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017 · ADMIN</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Criteria for Funding</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Meet the attendance requirement for the funded course run.</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Complete the course feedback and TRAQOM survey.</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Attempt every registered assessment component.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Keep confirmation evidence until the course administrator verifies it.</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17</a:t>
            </a:r>
          </a:p>
        </p:txBody>
      </p:sp>
    </p:spTree>
  </p:cSld>
  <p:clrMapOvr>
    <a:masterClrMapping/>
  </p:clrMapOvr>
  <p:transition spd="fast">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LMS / TMS · VISUAL ACCESS PATH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Download Course Material</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874519"/>
            <a:ext cx="3246120" cy="2926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59536" y="2130552"/>
            <a:ext cx="530352" cy="53035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249424"/>
            <a:ext cx="530352" cy="228600"/>
          </a:xfrm>
          <a:prstGeom prst="rect">
            <a:avLst/>
          </a:prstGeom>
          <a:noFill/>
        </p:spPr>
        <p:txBody>
          <a:bodyPr wrap="square" anchor="t" lIns="45720" rIns="45720" tIns="27432" bIns="27432">
            <a:spAutoFit/>
          </a:bodyPr>
          <a:lstStyle/>
          <a:p>
            <a:pPr algn="ctr">
              <a:spcAft>
                <a:spcPts val="0"/>
              </a:spcAft>
            </a:pPr>
            <a:r>
              <a:rPr sz="1600" b="1">
                <a:solidFill>
                  <a:srgbClr val="FFFFFF"/>
                </a:solidFill>
                <a:latin typeface="Arial"/>
              </a:rPr>
              <a:t>1</a:t>
            </a:r>
          </a:p>
        </p:txBody>
      </p:sp>
      <p:sp>
        <p:nvSpPr>
          <p:cNvPr id="10" name="TextBox 9"/>
          <p:cNvSpPr txBox="1"/>
          <p:nvPr/>
        </p:nvSpPr>
        <p:spPr>
          <a:xfrm>
            <a:off x="1554480" y="2103120"/>
            <a:ext cx="2057400" cy="320040"/>
          </a:xfrm>
          <a:prstGeom prst="rect">
            <a:avLst/>
          </a:prstGeom>
          <a:noFill/>
        </p:spPr>
        <p:txBody>
          <a:bodyPr wrap="square" anchor="t" lIns="45720" rIns="45720" tIns="27432" bIns="27432">
            <a:spAutoFit/>
          </a:bodyPr>
          <a:lstStyle/>
          <a:p>
            <a:pPr algn="l">
              <a:spcAft>
                <a:spcPts val="0"/>
              </a:spcAft>
            </a:pPr>
            <a:r>
              <a:rPr sz="1700" b="1">
                <a:solidFill>
                  <a:srgbClr val="161B26"/>
                </a:solidFill>
                <a:latin typeface="Arial"/>
              </a:rPr>
              <a:t>Sign in</a:t>
            </a:r>
          </a:p>
        </p:txBody>
      </p:sp>
      <p:sp>
        <p:nvSpPr>
          <p:cNvPr id="11" name="TextBox 10"/>
          <p:cNvSpPr txBox="1"/>
          <p:nvPr/>
        </p:nvSpPr>
        <p:spPr>
          <a:xfrm>
            <a:off x="978407" y="2962656"/>
            <a:ext cx="2606040" cy="1097280"/>
          </a:xfrm>
          <a:prstGeom prst="rect">
            <a:avLst/>
          </a:prstGeom>
          <a:noFill/>
        </p:spPr>
        <p:txBody>
          <a:bodyPr wrap="square" anchor="ctr" lIns="45720" rIns="45720" tIns="27432" bIns="27432">
            <a:spAutoFit/>
          </a:bodyPr>
          <a:lstStyle/>
          <a:p>
            <a:pPr algn="ctr">
              <a:spcAft>
                <a:spcPts val="0"/>
              </a:spcAft>
            </a:pPr>
            <a:r>
              <a:rPr sz="1400" b="0">
                <a:solidFill>
                  <a:srgbClr val="5B6372"/>
                </a:solidFill>
                <a:latin typeface="Arial"/>
              </a:rPr>
              <a:t>lms-tms.tertiaryinfotech.com</a:t>
            </a:r>
          </a:p>
        </p:txBody>
      </p:sp>
      <p:cxnSp>
        <p:nvCxnSpPr>
          <p:cNvPr id="12" name="Connector 11"/>
          <p:cNvCxnSpPr/>
          <p:nvPr/>
        </p:nvCxnSpPr>
        <p:spPr>
          <a:xfrm>
            <a:off x="3904487" y="3246120"/>
            <a:ext cx="365761" cy="0"/>
          </a:xfrm>
          <a:prstGeom prst="line">
            <a:avLst/>
          </a:prstGeom>
          <a:ln>
            <a:solidFill>
              <a:srgbClr val="10B98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15968" y="1874519"/>
            <a:ext cx="3246120" cy="2926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17136" y="2130552"/>
            <a:ext cx="530352" cy="53035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249424"/>
            <a:ext cx="530352" cy="228600"/>
          </a:xfrm>
          <a:prstGeom prst="rect">
            <a:avLst/>
          </a:prstGeom>
          <a:noFill/>
        </p:spPr>
        <p:txBody>
          <a:bodyPr wrap="square" anchor="t" lIns="45720" rIns="45720" tIns="27432" bIns="27432">
            <a:spAutoFit/>
          </a:bodyPr>
          <a:lstStyle/>
          <a:p>
            <a:pPr algn="ctr">
              <a:spcAft>
                <a:spcPts val="0"/>
              </a:spcAft>
            </a:pPr>
            <a:r>
              <a:rPr sz="1600" b="1">
                <a:solidFill>
                  <a:srgbClr val="FFFFFF"/>
                </a:solidFill>
                <a:latin typeface="Arial"/>
              </a:rPr>
              <a:t>2</a:t>
            </a:r>
          </a:p>
        </p:txBody>
      </p:sp>
      <p:sp>
        <p:nvSpPr>
          <p:cNvPr id="16" name="TextBox 15"/>
          <p:cNvSpPr txBox="1"/>
          <p:nvPr/>
        </p:nvSpPr>
        <p:spPr>
          <a:xfrm>
            <a:off x="5212079" y="2103120"/>
            <a:ext cx="2057400" cy="320040"/>
          </a:xfrm>
          <a:prstGeom prst="rect">
            <a:avLst/>
          </a:prstGeom>
          <a:noFill/>
        </p:spPr>
        <p:txBody>
          <a:bodyPr wrap="square" anchor="t" lIns="45720" rIns="45720" tIns="27432" bIns="27432">
            <a:spAutoFit/>
          </a:bodyPr>
          <a:lstStyle/>
          <a:p>
            <a:pPr algn="l">
              <a:spcAft>
                <a:spcPts val="0"/>
              </a:spcAft>
            </a:pPr>
            <a:r>
              <a:rPr sz="1700" b="1">
                <a:solidFill>
                  <a:srgbClr val="161B26"/>
                </a:solidFill>
                <a:latin typeface="Arial"/>
              </a:rPr>
              <a:t>Open course</a:t>
            </a:r>
          </a:p>
        </p:txBody>
      </p:sp>
      <p:sp>
        <p:nvSpPr>
          <p:cNvPr id="17" name="TextBox 16"/>
          <p:cNvSpPr txBox="1"/>
          <p:nvPr/>
        </p:nvSpPr>
        <p:spPr>
          <a:xfrm>
            <a:off x="4636007" y="2962656"/>
            <a:ext cx="2606040" cy="1097280"/>
          </a:xfrm>
          <a:prstGeom prst="rect">
            <a:avLst/>
          </a:prstGeom>
          <a:noFill/>
        </p:spPr>
        <p:txBody>
          <a:bodyPr wrap="square" anchor="ctr" lIns="45720" rIns="45720" tIns="27432" bIns="27432">
            <a:spAutoFit/>
          </a:bodyPr>
          <a:lstStyle/>
          <a:p>
            <a:pPr algn="ctr">
              <a:spcAft>
                <a:spcPts val="0"/>
              </a:spcAft>
            </a:pPr>
            <a:r>
              <a:rPr sz="1400" b="0">
                <a:solidFill>
                  <a:srgbClr val="5B6372"/>
                </a:solidFill>
                <a:latin typeface="Arial"/>
              </a:rPr>
              <a:t>Microsoft Azure AI Fundamentals</a:t>
            </a:r>
          </a:p>
        </p:txBody>
      </p:sp>
      <p:cxnSp>
        <p:nvCxnSpPr>
          <p:cNvPr id="18" name="Connector 17"/>
          <p:cNvCxnSpPr/>
          <p:nvPr/>
        </p:nvCxnSpPr>
        <p:spPr>
          <a:xfrm>
            <a:off x="7562088" y="3246120"/>
            <a:ext cx="365760" cy="0"/>
          </a:xfrm>
          <a:prstGeom prst="line">
            <a:avLst/>
          </a:prstGeom>
          <a:ln>
            <a:solidFill>
              <a:srgbClr val="10B981"/>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973568" y="1874519"/>
            <a:ext cx="3246120" cy="2926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74736" y="2130552"/>
            <a:ext cx="530352" cy="53035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249424"/>
            <a:ext cx="530352" cy="228600"/>
          </a:xfrm>
          <a:prstGeom prst="rect">
            <a:avLst/>
          </a:prstGeom>
          <a:noFill/>
        </p:spPr>
        <p:txBody>
          <a:bodyPr wrap="square" anchor="t" lIns="45720" rIns="45720" tIns="27432" bIns="27432">
            <a:spAutoFit/>
          </a:bodyPr>
          <a:lstStyle/>
          <a:p>
            <a:pPr algn="ctr">
              <a:spcAft>
                <a:spcPts val="0"/>
              </a:spcAft>
            </a:pPr>
            <a:r>
              <a:rPr sz="1600" b="1">
                <a:solidFill>
                  <a:srgbClr val="FFFFFF"/>
                </a:solidFill>
                <a:latin typeface="Arial"/>
              </a:rPr>
              <a:t>3</a:t>
            </a:r>
          </a:p>
        </p:txBody>
      </p:sp>
      <p:sp>
        <p:nvSpPr>
          <p:cNvPr id="22" name="TextBox 21"/>
          <p:cNvSpPr txBox="1"/>
          <p:nvPr/>
        </p:nvSpPr>
        <p:spPr>
          <a:xfrm>
            <a:off x="8869680" y="2103120"/>
            <a:ext cx="2057400" cy="320040"/>
          </a:xfrm>
          <a:prstGeom prst="rect">
            <a:avLst/>
          </a:prstGeom>
          <a:noFill/>
        </p:spPr>
        <p:txBody>
          <a:bodyPr wrap="square" anchor="t" lIns="45720" rIns="45720" tIns="27432" bIns="27432">
            <a:spAutoFit/>
          </a:bodyPr>
          <a:lstStyle/>
          <a:p>
            <a:pPr algn="l">
              <a:spcAft>
                <a:spcPts val="0"/>
              </a:spcAft>
            </a:pPr>
            <a:r>
              <a:rPr sz="1700" b="1">
                <a:solidFill>
                  <a:srgbClr val="161B26"/>
                </a:solidFill>
                <a:latin typeface="Arial"/>
              </a:rPr>
              <a:t>Download</a:t>
            </a:r>
          </a:p>
        </p:txBody>
      </p:sp>
      <p:sp>
        <p:nvSpPr>
          <p:cNvPr id="23" name="TextBox 22"/>
          <p:cNvSpPr txBox="1"/>
          <p:nvPr/>
        </p:nvSpPr>
        <p:spPr>
          <a:xfrm>
            <a:off x="8293608" y="2962656"/>
            <a:ext cx="2606040" cy="1097280"/>
          </a:xfrm>
          <a:prstGeom prst="rect">
            <a:avLst/>
          </a:prstGeom>
          <a:noFill/>
        </p:spPr>
        <p:txBody>
          <a:bodyPr wrap="square" anchor="ctr" lIns="45720" rIns="45720" tIns="27432" bIns="27432">
            <a:spAutoFit/>
          </a:bodyPr>
          <a:lstStyle/>
          <a:p>
            <a:pPr algn="ctr">
              <a:spcAft>
                <a:spcPts val="0"/>
              </a:spcAft>
            </a:pPr>
            <a:r>
              <a:rPr sz="1400" b="0">
                <a:solidFill>
                  <a:srgbClr val="5B6372"/>
                </a:solidFill>
                <a:latin typeface="Arial"/>
              </a:rPr>
              <a:t>Slides · Learner Guide · Labs</a:t>
            </a:r>
          </a:p>
        </p:txBody>
      </p:sp>
      <p:sp>
        <p:nvSpPr>
          <p:cNvPr id="24" name="Rounded Rectangle 23"/>
          <p:cNvSpPr/>
          <p:nvPr/>
        </p:nvSpPr>
        <p:spPr>
          <a:xfrm>
            <a:off x="658368" y="5166360"/>
            <a:ext cx="10835640" cy="603504"/>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5349240"/>
            <a:ext cx="10332720" cy="237744"/>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Verify course code TGS-2023021100 before downloading. Detailed access instructions are in the Learner Guide.</a:t>
            </a:r>
          </a:p>
        </p:txBody>
      </p:sp>
      <p:sp>
        <p:nvSpPr>
          <p:cNvPr id="26" name="TextBox 25"/>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7" name="TextBox 26"/>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8" name="TextBox 27"/>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18</a:t>
            </a:r>
          </a:p>
        </p:txBody>
      </p:sp>
    </p:spTree>
  </p:cSld>
  <p:clrMapOvr>
    <a:masterClrMapping/>
  </p:clrMapOvr>
  <p:transition spd="fast">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920240"/>
            <a:ext cx="8046720" cy="320040"/>
          </a:xfrm>
          <a:prstGeom prst="rect">
            <a:avLst/>
          </a:prstGeom>
          <a:noFill/>
        </p:spPr>
        <p:txBody>
          <a:bodyPr wrap="square" anchor="t" lIns="45720" rIns="45720" tIns="27432" bIns="27432">
            <a:spAutoFit/>
          </a:bodyPr>
          <a:lstStyle/>
          <a:p>
            <a:pPr algn="l">
              <a:spcAft>
                <a:spcPts val="0"/>
              </a:spcAft>
            </a:pPr>
            <a:r>
              <a:rPr sz="1300" b="1">
                <a:solidFill>
                  <a:srgbClr val="1F6FEB"/>
                </a:solidFill>
                <a:latin typeface="Arial"/>
              </a:rPr>
              <a:t>LEGACY COVERAGE · SLIDE 019</a:t>
            </a:r>
          </a:p>
        </p:txBody>
      </p:sp>
      <p:sp>
        <p:nvSpPr>
          <p:cNvPr id="5" name="TextBox 4"/>
          <p:cNvSpPr txBox="1"/>
          <p:nvPr/>
        </p:nvSpPr>
        <p:spPr>
          <a:xfrm>
            <a:off x="822960" y="2423160"/>
            <a:ext cx="9875520" cy="1234440"/>
          </a:xfrm>
          <a:prstGeom prst="rect">
            <a:avLst/>
          </a:prstGeom>
          <a:noFill/>
        </p:spPr>
        <p:txBody>
          <a:bodyPr wrap="square" anchor="t" lIns="45720" rIns="45720" tIns="27432" bIns="27432">
            <a:spAutoFit/>
          </a:bodyPr>
          <a:lstStyle/>
          <a:p>
            <a:pPr algn="l">
              <a:spcAft>
                <a:spcPts val="0"/>
              </a:spcAft>
            </a:pPr>
            <a:r>
              <a:rPr sz="3800" b="1">
                <a:solidFill>
                  <a:srgbClr val="161B26"/>
                </a:solidFill>
                <a:latin typeface="Arial"/>
              </a:rPr>
              <a:t>Topic 1 Get started with Artificial Intelligence</a:t>
            </a:r>
          </a:p>
        </p:txBody>
      </p:sp>
      <p:sp>
        <p:nvSpPr>
          <p:cNvPr id="6" name="Rectangle 5"/>
          <p:cNvSpPr/>
          <p:nvPr/>
        </p:nvSpPr>
        <p:spPr>
          <a:xfrm>
            <a:off x="822960" y="3913632"/>
            <a:ext cx="228600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731520"/>
            <a:ext cx="1645920" cy="1097280"/>
          </a:xfrm>
          <a:prstGeom prst="rect">
            <a:avLst/>
          </a:prstGeom>
          <a:noFill/>
        </p:spPr>
        <p:txBody>
          <a:bodyPr wrap="square" anchor="t" lIns="45720" rIns="45720" tIns="27432" bIns="27432">
            <a:spAutoFit/>
          </a:bodyPr>
          <a:lstStyle/>
          <a:p>
            <a:pPr algn="r">
              <a:spcAft>
                <a:spcPts val="0"/>
              </a:spcAft>
            </a:pPr>
            <a:r>
              <a:rPr sz="6400" b="1">
                <a:solidFill>
                  <a:srgbClr val="D7E0EA"/>
                </a:solidFill>
                <a:latin typeface="Arial"/>
              </a:rPr>
              <a:t>19</a:t>
            </a:r>
          </a:p>
        </p:txBody>
      </p:sp>
      <p:sp>
        <p:nvSpPr>
          <p:cNvPr id="8" name="TextBox 7"/>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9" name="TextBox 8"/>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10" name="TextBox 9"/>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19</a:t>
            </a:r>
          </a:p>
        </p:txBody>
      </p:sp>
    </p:spTree>
  </p:cSld>
  <p:clrMapOvr>
    <a:masterClrMapping/>
  </p:clrMapOvr>
  <p:transition spd="fast">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020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Final AI-900 Skills Domains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AI-900 Azure AI Fundamentals.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Final AI-900 Skills Domains.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20</a:t>
            </a:r>
          </a:p>
        </p:txBody>
      </p:sp>
    </p:spTree>
  </p:cSld>
  <p:clrMapOvr>
    <a:masterClrMapping/>
  </p:clrMapOvr>
  <p:transition spd="fast">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021 · FORMULA</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What is AI?</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Simply put, AI is the creation of software that imitates human behaviors and capabilities.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Anomaly detection - The capability to automatically detect errors or unusual activity in a system.</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Computer vision - The capability of software to interpret the world visually through cameras, video, and images.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Natural language processing - The capability for a computer to interpret written or spoken language, and respond in kind.</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21</a:t>
            </a:r>
          </a:p>
        </p:txBody>
      </p:sp>
    </p:spTree>
  </p:cSld>
  <p:clrMapOvr>
    <a:masterClrMapping/>
  </p:clrMapOvr>
  <p:transition spd="fast">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022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Azure Machine Learning Service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Machine Learning in Microsoft Azure.</a:t>
            </a:r>
          </a:p>
        </p:txBody>
      </p:sp>
      <p:cxnSp>
        <p:nvCxnSpPr>
          <p:cNvPr id="11" name="Connector 10"/>
          <p:cNvCxnSpPr/>
          <p:nvPr/>
        </p:nvCxnSpPr>
        <p:spPr>
          <a:xfrm>
            <a:off x="2871215" y="3310128"/>
            <a:ext cx="475489"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Azure Machine Learning Service.</a:t>
            </a:r>
          </a:p>
        </p:txBody>
      </p:sp>
      <p:cxnSp>
        <p:nvCxnSpPr>
          <p:cNvPr id="16" name="Connector 15"/>
          <p:cNvCxnSpPr/>
          <p:nvPr/>
        </p:nvCxnSpPr>
        <p:spPr>
          <a:xfrm>
            <a:off x="56144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Trace the processing component and its state change.</a:t>
            </a:r>
          </a:p>
        </p:txBody>
      </p:sp>
      <p:cxnSp>
        <p:nvCxnSpPr>
          <p:cNvPr id="21" name="Connector 20"/>
          <p:cNvCxnSpPr/>
          <p:nvPr/>
        </p:nvCxnSpPr>
        <p:spPr>
          <a:xfrm>
            <a:off x="83576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Capture a named output, metric or observable artifact.</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22</a:t>
            </a:r>
          </a:p>
        </p:txBody>
      </p:sp>
    </p:spTree>
  </p:cSld>
  <p:clrMapOvr>
    <a:masterClrMapping/>
  </p:clrMapOvr>
  <p:transition spd="fast">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023 · FORMULA</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Time-Series Anomaly Detection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Anomaly Detection.</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Expected value and margins define an evidence boundary.</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Sensitivity changes how tightly the boundary follows history.</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 flagged point is a review signal, not a root-cause diagnosis.</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23</a:t>
            </a:r>
          </a:p>
        </p:txBody>
      </p:sp>
    </p:spTree>
  </p:cSld>
  <p:clrMapOvr>
    <a:masterClrMapping/>
  </p:clrMapOvr>
  <p:transition spd="fast">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024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Computer Vision Workloads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Computer Vision.</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Computer Vision Workloads.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24</a:t>
            </a:r>
          </a:p>
        </p:txBody>
      </p:sp>
    </p:spTree>
  </p:cSld>
  <p:clrMapOvr>
    <a:masterClrMapping/>
  </p:clrMapOvr>
  <p:transition spd="fast">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025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Image Classification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Features map to one of two or more categorical labels.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The model emits class scores or probabilities.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 threshold converts scores into predicted labels.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Validate with a confusion matrix and class-specific metrics.</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25</a:t>
            </a:r>
          </a:p>
        </p:txBody>
      </p:sp>
    </p:spTree>
  </p:cSld>
  <p:clrMapOvr>
    <a:masterClrMapping/>
  </p:clrMapOvr>
  <p:transition spd="fast">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026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Object Detection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The model returns a label, confidence and bounding box per object.</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Multiple objects can appear in one image.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Validate both classification and localization quality.</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Route low-confidence or sensitive detections for review.</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26</a:t>
            </a:r>
          </a:p>
        </p:txBody>
      </p:sp>
    </p:spTree>
  </p:cSld>
  <p:clrMapOvr>
    <a:masterClrMapping/>
  </p:clrMapOvr>
  <p:transition spd="fast">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027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Semantic Segmentation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Every pixel receives a class label.</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The output mask preserves object shape and boundaries.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Validate class overlap, missed regions and edge quality.</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Use when pixel-level area matters more than a box.</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27</a:t>
            </a:r>
          </a:p>
        </p:txBody>
      </p:sp>
    </p:spTree>
  </p:cSld>
  <p:clrMapOvr>
    <a:masterClrMapping/>
  </p:clrMapOvr>
  <p:transition spd="fast">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028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Composite Vision Solutions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Image Analysis.</a:t>
            </a:r>
          </a:p>
        </p:txBody>
      </p:sp>
      <p:cxnSp>
        <p:nvCxnSpPr>
          <p:cNvPr id="11" name="Connector 10"/>
          <p:cNvCxnSpPr/>
          <p:nvPr/>
        </p:nvCxnSpPr>
        <p:spPr>
          <a:xfrm>
            <a:off x="2871215" y="3310128"/>
            <a:ext cx="475489"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Composite Vision Solutions.</a:t>
            </a:r>
          </a:p>
        </p:txBody>
      </p:sp>
      <p:cxnSp>
        <p:nvCxnSpPr>
          <p:cNvPr id="16" name="Connector 15"/>
          <p:cNvCxnSpPr/>
          <p:nvPr/>
        </p:nvCxnSpPr>
        <p:spPr>
          <a:xfrm>
            <a:off x="56144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Trace the processing component and its state change.</a:t>
            </a:r>
          </a:p>
        </p:txBody>
      </p:sp>
      <p:cxnSp>
        <p:nvCxnSpPr>
          <p:cNvPr id="21" name="Connector 20"/>
          <p:cNvCxnSpPr/>
          <p:nvPr/>
        </p:nvCxnSpPr>
        <p:spPr>
          <a:xfrm>
            <a:off x="83576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Capture a named output, metric or observable artifact.</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28</a:t>
            </a:r>
          </a:p>
        </p:txBody>
      </p:sp>
    </p:spTree>
  </p:cSld>
  <p:clrMapOvr>
    <a:masterClrMapping/>
  </p:clrMapOvr>
  <p:transition spd="fast">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029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Face Detection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Detection returns a face region; identification asserts identity.</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Consent, purpose and legal authority must be explicit.</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Do not infer sensitive traits from facial appearance.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Use human review for high-impact decisions.</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29</a:t>
            </a:r>
          </a:p>
        </p:txBody>
      </p:sp>
    </p:spTree>
  </p:cSld>
  <p:clrMapOvr>
    <a:masterClrMapping/>
  </p:clrMapOvr>
  <p:transition spd="fast">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030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Optical Character Recognition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OCR.</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Optical Character Recognition.</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30</a:t>
            </a:r>
          </a:p>
        </p:txBody>
      </p:sp>
    </p:spTree>
  </p:cSld>
  <p:clrMapOvr>
    <a:masterClrMapping/>
  </p:clrMapOvr>
  <p:transition spd="fast">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031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Natural Language Processing</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Interpret spoken language, and synthesize speech responses.</a:t>
            </a:r>
          </a:p>
        </p:txBody>
      </p:sp>
      <p:cxnSp>
        <p:nvCxnSpPr>
          <p:cNvPr id="11" name="Connector 10"/>
          <p:cNvCxnSpPr/>
          <p:nvPr/>
        </p:nvCxnSpPr>
        <p:spPr>
          <a:xfrm>
            <a:off x="2871215" y="3310128"/>
            <a:ext cx="475489"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Automatically translate spoken or written phrases between languages.</a:t>
            </a:r>
          </a:p>
        </p:txBody>
      </p:sp>
      <p:cxnSp>
        <p:nvCxnSpPr>
          <p:cNvPr id="16" name="Connector 15"/>
          <p:cNvCxnSpPr/>
          <p:nvPr/>
        </p:nvCxnSpPr>
        <p:spPr>
          <a:xfrm>
            <a:off x="56144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Interpret commands and determine appropriate actions.</a:t>
            </a:r>
          </a:p>
        </p:txBody>
      </p:sp>
      <p:cxnSp>
        <p:nvCxnSpPr>
          <p:cNvPr id="21" name="Connector 20"/>
          <p:cNvCxnSpPr/>
          <p:nvPr/>
        </p:nvCxnSpPr>
        <p:spPr>
          <a:xfrm>
            <a:off x="83576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ROC plots true-positive rate against false-positive rate.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31</a:t>
            </a:r>
          </a:p>
        </p:txBody>
      </p:sp>
    </p:spTree>
  </p:cSld>
  <p:clrMapOvr>
    <a:masterClrMapping/>
  </p:clrMapOvr>
  <p:transition spd="fast">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032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Natural Language Processing in Microsoft Azure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ROC plots true-positive rate against false-positive rate.</a:t>
            </a:r>
          </a:p>
        </p:txBody>
      </p:sp>
      <p:cxnSp>
        <p:nvCxnSpPr>
          <p:cNvPr id="11" name="Connector 10"/>
          <p:cNvCxnSpPr/>
          <p:nvPr/>
        </p:nvCxnSpPr>
        <p:spPr>
          <a:xfrm>
            <a:off x="2871215" y="3310128"/>
            <a:ext cx="475489"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Each point represents a different classification threshold.</a:t>
            </a:r>
          </a:p>
        </p:txBody>
      </p:sp>
      <p:cxnSp>
        <p:nvCxnSpPr>
          <p:cNvPr id="16" name="Connector 15"/>
          <p:cNvCxnSpPr/>
          <p:nvPr/>
        </p:nvCxnSpPr>
        <p:spPr>
          <a:xfrm>
            <a:off x="56144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curve near the upper-left indicates stronger separation.</a:t>
            </a:r>
          </a:p>
        </p:txBody>
      </p:sp>
      <p:cxnSp>
        <p:nvCxnSpPr>
          <p:cNvPr id="21" name="Connector 20"/>
          <p:cNvCxnSpPr/>
          <p:nvPr/>
        </p:nvCxnSpPr>
        <p:spPr>
          <a:xfrm>
            <a:off x="83576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Choose an operating point; AUC alone does not set the threshold.</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32</a:t>
            </a:r>
          </a:p>
        </p:txBody>
      </p:sp>
    </p:spTree>
  </p:cSld>
  <p:clrMapOvr>
    <a:masterClrMapping/>
  </p:clrMapOvr>
  <p:transition spd="fast">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033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Microsoft AI Principles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Fairness checks outcomes across relevant groups.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Reliability requires edge-case tests and safe failure.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Privacy limits data use; transparency explains boundaries.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Accountable owners approve, monitor and remediate.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33</a:t>
            </a:r>
          </a:p>
        </p:txBody>
      </p:sp>
    </p:spTree>
  </p:cSld>
  <p:clrMapOvr>
    <a:masterClrMapping/>
  </p:clrMapOvr>
  <p:transition spd="fast">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034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Microsoft AI Principles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Fairness: Al systems shouldn't make decisions that discriminate against or support bias of a group or individual.</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Reliability and Safety: Al systems should respond safely to new situations and potential manipulation.</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Privacy and Security: Al systems should be secure and respect data privacy.</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Inclusiveness: Al systems should empower everyone and engage people.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34</a:t>
            </a:r>
          </a:p>
        </p:txBody>
      </p:sp>
    </p:spTree>
  </p:cSld>
  <p:clrMapOvr>
    <a:masterClrMapping/>
  </p:clrMapOvr>
  <p:transition spd="fast">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035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Fairness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Evaluate comparable groups using the same quality criteria.</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Check labels and sampling for representation gaps.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Compare error rates across relevant learner-approved segments.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Document mitigation, residual risk and an accountable owner.</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35</a:t>
            </a:r>
          </a:p>
        </p:txBody>
      </p:sp>
    </p:spTree>
  </p:cSld>
  <p:clrMapOvr>
    <a:masterClrMapping/>
  </p:clrMapOvr>
  <p:transition spd="fast">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036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Reliability and Safety</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Test expected, edge and deliberately adverse inputs.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Set confidence and failure thresholds before deployment.</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Use monitoring, rollback and human escalation for unsafe states.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Record incident evidence without exposing protected data.</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36</a:t>
            </a:r>
          </a:p>
        </p:txBody>
      </p:sp>
    </p:spTree>
  </p:cSld>
  <p:clrMapOvr>
    <a:masterClrMapping/>
  </p:clrMapOvr>
  <p:transition spd="fast">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037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Privacy and Security</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Collect only data required for the declared purpose.</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Protect keys and endpoints with identity-based access and RBAC.</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Redact personal data from prompts, logs and screenshots.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Define retention, deletion and access-review controls.</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37</a:t>
            </a:r>
          </a:p>
        </p:txBody>
      </p:sp>
    </p:spTree>
  </p:cSld>
  <p:clrMapOvr>
    <a:masterClrMapping/>
  </p:clrMapOvr>
  <p:transition spd="fast">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038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Inclusiveness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Test accessibility, language and interaction assumptions.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Provide alternatives when speech, vision or text interfaces fail.</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Include affected users in evaluation and feedback.</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Record who may be excluded and how the design responds.</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38</a:t>
            </a:r>
          </a:p>
        </p:txBody>
      </p:sp>
    </p:spTree>
  </p:cSld>
  <p:clrMapOvr>
    <a:masterClrMapping/>
  </p:clrMapOvr>
  <p:transition spd="fast">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039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Transparency and Accountability</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State model limits, provenance and confidence clearly.</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Keep decision logs, owners and approval evidence.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Explain when automation defers to a human reviewer.</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Reassess controls after model, prompt or data changes.</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39</a:t>
            </a:r>
          </a:p>
        </p:txBody>
      </p:sp>
    </p:spTree>
  </p:cSld>
  <p:clrMapOvr>
    <a:masterClrMapping/>
  </p:clrMapOvr>
  <p:transition spd="fast">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040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Conversational AI</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Conversational AI is the term used to describe solutions where AI agents participate in conversations with humans.</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Most commonly, conversational AI solutions use bots to manage dialogs with users.</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These dialogs can take place through web site interfaces, email, social media platforms, messaging systems, phone calls, and other channels.</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Bots can be the basis of AI solutions for: Customer support for products or services.</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40</a:t>
            </a:r>
          </a:p>
        </p:txBody>
      </p:sp>
    </p:spTree>
  </p:cSld>
  <p:clrMapOvr>
    <a:masterClrMapping/>
  </p:clrMapOvr>
  <p:transition spd="fast">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041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Azure Conversational AI Services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Conversational AI in Microsoft Azure.</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An utterance is mapped to an intent and extracted entities.</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Confidence and competing intents determine the route.</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Fallback handles unsupported or ambiguous requests.</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41</a:t>
            </a:r>
          </a:p>
        </p:txBody>
      </p:sp>
    </p:spTree>
  </p:cSld>
  <p:clrMapOvr>
    <a:masterClrMapping/>
  </p:clrMapOvr>
  <p:transition spd="fast">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TOPIC 1 · HANDS-ON BRIDGE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400" b="1">
                <a:solidFill>
                  <a:srgbClr val="161B26"/>
                </a:solidFill>
                <a:latin typeface="Arial"/>
              </a:rPr>
              <a:t>Lab 01 · AI Workloads, Responsible AI, and Microsoft Foundry</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64208"/>
            <a:ext cx="150876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764792"/>
            <a:ext cx="1508760" cy="219456"/>
          </a:xfrm>
          <a:prstGeom prst="rect">
            <a:avLst/>
          </a:prstGeom>
          <a:noFill/>
        </p:spPr>
        <p:txBody>
          <a:bodyPr wrap="square" anchor="t" lIns="45720" rIns="45720" tIns="27432" bIns="27432">
            <a:spAutoFit/>
          </a:bodyPr>
          <a:lstStyle/>
          <a:p>
            <a:pPr algn="ctr">
              <a:spcAft>
                <a:spcPts val="0"/>
              </a:spcAft>
            </a:pPr>
            <a:r>
              <a:rPr sz="1300" b="1">
                <a:solidFill>
                  <a:srgbClr val="FFFFFF"/>
                </a:solidFill>
                <a:latin typeface="Arial"/>
              </a:rPr>
              <a:t>55 MIN</a:t>
            </a:r>
          </a:p>
        </p:txBody>
      </p:sp>
      <p:sp>
        <p:nvSpPr>
          <p:cNvPr id="9" name="TextBox 8"/>
          <p:cNvSpPr txBox="1"/>
          <p:nvPr/>
        </p:nvSpPr>
        <p:spPr>
          <a:xfrm>
            <a:off x="658368" y="2331720"/>
            <a:ext cx="10698480" cy="658368"/>
          </a:xfrm>
          <a:prstGeom prst="rect">
            <a:avLst/>
          </a:prstGeom>
          <a:noFill/>
        </p:spPr>
        <p:txBody>
          <a:bodyPr wrap="square" anchor="t" lIns="45720" rIns="45720" tIns="27432" bIns="27432">
            <a:spAutoFit/>
          </a:bodyPr>
          <a:lstStyle/>
          <a:p>
            <a:pPr algn="l">
              <a:spcAft>
                <a:spcPts val="0"/>
              </a:spcAft>
            </a:pPr>
            <a:r>
              <a:rPr sz="1800" b="1">
                <a:solidFill>
                  <a:srgbClr val="161B26"/>
                </a:solidFill>
                <a:latin typeface="Arial"/>
              </a:rPr>
              <a:t>Contoso Retail needs a defensible service map before its implementation partner provisions any resource.</a:t>
            </a:r>
          </a:p>
        </p:txBody>
      </p:sp>
      <p:sp>
        <p:nvSpPr>
          <p:cNvPr id="10" name="Rounded Rectangle 9"/>
          <p:cNvSpPr/>
          <p:nvPr/>
        </p:nvSpPr>
        <p:spPr>
          <a:xfrm>
            <a:off x="6583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3246120"/>
            <a:ext cx="73152" cy="1783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1F6FEB"/>
                </a:solidFill>
                <a:latin typeface="Arial"/>
              </a:rPr>
              <a:t>SCENARIO</a:t>
            </a:r>
          </a:p>
        </p:txBody>
      </p:sp>
      <p:sp>
        <p:nvSpPr>
          <p:cNvPr id="13" name="TextBox 12"/>
          <p:cNvSpPr txBox="1"/>
          <p:nvPr/>
        </p:nvSpPr>
        <p:spPr>
          <a:xfrm>
            <a:off x="8869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Classify AI workloads, map them to Azure services, inspect a Foundry project, and record responsible-AI controls.</a:t>
            </a:r>
          </a:p>
        </p:txBody>
      </p:sp>
      <p:sp>
        <p:nvSpPr>
          <p:cNvPr id="14" name="Rounded Rectangle 13"/>
          <p:cNvSpPr/>
          <p:nvPr/>
        </p:nvSpPr>
        <p:spPr>
          <a:xfrm>
            <a:off x="34015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01568" y="3246120"/>
            <a:ext cx="73152" cy="1783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01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10B981"/>
                </a:solidFill>
                <a:latin typeface="Arial"/>
              </a:rPr>
              <a:t>MECHANISM</a:t>
            </a:r>
          </a:p>
        </p:txBody>
      </p:sp>
      <p:sp>
        <p:nvSpPr>
          <p:cNvPr id="17" name="TextBox 16"/>
          <p:cNvSpPr txBox="1"/>
          <p:nvPr/>
        </p:nvSpPr>
        <p:spPr>
          <a:xfrm>
            <a:off x="36301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Microsoft Foundry portal; Azure portal; worksheet</a:t>
            </a:r>
          </a:p>
        </p:txBody>
      </p:sp>
      <p:sp>
        <p:nvSpPr>
          <p:cNvPr id="18" name="Rounded Rectangle 17"/>
          <p:cNvSpPr/>
          <p:nvPr/>
        </p:nvSpPr>
        <p:spPr>
          <a:xfrm>
            <a:off x="61447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3246120"/>
            <a:ext cx="73152" cy="17830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7C3AED"/>
                </a:solidFill>
                <a:latin typeface="Arial"/>
              </a:rPr>
              <a:t>EVIDENCE</a:t>
            </a:r>
          </a:p>
        </p:txBody>
      </p:sp>
      <p:sp>
        <p:nvSpPr>
          <p:cNvPr id="21" name="TextBox 20"/>
          <p:cNvSpPr txBox="1"/>
          <p:nvPr/>
        </p:nvSpPr>
        <p:spPr>
          <a:xfrm>
            <a:off x="63733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A workload-to-service decision map, responsible-AI control register, and Foundry project evidence pack.</a:t>
            </a:r>
          </a:p>
        </p:txBody>
      </p:sp>
      <p:sp>
        <p:nvSpPr>
          <p:cNvPr id="22" name="Rounded Rectangle 21"/>
          <p:cNvSpPr/>
          <p:nvPr/>
        </p:nvSpPr>
        <p:spPr>
          <a:xfrm>
            <a:off x="88879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87968" y="3246120"/>
            <a:ext cx="73152" cy="1783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165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F59E0B"/>
                </a:solidFill>
                <a:latin typeface="Arial"/>
              </a:rPr>
              <a:t>VERIFY</a:t>
            </a:r>
          </a:p>
        </p:txBody>
      </p:sp>
      <p:sp>
        <p:nvSpPr>
          <p:cNvPr id="25" name="TextBox 24"/>
          <p:cNvSpPr txBox="1"/>
          <p:nvPr/>
        </p:nvSpPr>
        <p:spPr>
          <a:xfrm>
            <a:off x="91165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Six workload rows classified · Six responsible-AI principles addressed</a:t>
            </a:r>
          </a:p>
        </p:txBody>
      </p:sp>
      <p:sp>
        <p:nvSpPr>
          <p:cNvPr id="26" name="Rounded Rectangle 25"/>
          <p:cNvSpPr/>
          <p:nvPr/>
        </p:nvSpPr>
        <p:spPr>
          <a:xfrm>
            <a:off x="658368" y="5285232"/>
            <a:ext cx="10835640" cy="566928"/>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5440680"/>
            <a:ext cx="10378440" cy="256032"/>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Full step-by-step: Learner Guide + labs/lab-01-ai-workloads-responsible-ai-foundry/README.md</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Lab bridge only—no click-by-click procedure on the slide.</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42</a:t>
            </a:r>
          </a:p>
        </p:txBody>
      </p:sp>
    </p:spTree>
  </p:cSld>
  <p:clrMapOvr>
    <a:masterClrMapping/>
  </p:clrMapOvr>
  <p:transition spd="fast">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042 · CASE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Conversational AI</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Activity: Conversational AI.</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An utterance is mapped to an intent and extracted entities.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Confidence and competing intents determine the route.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Fallback handles unsupported or ambiguous requests.</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43</a:t>
            </a:r>
          </a:p>
        </p:txBody>
      </p:sp>
    </p:spTree>
  </p:cSld>
  <p:clrMapOvr>
    <a:masterClrMapping/>
  </p:clrMapOvr>
  <p:transition spd="fast">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043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Foundation Models for Applications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What is Generative AI.</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foundation model predicts output tokens from context.</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Prompt, grounding and model settings shape the response.</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Content filters and policy checks guard unsafe outputs.</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44</a:t>
            </a:r>
          </a:p>
        </p:txBody>
      </p:sp>
    </p:spTree>
  </p:cSld>
  <p:clrMapOvr>
    <a:masterClrMapping/>
  </p:clrMapOvr>
  <p:transition spd="fast">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044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Azure OpenAI</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foundation model predicts output tokens from context.</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Prompt, grounding and model settings shape the response.</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Content filters and policy checks guard unsafe outputs.</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Evaluate quality, safety, latency and cost on a test set.</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45</a:t>
            </a:r>
          </a:p>
        </p:txBody>
      </p:sp>
    </p:spTree>
  </p:cSld>
  <p:clrMapOvr>
    <a:masterClrMapping/>
  </p:clrMapOvr>
  <p:transition spd="fast">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045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Grounding and Retrieval</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Ground answers in approved enterprise sources.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Retrieve relevant passages before generating a response.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Return citations and refuse when evidence is absent.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Measure groundedness, relevance, latency and safety.</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46</a:t>
            </a:r>
          </a:p>
        </p:txBody>
      </p:sp>
    </p:spTree>
  </p:cSld>
  <p:clrMapOvr>
    <a:masterClrMapping/>
  </p:clrMapOvr>
  <p:transition spd="fast">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046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Prompt, Model and Safety Controls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Prompt defines the task, context and output contract.</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Model and deployment determine capability, latency and cost.</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Safety filters and policy checks inspect inputs and outputs.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Evaluation gates promotion and records regression evidence.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47</a:t>
            </a:r>
          </a:p>
        </p:txBody>
      </p:sp>
    </p:spTree>
  </p:cSld>
  <p:clrMapOvr>
    <a:masterClrMapping/>
  </p:clrMapOvr>
  <p:transition spd="fast">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047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Microsoft Foundry model playground</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In the Microsoft Foundry model playground, you can build AI models and deploy them for public consumption in software applications.</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Azure OpenAI's capabilities are made possible by specific generative AI models.</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These Azure OpenAI models fall into a few main families: GPT-4 current chat model family Codex Embeddings image generation model.</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Microsoft Foundry model playground.</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48</a:t>
            </a:r>
          </a:p>
        </p:txBody>
      </p:sp>
    </p:spTree>
  </p:cSld>
  <p:clrMapOvr>
    <a:masterClrMapping/>
  </p:clrMapOvr>
  <p:transition spd="fast">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048 ·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GitHub Copilot</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OpenAI partnered with GitHub to create GitHub Copilot, which they call an AI pair programmer.</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GitHub Copilot integrates the power of OpenAI Codex into a plugin for developer environments like Visual Studio Code.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Repository and editor context condition code suggestions.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Comments and function signatures constrain the completion.</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49</a:t>
            </a:r>
          </a:p>
        </p:txBody>
      </p:sp>
    </p:spTree>
  </p:cSld>
  <p:clrMapOvr>
    <a:masterClrMapping/>
  </p:clrMapOvr>
  <p:transition spd="fast">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049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Code Completion from Context</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GitHub Copilot.</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Code Completion from Context.</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50</a:t>
            </a:r>
          </a:p>
        </p:txBody>
      </p:sp>
    </p:spTree>
  </p:cSld>
  <p:clrMapOvr>
    <a:masterClrMapping/>
  </p:clrMapOvr>
  <p:transition spd="fast">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050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GitHub Copilot Suggestion Controls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GitHub Copilot.</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Repository and editor context condition code suggestions.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Comments and function signatures constrain the completion.</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Review correctness, security, licensing and tests.</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51</a:t>
            </a:r>
          </a:p>
        </p:txBody>
      </p:sp>
    </p:spTree>
  </p:cSld>
  <p:clrMapOvr>
    <a:masterClrMapping/>
  </p:clrMapOvr>
  <p:transition spd="fast">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051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OpenAI's NLP Capabilities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 foundation model predicts output tokens from context.</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Prompt, grounding and model settings shape the response.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Content filters and policy checks guard unsafe outputs.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Evaluate quality, safety, latency and cost on a test set.</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52</a:t>
            </a:r>
          </a:p>
        </p:txBody>
      </p:sp>
    </p:spTree>
  </p:cSld>
  <p:clrMapOvr>
    <a:masterClrMapping/>
  </p:clrMapOvr>
  <p:transition spd="fast">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052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Image Generation with Generative AI</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image generation model.</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 foundation model predicts output tokens from context.</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Prompt, grounding and model settings shape the response.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Content filters and policy checks guard unsafe outputs.</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53</a:t>
            </a:r>
          </a:p>
        </p:txBody>
      </p:sp>
    </p:spTree>
  </p:cSld>
  <p:clrMapOvr>
    <a:masterClrMapping/>
  </p:clrMapOvr>
  <p:transition spd="fast">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TOPIC 1 · HANDS-ON BRIDGE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Lab 08 · Generative AI and Agents in Microsoft Foundry</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64208"/>
            <a:ext cx="150876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764792"/>
            <a:ext cx="1508760" cy="219456"/>
          </a:xfrm>
          <a:prstGeom prst="rect">
            <a:avLst/>
          </a:prstGeom>
          <a:noFill/>
        </p:spPr>
        <p:txBody>
          <a:bodyPr wrap="square" anchor="t" lIns="45720" rIns="45720" tIns="27432" bIns="27432">
            <a:spAutoFit/>
          </a:bodyPr>
          <a:lstStyle/>
          <a:p>
            <a:pPr algn="ctr">
              <a:spcAft>
                <a:spcPts val="0"/>
              </a:spcAft>
            </a:pPr>
            <a:r>
              <a:rPr sz="1300" b="1">
                <a:solidFill>
                  <a:srgbClr val="FFFFFF"/>
                </a:solidFill>
                <a:latin typeface="Arial"/>
              </a:rPr>
              <a:t>65 MIN</a:t>
            </a:r>
          </a:p>
        </p:txBody>
      </p:sp>
      <p:sp>
        <p:nvSpPr>
          <p:cNvPr id="9" name="TextBox 8"/>
          <p:cNvSpPr txBox="1"/>
          <p:nvPr/>
        </p:nvSpPr>
        <p:spPr>
          <a:xfrm>
            <a:off x="658368" y="2331720"/>
            <a:ext cx="10698480" cy="658368"/>
          </a:xfrm>
          <a:prstGeom prst="rect">
            <a:avLst/>
          </a:prstGeom>
          <a:noFill/>
        </p:spPr>
        <p:txBody>
          <a:bodyPr wrap="square" anchor="t" lIns="45720" rIns="45720" tIns="27432" bIns="27432">
            <a:spAutoFit/>
          </a:bodyPr>
          <a:lstStyle/>
          <a:p>
            <a:pPr algn="l">
              <a:spcAft>
                <a:spcPts val="0"/>
              </a:spcAft>
            </a:pPr>
            <a:r>
              <a:rPr sz="1800" b="1">
                <a:solidFill>
                  <a:srgbClr val="161B26"/>
                </a:solidFill>
                <a:latin typeface="Arial"/>
              </a:rPr>
              <a:t>A policy assistant must answer only from approved material and escalate when evidence is absent.</a:t>
            </a:r>
          </a:p>
        </p:txBody>
      </p:sp>
      <p:sp>
        <p:nvSpPr>
          <p:cNvPr id="10" name="Rounded Rectangle 9"/>
          <p:cNvSpPr/>
          <p:nvPr/>
        </p:nvSpPr>
        <p:spPr>
          <a:xfrm>
            <a:off x="6583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3246120"/>
            <a:ext cx="73152" cy="1783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1F6FEB"/>
                </a:solidFill>
                <a:latin typeface="Arial"/>
              </a:rPr>
              <a:t>SCENARIO</a:t>
            </a:r>
          </a:p>
        </p:txBody>
      </p:sp>
      <p:sp>
        <p:nvSpPr>
          <p:cNvPr id="13" name="TextBox 12"/>
          <p:cNvSpPr txBox="1"/>
          <p:nvPr/>
        </p:nvSpPr>
        <p:spPr>
          <a:xfrm>
            <a:off x="8869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Deploy a model, configure instructions and grounding, evaluate responses, and record safety controls.</a:t>
            </a:r>
          </a:p>
        </p:txBody>
      </p:sp>
      <p:sp>
        <p:nvSpPr>
          <p:cNvPr id="14" name="Rounded Rectangle 13"/>
          <p:cNvSpPr/>
          <p:nvPr/>
        </p:nvSpPr>
        <p:spPr>
          <a:xfrm>
            <a:off x="34015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01568" y="3246120"/>
            <a:ext cx="73152" cy="1783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01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10B981"/>
                </a:solidFill>
                <a:latin typeface="Arial"/>
              </a:rPr>
              <a:t>MECHANISM</a:t>
            </a:r>
          </a:p>
        </p:txBody>
      </p:sp>
      <p:sp>
        <p:nvSpPr>
          <p:cNvPr id="17" name="TextBox 16"/>
          <p:cNvSpPr txBox="1"/>
          <p:nvPr/>
        </p:nvSpPr>
        <p:spPr>
          <a:xfrm>
            <a:off x="36301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Microsoft Foundry; model catalog; chat playground; agent playground</a:t>
            </a:r>
          </a:p>
        </p:txBody>
      </p:sp>
      <p:sp>
        <p:nvSpPr>
          <p:cNvPr id="18" name="Rounded Rectangle 17"/>
          <p:cNvSpPr/>
          <p:nvPr/>
        </p:nvSpPr>
        <p:spPr>
          <a:xfrm>
            <a:off x="61447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3246120"/>
            <a:ext cx="73152" cy="17830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7C3AED"/>
                </a:solidFill>
                <a:latin typeface="Arial"/>
              </a:rPr>
              <a:t>EVIDENCE</a:t>
            </a:r>
          </a:p>
        </p:txBody>
      </p:sp>
      <p:sp>
        <p:nvSpPr>
          <p:cNvPr id="21" name="TextBox 20"/>
          <p:cNvSpPr txBox="1"/>
          <p:nvPr/>
        </p:nvSpPr>
        <p:spPr>
          <a:xfrm>
            <a:off x="63733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A model deployment and agent configuration with grounded tests, refusal evidence and model-card controls.</a:t>
            </a:r>
          </a:p>
        </p:txBody>
      </p:sp>
      <p:sp>
        <p:nvSpPr>
          <p:cNvPr id="22" name="Rounded Rectangle 21"/>
          <p:cNvSpPr/>
          <p:nvPr/>
        </p:nvSpPr>
        <p:spPr>
          <a:xfrm>
            <a:off x="88879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87968" y="3246120"/>
            <a:ext cx="73152" cy="1783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165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F59E0B"/>
                </a:solidFill>
                <a:latin typeface="Arial"/>
              </a:rPr>
              <a:t>VERIFY</a:t>
            </a:r>
          </a:p>
        </p:txBody>
      </p:sp>
      <p:sp>
        <p:nvSpPr>
          <p:cNvPr id="25" name="TextBox 24"/>
          <p:cNvSpPr txBox="1"/>
          <p:nvPr/>
        </p:nvSpPr>
        <p:spPr>
          <a:xfrm>
            <a:off x="91165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Model version and deployment recorded · Instructions constrain scope</a:t>
            </a:r>
          </a:p>
        </p:txBody>
      </p:sp>
      <p:sp>
        <p:nvSpPr>
          <p:cNvPr id="26" name="Rounded Rectangle 25"/>
          <p:cNvSpPr/>
          <p:nvPr/>
        </p:nvSpPr>
        <p:spPr>
          <a:xfrm>
            <a:off x="658368" y="5285232"/>
            <a:ext cx="10835640" cy="566928"/>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5440680"/>
            <a:ext cx="10378440" cy="256032"/>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Full step-by-step: Learner Guide + labs/lab-08-generative-ai-foundry-agent/README.md</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Lab bridge only—no click-by-click procedure on the slide.</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54</a:t>
            </a:r>
          </a:p>
        </p:txBody>
      </p:sp>
    </p:spTree>
  </p:cSld>
  <p:clrMapOvr>
    <a:masterClrMapping/>
  </p:clrMapOvr>
  <p:transition spd="fast">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053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Knowledge Quiz - Fundamental AI Concepts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Match classification, regression and clustering to outputs.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Distinguish vision, language, speech and generative workloads.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Choose a Responsible AI principle for a stated risk.</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Name the input and evidence needed to verify the choice.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55</a:t>
            </a:r>
          </a:p>
        </p:txBody>
      </p:sp>
    </p:spTree>
  </p:cSld>
  <p:clrMapOvr>
    <a:masterClrMapping/>
  </p:clrMapOvr>
  <p:transition spd="fast">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054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Knowledge Quiz - Fundamentals of machine learning</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features, labels, training and validation data.</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Choose regression, classification or clustering.</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Interpret MAE, RMSE, accuracy or a confusion matrix.</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Explain why held-out validation evidence matters.</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56</a:t>
            </a:r>
          </a:p>
        </p:txBody>
      </p:sp>
    </p:spTree>
  </p:cSld>
  <p:clrMapOvr>
    <a:masterClrMapping/>
  </p:clrMapOvr>
  <p:transition spd="fast">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055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Knowledge Quiz - Fundamentals of Azure AI services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Map a workload to the current Azure AI capability.</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Choose single-service or multi-service resource boundaries.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Name the endpoint, authentication and output contract.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Apply RBAC, monitoring and cost-cleanup controls.</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57</a:t>
            </a:r>
          </a:p>
        </p:txBody>
      </p:sp>
    </p:spTree>
  </p:cSld>
  <p:clrMapOvr>
    <a:masterClrMapping/>
  </p:clrMapOvr>
  <p:transition spd="fast">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920240"/>
            <a:ext cx="8046720" cy="320040"/>
          </a:xfrm>
          <a:prstGeom prst="rect">
            <a:avLst/>
          </a:prstGeom>
          <a:noFill/>
        </p:spPr>
        <p:txBody>
          <a:bodyPr wrap="square" anchor="t" lIns="45720" rIns="45720" tIns="27432" bIns="27432">
            <a:spAutoFit/>
          </a:bodyPr>
          <a:lstStyle/>
          <a:p>
            <a:pPr algn="l">
              <a:spcAft>
                <a:spcPts val="0"/>
              </a:spcAft>
            </a:pPr>
            <a:r>
              <a:rPr sz="1300" b="1">
                <a:solidFill>
                  <a:srgbClr val="10B981"/>
                </a:solidFill>
                <a:latin typeface="Arial"/>
              </a:rPr>
              <a:t>LEGACY COVERAGE · SLIDE 056</a:t>
            </a:r>
          </a:p>
        </p:txBody>
      </p:sp>
      <p:sp>
        <p:nvSpPr>
          <p:cNvPr id="5" name="TextBox 4"/>
          <p:cNvSpPr txBox="1"/>
          <p:nvPr/>
        </p:nvSpPr>
        <p:spPr>
          <a:xfrm>
            <a:off x="822960" y="2423160"/>
            <a:ext cx="9875520" cy="1234440"/>
          </a:xfrm>
          <a:prstGeom prst="rect">
            <a:avLst/>
          </a:prstGeom>
          <a:noFill/>
        </p:spPr>
        <p:txBody>
          <a:bodyPr wrap="square" anchor="t" lIns="45720" rIns="45720" tIns="27432" bIns="27432">
            <a:spAutoFit/>
          </a:bodyPr>
          <a:lstStyle/>
          <a:p>
            <a:pPr algn="l">
              <a:spcAft>
                <a:spcPts val="0"/>
              </a:spcAft>
            </a:pPr>
            <a:r>
              <a:rPr sz="3800" b="1">
                <a:solidFill>
                  <a:srgbClr val="161B26"/>
                </a:solidFill>
                <a:latin typeface="Arial"/>
              </a:rPr>
              <a:t>Topic 2 Explore Visual Tools For Machine Learning</a:t>
            </a:r>
          </a:p>
        </p:txBody>
      </p:sp>
      <p:sp>
        <p:nvSpPr>
          <p:cNvPr id="6" name="Rectangle 5"/>
          <p:cNvSpPr/>
          <p:nvPr/>
        </p:nvSpPr>
        <p:spPr>
          <a:xfrm>
            <a:off x="822960" y="3913632"/>
            <a:ext cx="228600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731520"/>
            <a:ext cx="1645920" cy="1097280"/>
          </a:xfrm>
          <a:prstGeom prst="rect">
            <a:avLst/>
          </a:prstGeom>
          <a:noFill/>
        </p:spPr>
        <p:txBody>
          <a:bodyPr wrap="square" anchor="t" lIns="45720" rIns="45720" tIns="27432" bIns="27432">
            <a:spAutoFit/>
          </a:bodyPr>
          <a:lstStyle/>
          <a:p>
            <a:pPr algn="r">
              <a:spcAft>
                <a:spcPts val="0"/>
              </a:spcAft>
            </a:pPr>
            <a:r>
              <a:rPr sz="6400" b="1">
                <a:solidFill>
                  <a:srgbClr val="D7E0EA"/>
                </a:solidFill>
                <a:latin typeface="Arial"/>
              </a:rPr>
              <a:t>56</a:t>
            </a:r>
          </a:p>
        </p:txBody>
      </p:sp>
      <p:sp>
        <p:nvSpPr>
          <p:cNvPr id="8" name="TextBox 7"/>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9" name="TextBox 8"/>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10" name="TextBox 9"/>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58</a:t>
            </a:r>
          </a:p>
        </p:txBody>
      </p:sp>
    </p:spTree>
  </p:cSld>
  <p:clrMapOvr>
    <a:masterClrMapping/>
  </p:clrMapOvr>
  <p:transition spd="fast">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057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What is Machine Learning</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Machine learning is a technique that uses mathematics and statistics to create a model that can predict unknown values.</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Identify the input contract for What is Machine Learning.</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Trace the processing component and its state change.</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59</a:t>
            </a:r>
          </a:p>
        </p:txBody>
      </p:sp>
    </p:spTree>
  </p:cSld>
  <p:clrMapOvr>
    <a:masterClrMapping/>
  </p:clrMapOvr>
  <p:transition spd="fast">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058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Types of Machine Learning</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There are two general approaches to machine learning: supervised and unsupervised machine learning.</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In both approaches, you train a model to make predictions.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The supervised machine learning approach requires you to start with a dataset with known label values.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Two types of supervised machine learning tasks include regression and classification.</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60</a:t>
            </a:r>
          </a:p>
        </p:txBody>
      </p:sp>
    </p:spTree>
  </p:cSld>
  <p:clrMapOvr>
    <a:masterClrMapping/>
  </p:clrMapOvr>
  <p:transition spd="fast">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059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Azure Machine Learning Studio</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utoml-complete-run.png"/>
          <p:cNvPicPr>
            <a:picLocks noChangeAspect="1"/>
          </p:cNvPicPr>
          <p:nvPr/>
        </p:nvPicPr>
        <p:blipFill>
          <a:blip r:embed="rId2"/>
          <a:stretch>
            <a:fillRect/>
          </a:stretch>
        </p:blipFill>
        <p:spPr>
          <a:xfrm>
            <a:off x="658368" y="2013129"/>
            <a:ext cx="6949440" cy="3627268"/>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Azure Machine Learning Studio is the web portal for data scientist developers in Azure Machine Learning.</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The studio combines no-code and code-first experiences for an inclusive data science platform.</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The studio offers multiple authoring experiences depending on the type project and the level of user experience.</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61</a:t>
            </a:r>
          </a:p>
        </p:txBody>
      </p:sp>
    </p:spTree>
  </p:cSld>
  <p:clrMapOvr>
    <a:masterClrMapping/>
  </p:clrMapOvr>
  <p:transition spd="fast">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060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Azure Machine Learning Studio</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utoml-automated-machine-learning-portal.png"/>
          <p:cNvPicPr>
            <a:picLocks noChangeAspect="1"/>
          </p:cNvPicPr>
          <p:nvPr/>
        </p:nvPicPr>
        <p:blipFill>
          <a:blip r:embed="rId2"/>
          <a:stretch>
            <a:fillRect/>
          </a:stretch>
        </p:blipFill>
        <p:spPr>
          <a:xfrm>
            <a:off x="786210" y="1700784"/>
            <a:ext cx="6693755" cy="4251960"/>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Identify the input contract for Azure Machine Learning Studio.</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Trace the processing component and its state change.</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Capture a named output, metric or observable artifact.</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62</a:t>
            </a:r>
          </a:p>
        </p:txBody>
      </p:sp>
    </p:spTree>
  </p:cSld>
  <p:clrMapOvr>
    <a:masterClrMapping/>
  </p:clrMapOvr>
  <p:transition spd="fast">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061 ·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Azure Machine Learning Compute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In Azure Machine Learning studio, you can manage the compute targets for your data science activities.</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Compute Clusters: Scalable clusters of virtual machines for on-demand processing of experiment code.</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Inference Clusters: Deployment targets for predictive services that use your trained models.</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Attached Compute: Links to existing Azure compute resources, such as Virtual Machines or Azure Databricks clusters.</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63</a:t>
            </a:r>
          </a:p>
        </p:txBody>
      </p:sp>
    </p:spTree>
  </p:cSld>
  <p:clrMapOvr>
    <a:masterClrMapping/>
  </p:clrMapOvr>
  <p:transition spd="fast">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062 ·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You can write and run your own code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Azure ML Studio Notebook.</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You can write and run your own code.</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Trace the processing component and its state change.</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Capture a named output, metric or observable artifact.</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64</a:t>
            </a:r>
          </a:p>
        </p:txBody>
      </p:sp>
    </p:spTree>
  </p:cSld>
  <p:clrMapOvr>
    <a:masterClrMapping/>
  </p:clrMapOvr>
  <p:transition spd="fast">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063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Train Models with Azure Machine Learning Designer</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Azure Machine Learning Designer.</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Drag versioned datasets and components onto the visual canvas.</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Connect typed component ports to define data flow.</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Configure transformations, training and evaluation parameters.</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65</a:t>
            </a:r>
          </a:p>
        </p:txBody>
      </p:sp>
    </p:spTree>
  </p:cSld>
  <p:clrMapOvr>
    <a:masterClrMapping/>
  </p:clrMapOvr>
  <p:transition spd="fast">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064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Azure Machine Learning Designer</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oundry-portal-home.png"/>
          <p:cNvPicPr>
            <a:picLocks noChangeAspect="1"/>
          </p:cNvPicPr>
          <p:nvPr/>
        </p:nvPicPr>
        <p:blipFill>
          <a:blip r:embed="rId2"/>
          <a:stretch>
            <a:fillRect/>
          </a:stretch>
        </p:blipFill>
        <p:spPr>
          <a:xfrm>
            <a:off x="1128169" y="1700784"/>
            <a:ext cx="6009837" cy="4251960"/>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Drag versioned datasets and components onto the visual canvas.</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Connect typed component ports to define data flow.</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Configure transformations, training and evaluation parameters.</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66</a:t>
            </a:r>
          </a:p>
        </p:txBody>
      </p:sp>
    </p:spTree>
  </p:cSld>
  <p:clrMapOvr>
    <a:masterClrMapping/>
  </p:clrMapOvr>
  <p:transition spd="fast">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065 ·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Pipelines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Pipelines let you organize, manage, and reuse complex machine learning workflows across projects and users.</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pipeline starts with the dataset from which you want to train the model.</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Each time you run a pipeline, the configuration of the pipeline and its results are stored in your workspace as a pipeline job.</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pipeline connects versioned inputs to transformations and outputs.</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67</a:t>
            </a:r>
          </a:p>
        </p:txBody>
      </p:sp>
    </p:spTree>
  </p:cSld>
  <p:clrMapOvr>
    <a:masterClrMapping/>
  </p:clrMapOvr>
  <p:transition spd="fast">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066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Pipelines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utoml-training-validation.png"/>
          <p:cNvPicPr>
            <a:picLocks noChangeAspect="1"/>
          </p:cNvPicPr>
          <p:nvPr/>
        </p:nvPicPr>
        <p:blipFill>
          <a:blip r:embed="rId2"/>
          <a:stretch>
            <a:fillRect/>
          </a:stretch>
        </p:blipFill>
        <p:spPr>
          <a:xfrm>
            <a:off x="658368" y="1940160"/>
            <a:ext cx="6949440" cy="3773206"/>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A pipeline connects versioned inputs to transformations and outputs.</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Each component exposes a typed boundary and run state.</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Run history provides repeatability and failure evidence.</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68</a:t>
            </a:r>
          </a:p>
        </p:txBody>
      </p:sp>
    </p:spTree>
  </p:cSld>
  <p:clrMapOvr>
    <a:masterClrMapping/>
  </p:clrMapOvr>
  <p:transition spd="fast">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067 ·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Components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An Azure Machine Learning component encapsulates one step in a machine learning pipeline.</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You can think of a component as a programming function and as a building block for Azure Machine Learning pipelines.</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In a pipeline project, you can access data assets and components from the left panel's Asset Library tab.</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Components.</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69</a:t>
            </a:r>
          </a:p>
        </p:txBody>
      </p:sp>
    </p:spTree>
  </p:cSld>
  <p:clrMapOvr>
    <a:masterClrMapping/>
  </p:clrMapOvr>
  <p:transition spd="fast">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068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Components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oundry-portal-home.png"/>
          <p:cNvPicPr>
            <a:picLocks noChangeAspect="1"/>
          </p:cNvPicPr>
          <p:nvPr/>
        </p:nvPicPr>
        <p:blipFill>
          <a:blip r:embed="rId2"/>
          <a:stretch>
            <a:fillRect/>
          </a:stretch>
        </p:blipFill>
        <p:spPr>
          <a:xfrm>
            <a:off x="1128169" y="1700784"/>
            <a:ext cx="6009837" cy="4251960"/>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Identify the input contract for Components.</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Trace the processing component and its state change.</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Capture a named output, metric or observable artifact.</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70</a:t>
            </a:r>
          </a:p>
        </p:txBody>
      </p:sp>
    </p:spTree>
  </p:cSld>
  <p:clrMapOvr>
    <a:masterClrMapping/>
  </p:clrMapOvr>
  <p:transition spd="fast">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069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Create a Machine Learning Data Asset</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Datasets.</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data asset gives a versioned reference to training data.</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Schema, target, ownership and allowed use form its contract.</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Preview types, missing values and leakage risks before training.</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71</a:t>
            </a:r>
          </a:p>
        </p:txBody>
      </p:sp>
    </p:spTree>
  </p:cSld>
  <p:clrMapOvr>
    <a:masterClrMapping/>
  </p:clrMapOvr>
  <p:transition spd="fast">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070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Track Experiments with Machine Learning Jobs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utoml-training-validation.png"/>
          <p:cNvPicPr>
            <a:picLocks noChangeAspect="1"/>
          </p:cNvPicPr>
          <p:nvPr/>
        </p:nvPicPr>
        <p:blipFill>
          <a:blip r:embed="rId2"/>
          <a:stretch>
            <a:fillRect/>
          </a:stretch>
        </p:blipFill>
        <p:spPr>
          <a:xfrm>
            <a:off x="658368" y="1940160"/>
            <a:ext cx="6949440" cy="3773206"/>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Azure Machine Learning Jobs.</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A job binds code or pipeline, inputs, environment and compute.</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The run record captures parameters, logs, metrics and outputs.</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72</a:t>
            </a:r>
          </a:p>
        </p:txBody>
      </p:sp>
    </p:spTree>
  </p:cSld>
  <p:clrMapOvr>
    <a:masterClrMapping/>
  </p:clrMapOvr>
  <p:transition spd="fast">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071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Azure Machine Learning Jobs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utoml-feature-importance.png"/>
          <p:cNvPicPr>
            <a:picLocks noChangeAspect="1"/>
          </p:cNvPicPr>
          <p:nvPr/>
        </p:nvPicPr>
        <p:blipFill>
          <a:blip r:embed="rId2"/>
          <a:stretch>
            <a:fillRect/>
          </a:stretch>
        </p:blipFill>
        <p:spPr>
          <a:xfrm>
            <a:off x="658368" y="2052550"/>
            <a:ext cx="6949440" cy="3548426"/>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A job binds code or pipeline, inputs, environment and compute.</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The run record captures parameters, logs, metrics and outputs.</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Version data and environments for repeatability.</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73</a:t>
            </a:r>
          </a:p>
        </p:txBody>
      </p:sp>
    </p:spTree>
  </p:cSld>
  <p:clrMapOvr>
    <a:masterClrMapping/>
  </p:clrMapOvr>
  <p:transition spd="fast">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072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Azure Machine Learning Jobs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utoml-training-validation.png"/>
          <p:cNvPicPr>
            <a:picLocks noChangeAspect="1"/>
          </p:cNvPicPr>
          <p:nvPr/>
        </p:nvPicPr>
        <p:blipFill>
          <a:blip r:embed="rId2"/>
          <a:stretch>
            <a:fillRect/>
          </a:stretch>
        </p:blipFill>
        <p:spPr>
          <a:xfrm>
            <a:off x="658368" y="1940160"/>
            <a:ext cx="6949440" cy="3773206"/>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A job binds code or pipeline, inputs, environment and compute.</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The run record captures parameters, logs, metrics and outputs.</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Version data and environments for repeatability.</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74</a:t>
            </a:r>
          </a:p>
        </p:txBody>
      </p:sp>
    </p:spTree>
  </p:cSld>
  <p:clrMapOvr>
    <a:masterClrMapping/>
  </p:clrMapOvr>
  <p:transition spd="fast">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TOPIC 1 · HANDS-ON BRIDGE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Lab 02 · Machine Learning Fundamentals and Metrics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64208"/>
            <a:ext cx="150876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764792"/>
            <a:ext cx="1508760" cy="219456"/>
          </a:xfrm>
          <a:prstGeom prst="rect">
            <a:avLst/>
          </a:prstGeom>
          <a:noFill/>
        </p:spPr>
        <p:txBody>
          <a:bodyPr wrap="square" anchor="t" lIns="45720" rIns="45720" tIns="27432" bIns="27432">
            <a:spAutoFit/>
          </a:bodyPr>
          <a:lstStyle/>
          <a:p>
            <a:pPr algn="ctr">
              <a:spcAft>
                <a:spcPts val="0"/>
              </a:spcAft>
            </a:pPr>
            <a:r>
              <a:rPr sz="1300" b="1">
                <a:solidFill>
                  <a:srgbClr val="FFFFFF"/>
                </a:solidFill>
                <a:latin typeface="Arial"/>
              </a:rPr>
              <a:t>55 MIN</a:t>
            </a:r>
          </a:p>
        </p:txBody>
      </p:sp>
      <p:sp>
        <p:nvSpPr>
          <p:cNvPr id="9" name="TextBox 8"/>
          <p:cNvSpPr txBox="1"/>
          <p:nvPr/>
        </p:nvSpPr>
        <p:spPr>
          <a:xfrm>
            <a:off x="658368" y="2331720"/>
            <a:ext cx="10698480" cy="658368"/>
          </a:xfrm>
          <a:prstGeom prst="rect">
            <a:avLst/>
          </a:prstGeom>
          <a:noFill/>
        </p:spPr>
        <p:txBody>
          <a:bodyPr wrap="square" anchor="t" lIns="45720" rIns="45720" tIns="27432" bIns="27432">
            <a:spAutoFit/>
          </a:bodyPr>
          <a:lstStyle/>
          <a:p>
            <a:pPr algn="l">
              <a:spcAft>
                <a:spcPts val="0"/>
              </a:spcAft>
            </a:pPr>
            <a:r>
              <a:rPr sz="1800" b="1">
                <a:solidFill>
                  <a:srgbClr val="161B26"/>
                </a:solidFill>
                <a:latin typeface="Arial"/>
              </a:rPr>
              <a:t>A bike-share team must choose the correct technique and reject a misleading model before deployment.</a:t>
            </a:r>
          </a:p>
        </p:txBody>
      </p:sp>
      <p:sp>
        <p:nvSpPr>
          <p:cNvPr id="10" name="Rounded Rectangle 9"/>
          <p:cNvSpPr/>
          <p:nvPr/>
        </p:nvSpPr>
        <p:spPr>
          <a:xfrm>
            <a:off x="6583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3246120"/>
            <a:ext cx="73152" cy="1783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1F6FEB"/>
                </a:solidFill>
                <a:latin typeface="Arial"/>
              </a:rPr>
              <a:t>SCENARIO</a:t>
            </a:r>
          </a:p>
        </p:txBody>
      </p:sp>
      <p:sp>
        <p:nvSpPr>
          <p:cNvPr id="13" name="TextBox 12"/>
          <p:cNvSpPr txBox="1"/>
          <p:nvPr/>
        </p:nvSpPr>
        <p:spPr>
          <a:xfrm>
            <a:off x="8869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Differentiate regression, classification and clustering and compute evidence-based model metrics.</a:t>
            </a:r>
          </a:p>
        </p:txBody>
      </p:sp>
      <p:sp>
        <p:nvSpPr>
          <p:cNvPr id="14" name="Rounded Rectangle 13"/>
          <p:cNvSpPr/>
          <p:nvPr/>
        </p:nvSpPr>
        <p:spPr>
          <a:xfrm>
            <a:off x="34015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01568" y="3246120"/>
            <a:ext cx="73152" cy="1783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01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10B981"/>
                </a:solidFill>
                <a:latin typeface="Arial"/>
              </a:rPr>
              <a:t>MECHANISM</a:t>
            </a:r>
          </a:p>
        </p:txBody>
      </p:sp>
      <p:sp>
        <p:nvSpPr>
          <p:cNvPr id="17" name="TextBox 16"/>
          <p:cNvSpPr txBox="1"/>
          <p:nvPr/>
        </p:nvSpPr>
        <p:spPr>
          <a:xfrm>
            <a:off x="36301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Spreadsheet or Python; samples/model-results.csv</a:t>
            </a:r>
          </a:p>
        </p:txBody>
      </p:sp>
      <p:sp>
        <p:nvSpPr>
          <p:cNvPr id="18" name="Rounded Rectangle 17"/>
          <p:cNvSpPr/>
          <p:nvPr/>
        </p:nvSpPr>
        <p:spPr>
          <a:xfrm>
            <a:off x="61447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3246120"/>
            <a:ext cx="73152" cy="17830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7C3AED"/>
                </a:solidFill>
                <a:latin typeface="Arial"/>
              </a:rPr>
              <a:t>EVIDENCE</a:t>
            </a:r>
          </a:p>
        </p:txBody>
      </p:sp>
      <p:sp>
        <p:nvSpPr>
          <p:cNvPr id="21" name="TextBox 20"/>
          <p:cNvSpPr txBox="1"/>
          <p:nvPr/>
        </p:nvSpPr>
        <p:spPr>
          <a:xfrm>
            <a:off x="63733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A technique-selection table and verified MAE, RMSE, precision, recall and confusion-matrix calculations.</a:t>
            </a:r>
          </a:p>
        </p:txBody>
      </p:sp>
      <p:sp>
        <p:nvSpPr>
          <p:cNvPr id="22" name="Rounded Rectangle 21"/>
          <p:cNvSpPr/>
          <p:nvPr/>
        </p:nvSpPr>
        <p:spPr>
          <a:xfrm>
            <a:off x="88879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87968" y="3246120"/>
            <a:ext cx="73152" cy="1783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165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F59E0B"/>
                </a:solidFill>
                <a:latin typeface="Arial"/>
              </a:rPr>
              <a:t>VERIFY</a:t>
            </a:r>
          </a:p>
        </p:txBody>
      </p:sp>
      <p:sp>
        <p:nvSpPr>
          <p:cNvPr id="25" name="TextBox 24"/>
          <p:cNvSpPr txBox="1"/>
          <p:nvPr/>
        </p:nvSpPr>
        <p:spPr>
          <a:xfrm>
            <a:off x="91165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Every scenario has a justified technique · MAE and RMSE are reproducible</a:t>
            </a:r>
          </a:p>
        </p:txBody>
      </p:sp>
      <p:sp>
        <p:nvSpPr>
          <p:cNvPr id="26" name="Rounded Rectangle 25"/>
          <p:cNvSpPr/>
          <p:nvPr/>
        </p:nvSpPr>
        <p:spPr>
          <a:xfrm>
            <a:off x="658368" y="5285232"/>
            <a:ext cx="10835640" cy="566928"/>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5440680"/>
            <a:ext cx="10378440" cy="256032"/>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Full step-by-step: Learner Guide + labs/lab-02-machine-learning-fundamentals-metrics/README.md</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Lab bridge only—no click-by-click procedure on the slide.</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75</a:t>
            </a:r>
          </a:p>
        </p:txBody>
      </p:sp>
    </p:spTree>
  </p:cSld>
  <p:clrMapOvr>
    <a:masterClrMapping/>
  </p:clrMapOvr>
  <p:transition spd="fast">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073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Regression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Regression is a form of machine learning that is used to predict a numeric label based on an item's features.</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Features map to a numeric target such as price or demand.</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Training fits a function; validation tests unseen examples.</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76</a:t>
            </a:r>
          </a:p>
        </p:txBody>
      </p:sp>
    </p:spTree>
  </p:cSld>
  <p:clrMapOvr>
    <a:masterClrMapping/>
  </p:clrMapOvr>
  <p:transition spd="fast">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074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Regression Example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Prepare data: Identify the features and label in a dataset.</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Pre-process, or clean and transform, the data as needed.</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Train model: Split the data into two groups, a training and a validation set.</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77</a:t>
            </a:r>
          </a:p>
        </p:txBody>
      </p:sp>
    </p:spTree>
  </p:cSld>
  <p:clrMapOvr>
    <a:masterClrMapping/>
  </p:clrMapOvr>
  <p:transition spd="fast">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075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Regression Example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Features map to a numeric target such as price or demand.</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Training fits a function; validation tests unseen examples.</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MAE shows average absolute error; RMSE penalizes large errors.</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78</a:t>
            </a:r>
          </a:p>
        </p:txBody>
      </p:sp>
    </p:spTree>
  </p:cSld>
  <p:clrMapOvr>
    <a:masterClrMapping/>
  </p:clrMapOvr>
  <p:transition spd="fast">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076 ·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Inference Pipeline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pipeline connects versioned inputs to transformations and outputs.</a:t>
            </a:r>
          </a:p>
        </p:txBody>
      </p:sp>
      <p:cxnSp>
        <p:nvCxnSpPr>
          <p:cNvPr id="11" name="Connector 10"/>
          <p:cNvCxnSpPr/>
          <p:nvPr/>
        </p:nvCxnSpPr>
        <p:spPr>
          <a:xfrm>
            <a:off x="2871215" y="3310128"/>
            <a:ext cx="475489"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Each component exposes a typed boundary and run state.</a:t>
            </a:r>
          </a:p>
        </p:txBody>
      </p:sp>
      <p:cxnSp>
        <p:nvCxnSpPr>
          <p:cNvPr id="16" name="Connector 15"/>
          <p:cNvCxnSpPr/>
          <p:nvPr/>
        </p:nvCxnSpPr>
        <p:spPr>
          <a:xfrm>
            <a:off x="56144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Run history provides repeatability and failure evidence.</a:t>
            </a:r>
          </a:p>
        </p:txBody>
      </p:sp>
      <p:cxnSp>
        <p:nvCxnSpPr>
          <p:cNvPr id="21" name="Connector 20"/>
          <p:cNvCxnSpPr/>
          <p:nvPr/>
        </p:nvCxnSpPr>
        <p:spPr>
          <a:xfrm>
            <a:off x="83576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Deploy only a validated inference path.</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79</a:t>
            </a:r>
          </a:p>
        </p:txBody>
      </p:sp>
    </p:spTree>
  </p:cSld>
  <p:clrMapOvr>
    <a:masterClrMapping/>
  </p:clrMapOvr>
  <p:transition spd="fast">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077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Automatic Price Prediction Regression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Features map to a numeric target such as price or demand.</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Training fits a function; validation tests unseen examples.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MAE shows average absolute error; RMSE penalizes large errors.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Accept only when the metric and residual pattern meet the target.</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80</a:t>
            </a:r>
          </a:p>
        </p:txBody>
      </p:sp>
    </p:spTree>
  </p:cSld>
  <p:clrMapOvr>
    <a:masterClrMapping/>
  </p:clrMapOvr>
  <p:transition spd="fast">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078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Add the Automobile Dataset</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oundry-portal-home.png"/>
          <p:cNvPicPr>
            <a:picLocks noChangeAspect="1"/>
          </p:cNvPicPr>
          <p:nvPr/>
        </p:nvPicPr>
        <p:blipFill>
          <a:blip r:embed="rId2"/>
          <a:stretch>
            <a:fillRect/>
          </a:stretch>
        </p:blipFill>
        <p:spPr>
          <a:xfrm>
            <a:off x="1128169" y="1700784"/>
            <a:ext cx="6009837" cy="4251960"/>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Add and Explore a Dataset.</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Identify the input contract for Add the Automobile Dataset.</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Trace the processing component and its state change.</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81</a:t>
            </a:r>
          </a:p>
        </p:txBody>
      </p:sp>
    </p:spTree>
  </p:cSld>
  <p:clrMapOvr>
    <a:masterClrMapping/>
  </p:clrMapOvr>
  <p:transition spd="fast">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079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Transform the Automobile Dataset</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Add Data Transformations.</a:t>
            </a:r>
          </a:p>
        </p:txBody>
      </p:sp>
      <p:cxnSp>
        <p:nvCxnSpPr>
          <p:cNvPr id="11" name="Connector 10"/>
          <p:cNvCxnSpPr/>
          <p:nvPr/>
        </p:nvCxnSpPr>
        <p:spPr>
          <a:xfrm>
            <a:off x="2871215" y="3310128"/>
            <a:ext cx="475489"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Transform the Automobile Dataset.</a:t>
            </a:r>
          </a:p>
        </p:txBody>
      </p:sp>
      <p:cxnSp>
        <p:nvCxnSpPr>
          <p:cNvPr id="16" name="Connector 15"/>
          <p:cNvCxnSpPr/>
          <p:nvPr/>
        </p:nvCxnSpPr>
        <p:spPr>
          <a:xfrm>
            <a:off x="56144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Trace the processing component and its state change.</a:t>
            </a:r>
          </a:p>
        </p:txBody>
      </p:sp>
      <p:cxnSp>
        <p:nvCxnSpPr>
          <p:cNvPr id="21" name="Connector 20"/>
          <p:cNvCxnSpPr/>
          <p:nvPr/>
        </p:nvCxnSpPr>
        <p:spPr>
          <a:xfrm>
            <a:off x="83576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Capture a named output, metric or observable artifact.</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82</a:t>
            </a:r>
          </a:p>
        </p:txBody>
      </p:sp>
    </p:spTree>
  </p:cSld>
  <p:clrMapOvr>
    <a:masterClrMapping/>
  </p:clrMapOvr>
  <p:transition spd="fast">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080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Configure the Select Columns Module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Select the Select Column.</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Configure the Select Columns Module.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83</a:t>
            </a:r>
          </a:p>
        </p:txBody>
      </p:sp>
    </p:spTree>
  </p:cSld>
  <p:clrMapOvr>
    <a:masterClrMapping/>
  </p:clrMapOvr>
  <p:transition spd="fast">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081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Clean Missing Data</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Clean Missing Data.</a:t>
            </a:r>
          </a:p>
        </p:txBody>
      </p:sp>
      <p:cxnSp>
        <p:nvCxnSpPr>
          <p:cNvPr id="11" name="Connector 10"/>
          <p:cNvCxnSpPr/>
          <p:nvPr/>
        </p:nvCxnSpPr>
        <p:spPr>
          <a:xfrm>
            <a:off x="2871215" y="3310128"/>
            <a:ext cx="475489"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Trace the processing component and its state change.</a:t>
            </a:r>
          </a:p>
        </p:txBody>
      </p:sp>
      <p:cxnSp>
        <p:nvCxnSpPr>
          <p:cNvPr id="16" name="Connector 15"/>
          <p:cNvCxnSpPr/>
          <p:nvPr/>
        </p:nvCxnSpPr>
        <p:spPr>
          <a:xfrm>
            <a:off x="56144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Capture a named output, metric or observable artifact.</a:t>
            </a:r>
          </a:p>
        </p:txBody>
      </p:sp>
      <p:cxnSp>
        <p:nvCxnSpPr>
          <p:cNvPr id="21" name="Connector 20"/>
          <p:cNvCxnSpPr/>
          <p:nvPr/>
        </p:nvCxnSpPr>
        <p:spPr>
          <a:xfrm>
            <a:off x="83576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Define the acceptance threshold and human-review route.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84</a:t>
            </a:r>
          </a:p>
        </p:txBody>
      </p:sp>
    </p:spTree>
  </p:cSld>
  <p:clrMapOvr>
    <a:masterClrMapping/>
  </p:clrMapOvr>
  <p:transition spd="fast">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082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Normalize Data</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Normalize Data.</a:t>
            </a:r>
          </a:p>
        </p:txBody>
      </p:sp>
      <p:cxnSp>
        <p:nvCxnSpPr>
          <p:cNvPr id="11" name="Connector 10"/>
          <p:cNvCxnSpPr/>
          <p:nvPr/>
        </p:nvCxnSpPr>
        <p:spPr>
          <a:xfrm>
            <a:off x="2871215" y="3310128"/>
            <a:ext cx="475489"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Trace the processing component and its state change.</a:t>
            </a:r>
          </a:p>
        </p:txBody>
      </p:sp>
      <p:cxnSp>
        <p:nvCxnSpPr>
          <p:cNvPr id="16" name="Connector 15"/>
          <p:cNvCxnSpPr/>
          <p:nvPr/>
        </p:nvCxnSpPr>
        <p:spPr>
          <a:xfrm>
            <a:off x="56144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Capture a named output, metric or observable artifact.</a:t>
            </a:r>
          </a:p>
        </p:txBody>
      </p:sp>
      <p:cxnSp>
        <p:nvCxnSpPr>
          <p:cNvPr id="21" name="Connector 20"/>
          <p:cNvCxnSpPr/>
          <p:nvPr/>
        </p:nvCxnSpPr>
        <p:spPr>
          <a:xfrm>
            <a:off x="83576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Define the acceptance threshold and human-review route.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85</a:t>
            </a:r>
          </a:p>
        </p:txBody>
      </p:sp>
    </p:spTree>
  </p:cSld>
  <p:clrMapOvr>
    <a:masterClrMapping/>
  </p:clrMapOvr>
  <p:transition spd="fast">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083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Run the Pipeline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utoml-feature-importance.png"/>
          <p:cNvPicPr>
            <a:picLocks noChangeAspect="1"/>
          </p:cNvPicPr>
          <p:nvPr/>
        </p:nvPicPr>
        <p:blipFill>
          <a:blip r:embed="rId2"/>
          <a:stretch>
            <a:fillRect/>
          </a:stretch>
        </p:blipFill>
        <p:spPr>
          <a:xfrm>
            <a:off x="658368" y="2052550"/>
            <a:ext cx="6949440" cy="3548426"/>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A pipeline connects versioned inputs to transformations and outputs.</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Each component exposes a typed boundary and run state.</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Run history provides repeatability and failure evidence.</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86</a:t>
            </a:r>
          </a:p>
        </p:txBody>
      </p:sp>
    </p:spTree>
  </p:cSld>
  <p:clrMapOvr>
    <a:masterClrMapping/>
  </p:clrMapOvr>
  <p:transition spd="fast">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084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Add Training Modules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Add Training Modules.</a:t>
            </a:r>
          </a:p>
        </p:txBody>
      </p:sp>
      <p:cxnSp>
        <p:nvCxnSpPr>
          <p:cNvPr id="11" name="Connector 10"/>
          <p:cNvCxnSpPr/>
          <p:nvPr/>
        </p:nvCxnSpPr>
        <p:spPr>
          <a:xfrm>
            <a:off x="2871215" y="3310128"/>
            <a:ext cx="475489"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Trace the processing component and its state change.</a:t>
            </a:r>
          </a:p>
        </p:txBody>
      </p:sp>
      <p:cxnSp>
        <p:nvCxnSpPr>
          <p:cNvPr id="16" name="Connector 15"/>
          <p:cNvCxnSpPr/>
          <p:nvPr/>
        </p:nvCxnSpPr>
        <p:spPr>
          <a:xfrm>
            <a:off x="56144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Capture a named output, metric or observable artifact.</a:t>
            </a:r>
          </a:p>
        </p:txBody>
      </p:sp>
      <p:cxnSp>
        <p:nvCxnSpPr>
          <p:cNvPr id="21" name="Connector 20"/>
          <p:cNvCxnSpPr/>
          <p:nvPr/>
        </p:nvCxnSpPr>
        <p:spPr>
          <a:xfrm>
            <a:off x="83576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Define the acceptance threshold and human-review route.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87</a:t>
            </a:r>
          </a:p>
        </p:txBody>
      </p:sp>
    </p:spTree>
  </p:cSld>
  <p:clrMapOvr>
    <a:masterClrMapping/>
  </p:clrMapOvr>
  <p:transition spd="fast">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085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Run the Training Pipeline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utoml-feature-importance.png"/>
          <p:cNvPicPr>
            <a:picLocks noChangeAspect="1"/>
          </p:cNvPicPr>
          <p:nvPr/>
        </p:nvPicPr>
        <p:blipFill>
          <a:blip r:embed="rId2"/>
          <a:stretch>
            <a:fillRect/>
          </a:stretch>
        </p:blipFill>
        <p:spPr>
          <a:xfrm>
            <a:off x="658368" y="2052550"/>
            <a:ext cx="6949440" cy="3548426"/>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A pipeline connects versioned inputs to transformations and outputs.</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Each component exposes a typed boundary and run state.</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Run history provides repeatability and failure evidence.</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88</a:t>
            </a:r>
          </a:p>
        </p:txBody>
      </p:sp>
    </p:spTree>
  </p:cSld>
  <p:clrMapOvr>
    <a:masterClrMapping/>
  </p:clrMapOvr>
  <p:transition spd="fast">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086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Evaluate a Regression Model</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Features map to a numeric target such as price or demand.</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Training fits a function; validation tests unseen examples.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MAE shows average absolute error; RMSE penalizes large errors.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Accept only when the metric and residual pattern meet the target.</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89</a:t>
            </a:r>
          </a:p>
        </p:txBody>
      </p:sp>
    </p:spTree>
  </p:cSld>
  <p:clrMapOvr>
    <a:masterClrMapping/>
  </p:clrMapOvr>
  <p:transition spd="fast">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087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Model Performance Metrics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Mean Absolute Error (MAE): The average difference between predicted values and true values.</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Root Mean Squared Error (RMSE): The square root of the mean squared difference between predicted and true values.</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The closer to 1 this value is, the better the model is performing.</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90</a:t>
            </a:r>
          </a:p>
        </p:txBody>
      </p:sp>
    </p:spTree>
  </p:cSld>
  <p:clrMapOvr>
    <a:masterClrMapping/>
  </p:clrMapOvr>
  <p:transition spd="fast">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088 ·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Create an Inference Pipeline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pipeline connects versioned inputs to transformations and outputs.</a:t>
            </a:r>
          </a:p>
        </p:txBody>
      </p:sp>
      <p:cxnSp>
        <p:nvCxnSpPr>
          <p:cNvPr id="11" name="Connector 10"/>
          <p:cNvCxnSpPr/>
          <p:nvPr/>
        </p:nvCxnSpPr>
        <p:spPr>
          <a:xfrm>
            <a:off x="2871215" y="3310128"/>
            <a:ext cx="475489"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Each component exposes a typed boundary and run state.</a:t>
            </a:r>
          </a:p>
        </p:txBody>
      </p:sp>
      <p:cxnSp>
        <p:nvCxnSpPr>
          <p:cNvPr id="16" name="Connector 15"/>
          <p:cNvCxnSpPr/>
          <p:nvPr/>
        </p:nvCxnSpPr>
        <p:spPr>
          <a:xfrm>
            <a:off x="56144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Run history provides repeatability and failure evidence.</a:t>
            </a:r>
          </a:p>
        </p:txBody>
      </p:sp>
      <p:cxnSp>
        <p:nvCxnSpPr>
          <p:cNvPr id="21" name="Connector 20"/>
          <p:cNvCxnSpPr/>
          <p:nvPr/>
        </p:nvCxnSpPr>
        <p:spPr>
          <a:xfrm>
            <a:off x="83576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Deploy only a validated inference path.</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91</a:t>
            </a:r>
          </a:p>
        </p:txBody>
      </p:sp>
    </p:spTree>
  </p:cSld>
  <p:clrMapOvr>
    <a:masterClrMapping/>
  </p:clrMapOvr>
  <p:transition spd="fast">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089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Deployment</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_services.png"/>
          <p:cNvPicPr>
            <a:picLocks noChangeAspect="1"/>
          </p:cNvPicPr>
          <p:nvPr/>
        </p:nvPicPr>
        <p:blipFill>
          <a:blip r:embed="rId2"/>
          <a:stretch>
            <a:fillRect/>
          </a:stretch>
        </p:blipFill>
        <p:spPr>
          <a:xfrm>
            <a:off x="1197327" y="1700784"/>
            <a:ext cx="5871521" cy="4251960"/>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A deployment binds a model, environment, code and compute.</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The endpoint exposes a versioned request and response contract.</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Authentication and traffic rules control access.</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92</a:t>
            </a:r>
          </a:p>
        </p:txBody>
      </p:sp>
    </p:spTree>
  </p:cSld>
  <p:clrMapOvr>
    <a:masterClrMapping/>
  </p:clrMapOvr>
  <p:transition spd="fast">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090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Testing</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oundry-portal-home.png"/>
          <p:cNvPicPr>
            <a:picLocks noChangeAspect="1"/>
          </p:cNvPicPr>
          <p:nvPr/>
        </p:nvPicPr>
        <p:blipFill>
          <a:blip r:embed="rId2"/>
          <a:stretch>
            <a:fillRect/>
          </a:stretch>
        </p:blipFill>
        <p:spPr>
          <a:xfrm>
            <a:off x="1128169" y="1700784"/>
            <a:ext cx="6009837" cy="4251960"/>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Identify the input contract for Testing.</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Trace the processing component and its state change.</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Capture a named output, metric or observable artifact.</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93</a:t>
            </a:r>
          </a:p>
        </p:txBody>
      </p:sp>
    </p:spTree>
  </p:cSld>
  <p:clrMapOvr>
    <a:masterClrMapping/>
  </p:clrMapOvr>
  <p:transition spd="fast">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091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Testing</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_services.png"/>
          <p:cNvPicPr>
            <a:picLocks noChangeAspect="1"/>
          </p:cNvPicPr>
          <p:nvPr/>
        </p:nvPicPr>
        <p:blipFill>
          <a:blip r:embed="rId2"/>
          <a:stretch>
            <a:fillRect/>
          </a:stretch>
        </p:blipFill>
        <p:spPr>
          <a:xfrm>
            <a:off x="1197327" y="1700784"/>
            <a:ext cx="5871521" cy="4251960"/>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Identify the input contract for Testing.</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Trace the processing component and its state change.</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Capture a named output, metric or observable artifact.</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94</a:t>
            </a:r>
          </a:p>
        </p:txBody>
      </p:sp>
    </p:spTree>
  </p:cSld>
  <p:clrMapOvr>
    <a:masterClrMapping/>
  </p:clrMapOvr>
  <p:transition spd="fast">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TOPIC 1 · HANDS-ON BRIDGE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400" b="1">
                <a:solidFill>
                  <a:srgbClr val="161B26"/>
                </a:solidFill>
                <a:latin typeface="Arial"/>
              </a:rPr>
              <a:t>Lab 03 · Azure Machine Learning AutoML and Model Lifecycle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64208"/>
            <a:ext cx="150876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764792"/>
            <a:ext cx="1508760" cy="219456"/>
          </a:xfrm>
          <a:prstGeom prst="rect">
            <a:avLst/>
          </a:prstGeom>
          <a:noFill/>
        </p:spPr>
        <p:txBody>
          <a:bodyPr wrap="square" anchor="t" lIns="45720" rIns="45720" tIns="27432" bIns="27432">
            <a:spAutoFit/>
          </a:bodyPr>
          <a:lstStyle/>
          <a:p>
            <a:pPr algn="ctr">
              <a:spcAft>
                <a:spcPts val="0"/>
              </a:spcAft>
            </a:pPr>
            <a:r>
              <a:rPr sz="1300" b="1">
                <a:solidFill>
                  <a:srgbClr val="FFFFFF"/>
                </a:solidFill>
                <a:latin typeface="Arial"/>
              </a:rPr>
              <a:t>70 MIN</a:t>
            </a:r>
          </a:p>
        </p:txBody>
      </p:sp>
      <p:sp>
        <p:nvSpPr>
          <p:cNvPr id="9" name="TextBox 8"/>
          <p:cNvSpPr txBox="1"/>
          <p:nvPr/>
        </p:nvSpPr>
        <p:spPr>
          <a:xfrm>
            <a:off x="658368" y="2331720"/>
            <a:ext cx="10698480" cy="658368"/>
          </a:xfrm>
          <a:prstGeom prst="rect">
            <a:avLst/>
          </a:prstGeom>
          <a:noFill/>
        </p:spPr>
        <p:txBody>
          <a:bodyPr wrap="square" anchor="t" lIns="45720" rIns="45720" tIns="27432" bIns="27432">
            <a:spAutoFit/>
          </a:bodyPr>
          <a:lstStyle/>
          <a:p>
            <a:pPr algn="l">
              <a:spcAft>
                <a:spcPts val="0"/>
              </a:spcAft>
            </a:pPr>
            <a:r>
              <a:rPr sz="1800" b="1">
                <a:solidFill>
                  <a:srgbClr val="161B26"/>
                </a:solidFill>
                <a:latin typeface="Arial"/>
              </a:rPr>
              <a:t>Contoso Mobility needs a repeatable demand-forecast experiment that its service provider can review.</a:t>
            </a:r>
          </a:p>
        </p:txBody>
      </p:sp>
      <p:sp>
        <p:nvSpPr>
          <p:cNvPr id="10" name="Rounded Rectangle 9"/>
          <p:cNvSpPr/>
          <p:nvPr/>
        </p:nvSpPr>
        <p:spPr>
          <a:xfrm>
            <a:off x="6583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3246120"/>
            <a:ext cx="73152" cy="1783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1F6FEB"/>
                </a:solidFill>
                <a:latin typeface="Arial"/>
              </a:rPr>
              <a:t>SCENARIO</a:t>
            </a:r>
          </a:p>
        </p:txBody>
      </p:sp>
      <p:sp>
        <p:nvSpPr>
          <p:cNvPr id="13" name="TextBox 12"/>
          <p:cNvSpPr txBox="1"/>
          <p:nvPr/>
        </p:nvSpPr>
        <p:spPr>
          <a:xfrm>
            <a:off x="8869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Configure an AutoML regression experiment, interpret ranking evidence, and document deployment controls.</a:t>
            </a:r>
          </a:p>
        </p:txBody>
      </p:sp>
      <p:sp>
        <p:nvSpPr>
          <p:cNvPr id="14" name="Rounded Rectangle 13"/>
          <p:cNvSpPr/>
          <p:nvPr/>
        </p:nvSpPr>
        <p:spPr>
          <a:xfrm>
            <a:off x="34015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01568" y="3246120"/>
            <a:ext cx="73152" cy="1783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01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10B981"/>
                </a:solidFill>
                <a:latin typeface="Arial"/>
              </a:rPr>
              <a:t>MECHANISM</a:t>
            </a:r>
          </a:p>
        </p:txBody>
      </p:sp>
      <p:sp>
        <p:nvSpPr>
          <p:cNvPr id="17" name="TextBox 16"/>
          <p:cNvSpPr txBox="1"/>
          <p:nvPr/>
        </p:nvSpPr>
        <p:spPr>
          <a:xfrm>
            <a:off x="36301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Azure Machine Learning studio; Automated ML; CSV data asset</a:t>
            </a:r>
          </a:p>
        </p:txBody>
      </p:sp>
      <p:sp>
        <p:nvSpPr>
          <p:cNvPr id="18" name="Rounded Rectangle 17"/>
          <p:cNvSpPr/>
          <p:nvPr/>
        </p:nvSpPr>
        <p:spPr>
          <a:xfrm>
            <a:off x="61447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3246120"/>
            <a:ext cx="73152" cy="17830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7C3AED"/>
                </a:solidFill>
                <a:latin typeface="Arial"/>
              </a:rPr>
              <a:t>EVIDENCE</a:t>
            </a:r>
          </a:p>
        </p:txBody>
      </p:sp>
      <p:sp>
        <p:nvSpPr>
          <p:cNvPr id="21" name="TextBox 20"/>
          <p:cNvSpPr txBox="1"/>
          <p:nvPr/>
        </p:nvSpPr>
        <p:spPr>
          <a:xfrm>
            <a:off x="63733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An AutoML experiment record with data, task, target, compute, metric, best-model evidence and deployment decision.</a:t>
            </a:r>
          </a:p>
        </p:txBody>
      </p:sp>
      <p:sp>
        <p:nvSpPr>
          <p:cNvPr id="22" name="Rounded Rectangle 21"/>
          <p:cNvSpPr/>
          <p:nvPr/>
        </p:nvSpPr>
        <p:spPr>
          <a:xfrm>
            <a:off x="88879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87968" y="3246120"/>
            <a:ext cx="73152" cy="1783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165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F59E0B"/>
                </a:solidFill>
                <a:latin typeface="Arial"/>
              </a:rPr>
              <a:t>VERIFY</a:t>
            </a:r>
          </a:p>
        </p:txBody>
      </p:sp>
      <p:sp>
        <p:nvSpPr>
          <p:cNvPr id="25" name="TextBox 24"/>
          <p:cNvSpPr txBox="1"/>
          <p:nvPr/>
        </p:nvSpPr>
        <p:spPr>
          <a:xfrm>
            <a:off x="91165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Versioned data asset recorded · Regression target and metric justified</a:t>
            </a:r>
          </a:p>
        </p:txBody>
      </p:sp>
      <p:sp>
        <p:nvSpPr>
          <p:cNvPr id="26" name="Rounded Rectangle 25"/>
          <p:cNvSpPr/>
          <p:nvPr/>
        </p:nvSpPr>
        <p:spPr>
          <a:xfrm>
            <a:off x="658368" y="5285232"/>
            <a:ext cx="10835640" cy="566928"/>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5440680"/>
            <a:ext cx="10378440" cy="256032"/>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Full step-by-step: Learner Guide + labs/lab-03-azure-machine-learning-automl-lifecycle/README.md</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Lab bridge only—no click-by-click procedure on the slide.</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95</a:t>
            </a:r>
          </a:p>
        </p:txBody>
      </p:sp>
    </p:spTree>
  </p:cSld>
  <p:clrMapOvr>
    <a:masterClrMapping/>
  </p:clrMapOvr>
  <p:transition spd="fast">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092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Activity: Regression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Features map to a numeric target such as price or demand.</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Training fits a function; validation tests unseen examples.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MAE shows average absolute error; RMSE penalizes large errors.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Accept only when the metric and residual pattern meet the target.</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96</a:t>
            </a:r>
          </a:p>
        </p:txBody>
      </p:sp>
    </p:spTree>
  </p:cSld>
  <p:clrMapOvr>
    <a:masterClrMapping/>
  </p:clrMapOvr>
  <p:transition spd="fast">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093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Classification Fundamentals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Classification.</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Features map to one of two or more categorical labels.</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The model emits class scores or probabilities.</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97</a:t>
            </a:r>
          </a:p>
        </p:txBody>
      </p:sp>
    </p:spTree>
  </p:cSld>
  <p:clrMapOvr>
    <a:masterClrMapping/>
  </p:clrMapOvr>
  <p:transition spd="fast">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094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Classification Example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Features map to one of two or more categorical labels.</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The model emits class scores or probabilities.</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A threshold converts scores into predicted labels.</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98</a:t>
            </a:r>
          </a:p>
        </p:txBody>
      </p:sp>
    </p:spTree>
  </p:cSld>
  <p:clrMapOvr>
    <a:masterClrMapping/>
  </p:clrMapOvr>
  <p:transition spd="fast">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095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Prepare Classification Data</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Add Data Transformations.</a:t>
            </a:r>
          </a:p>
        </p:txBody>
      </p:sp>
      <p:cxnSp>
        <p:nvCxnSpPr>
          <p:cNvPr id="11" name="Connector 10"/>
          <p:cNvCxnSpPr/>
          <p:nvPr/>
        </p:nvCxnSpPr>
        <p:spPr>
          <a:xfrm>
            <a:off x="2871215" y="3310128"/>
            <a:ext cx="475489"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Features map to one of two or more categorical labels.</a:t>
            </a:r>
          </a:p>
        </p:txBody>
      </p:sp>
      <p:cxnSp>
        <p:nvCxnSpPr>
          <p:cNvPr id="16" name="Connector 15"/>
          <p:cNvCxnSpPr/>
          <p:nvPr/>
        </p:nvCxnSpPr>
        <p:spPr>
          <a:xfrm>
            <a:off x="56144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The model emits class scores or probabilities.</a:t>
            </a:r>
          </a:p>
        </p:txBody>
      </p:sp>
      <p:cxnSp>
        <p:nvCxnSpPr>
          <p:cNvPr id="21" name="Connector 20"/>
          <p:cNvCxnSpPr/>
          <p:nvPr/>
        </p:nvCxnSpPr>
        <p:spPr>
          <a:xfrm>
            <a:off x="83576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threshold converts scores into predicted labels.</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99</a:t>
            </a:r>
          </a:p>
        </p:txBody>
      </p:sp>
    </p:spTree>
  </p:cSld>
  <p:clrMapOvr>
    <a:masterClrMapping/>
  </p:clrMapOvr>
  <p:transition spd="fast">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096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Configure Normalization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Normalize Data.</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Configure Normalization.</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100</a:t>
            </a:r>
          </a:p>
        </p:txBody>
      </p:sp>
    </p:spTree>
  </p:cSld>
  <p:clrMapOvr>
    <a:masterClrMapping/>
  </p:clrMapOvr>
  <p:transition spd="fast">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097 ·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Run the Data Transformation Pipeline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Run the Pipeline.</a:t>
            </a:r>
          </a:p>
        </p:txBody>
      </p:sp>
      <p:cxnSp>
        <p:nvCxnSpPr>
          <p:cNvPr id="11" name="Connector 10"/>
          <p:cNvCxnSpPr/>
          <p:nvPr/>
        </p:nvCxnSpPr>
        <p:spPr>
          <a:xfrm>
            <a:off x="2871215" y="3310128"/>
            <a:ext cx="475489"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pipeline connects versioned inputs to transformations and outputs.</a:t>
            </a:r>
          </a:p>
        </p:txBody>
      </p:sp>
      <p:cxnSp>
        <p:nvCxnSpPr>
          <p:cNvPr id="16" name="Connector 15"/>
          <p:cNvCxnSpPr/>
          <p:nvPr/>
        </p:nvCxnSpPr>
        <p:spPr>
          <a:xfrm>
            <a:off x="56144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Each component exposes a typed boundary and run state.</a:t>
            </a:r>
          </a:p>
        </p:txBody>
      </p:sp>
      <p:cxnSp>
        <p:nvCxnSpPr>
          <p:cNvPr id="21" name="Connector 20"/>
          <p:cNvCxnSpPr/>
          <p:nvPr/>
        </p:nvCxnSpPr>
        <p:spPr>
          <a:xfrm>
            <a:off x="83576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Run history provides repeatability and failure evidence.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101</a:t>
            </a:r>
          </a:p>
        </p:txBody>
      </p:sp>
    </p:spTree>
  </p:cSld>
  <p:clrMapOvr>
    <a:masterClrMapping/>
  </p:clrMapOvr>
  <p:transition spd="fast">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098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Add Training Modules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Add Training Modules.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Define the acceptance threshold and human-review route.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102</a:t>
            </a:r>
          </a:p>
        </p:txBody>
      </p:sp>
    </p:spTree>
  </p:cSld>
  <p:clrMapOvr>
    <a:masterClrMapping/>
  </p:clrMapOvr>
  <p:transition spd="fast">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099 ·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Run the Training Pipeline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 pipeline connects versioned inputs to transformations and outputs.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Each component exposes a typed boundary and run state.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Run history provides repeatability and failure evidence.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Deploy only a validated inference path.</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103</a:t>
            </a:r>
          </a:p>
        </p:txBody>
      </p:sp>
    </p:spTree>
  </p:cSld>
  <p:clrMapOvr>
    <a:masterClrMapping/>
  </p:clrMapOvr>
  <p:transition spd="fast">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100 ·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Create an Inference Pipeline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pipeline connects versioned inputs to transformations and outputs.</a:t>
            </a:r>
          </a:p>
        </p:txBody>
      </p:sp>
      <p:cxnSp>
        <p:nvCxnSpPr>
          <p:cNvPr id="11" name="Connector 10"/>
          <p:cNvCxnSpPr/>
          <p:nvPr/>
        </p:nvCxnSpPr>
        <p:spPr>
          <a:xfrm>
            <a:off x="2871215" y="3310128"/>
            <a:ext cx="475489"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Each component exposes a typed boundary and run state.</a:t>
            </a:r>
          </a:p>
        </p:txBody>
      </p:sp>
      <p:cxnSp>
        <p:nvCxnSpPr>
          <p:cNvPr id="16" name="Connector 15"/>
          <p:cNvCxnSpPr/>
          <p:nvPr/>
        </p:nvCxnSpPr>
        <p:spPr>
          <a:xfrm>
            <a:off x="56144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Run history provides repeatability and failure evidence.</a:t>
            </a:r>
          </a:p>
        </p:txBody>
      </p:sp>
      <p:cxnSp>
        <p:nvCxnSpPr>
          <p:cNvPr id="21" name="Connector 20"/>
          <p:cNvCxnSpPr/>
          <p:nvPr/>
        </p:nvCxnSpPr>
        <p:spPr>
          <a:xfrm>
            <a:off x="83576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Deploy only a validated inference path.</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104</a:t>
            </a:r>
          </a:p>
        </p:txBody>
      </p:sp>
    </p:spTree>
  </p:cSld>
  <p:clrMapOvr>
    <a:masterClrMapping/>
  </p:clrMapOvr>
  <p:transition spd="fast">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101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Open Evaluation Outputs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Confusion Matrix.</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Open Evaluation Outputs.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105</a:t>
            </a:r>
          </a:p>
        </p:txBody>
      </p:sp>
    </p:spTree>
  </p:cSld>
  <p:clrMapOvr>
    <a:masterClrMapping/>
  </p:clrMapOvr>
  <p:transition spd="fast">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102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Confusion Matrix</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The confusion matrix is a tool used to assess the quality of a classification model's predictions.</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It compares predicted labels against actual labels.</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True Positive: The model predicts the patient has diabetes, and the patient does actually have diabetes.</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106</a:t>
            </a:r>
          </a:p>
        </p:txBody>
      </p:sp>
    </p:spTree>
  </p:cSld>
  <p:clrMapOvr>
    <a:masterClrMapping/>
  </p:clrMapOvr>
  <p:transition spd="fast">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103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Read a Confusion Matrix</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Confusion Matrix.</a:t>
            </a:r>
          </a:p>
        </p:txBody>
      </p:sp>
      <p:cxnSp>
        <p:nvCxnSpPr>
          <p:cNvPr id="11" name="Connector 10"/>
          <p:cNvCxnSpPr/>
          <p:nvPr/>
        </p:nvCxnSpPr>
        <p:spPr>
          <a:xfrm>
            <a:off x="2871215" y="3310128"/>
            <a:ext cx="475489"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Rows represent actual classes; columns represent predicted classes.</a:t>
            </a:r>
          </a:p>
        </p:txBody>
      </p:sp>
      <p:cxnSp>
        <p:nvCxnSpPr>
          <p:cNvPr id="16" name="Connector 15"/>
          <p:cNvCxnSpPr/>
          <p:nvPr/>
        </p:nvCxnSpPr>
        <p:spPr>
          <a:xfrm>
            <a:off x="56144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True positives and true negatives are correct predictions.</a:t>
            </a:r>
          </a:p>
        </p:txBody>
      </p:sp>
      <p:cxnSp>
        <p:nvCxnSpPr>
          <p:cNvPr id="21" name="Connector 20"/>
          <p:cNvCxnSpPr/>
          <p:nvPr/>
        </p:nvCxnSpPr>
        <p:spPr>
          <a:xfrm>
            <a:off x="83576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False positives and false negatives are different operational risks.</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107</a:t>
            </a:r>
          </a:p>
        </p:txBody>
      </p:sp>
    </p:spTree>
  </p:cSld>
  <p:clrMapOvr>
    <a:masterClrMapping/>
  </p:clrMapOvr>
  <p:transition spd="fast">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104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Confusion Matrix Worked Example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Confusion Matrix Example.</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Rows represent actual classes; columns represent predicted classes.</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True positives and true negatives are correct predictions.</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108</a:t>
            </a:r>
          </a:p>
        </p:txBody>
      </p:sp>
    </p:spTree>
  </p:cSld>
  <p:clrMapOvr>
    <a:masterClrMapping/>
  </p:clrMapOvr>
  <p:transition spd="fast">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105 · FORMULA</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Metrics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Accuracy: The number of correct predictions (true positives + true negatives) divided by the total number of predictions.</a:t>
            </a:r>
          </a:p>
        </p:txBody>
      </p:sp>
      <p:cxnSp>
        <p:nvCxnSpPr>
          <p:cNvPr id="11" name="Connector 10"/>
          <p:cNvCxnSpPr/>
          <p:nvPr/>
        </p:nvCxnSpPr>
        <p:spPr>
          <a:xfrm>
            <a:off x="2871215" y="3310128"/>
            <a:ext cx="475489"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Recall: The fraction of positive cases correctly identified: the number of true positives divided by (the number of true positives plus false negatives).</a:t>
            </a:r>
          </a:p>
        </p:txBody>
      </p:sp>
      <p:cxnSp>
        <p:nvCxnSpPr>
          <p:cNvPr id="16" name="Connector 15"/>
          <p:cNvCxnSpPr/>
          <p:nvPr/>
        </p:nvCxnSpPr>
        <p:spPr>
          <a:xfrm>
            <a:off x="56144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F1 Score: An overall metric that essentially combines precision and recall.</a:t>
            </a:r>
          </a:p>
        </p:txBody>
      </p:sp>
      <p:cxnSp>
        <p:nvCxnSpPr>
          <p:cNvPr id="21" name="Connector 20"/>
          <p:cNvCxnSpPr/>
          <p:nvPr/>
        </p:nvCxnSpPr>
        <p:spPr>
          <a:xfrm>
            <a:off x="83576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Metrics.</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109</a:t>
            </a:r>
          </a:p>
        </p:txBody>
      </p:sp>
    </p:spTree>
  </p:cSld>
  <p:clrMapOvr>
    <a:masterClrMapping/>
  </p:clrMapOvr>
  <p:transition spd="fast">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106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Accuracy</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Accuracy = (TP + TN) / all cases.</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It summarizes the fraction of correct predictions.</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Class imbalance can make accuracy misleading.</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110</a:t>
            </a:r>
          </a:p>
        </p:txBody>
      </p:sp>
    </p:spTree>
  </p:cSld>
  <p:clrMapOvr>
    <a:masterClrMapping/>
  </p:clrMapOvr>
  <p:transition spd="fast">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107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Precision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Precision = TP / (TP + FP).</a:t>
            </a:r>
          </a:p>
        </p:txBody>
      </p:sp>
      <p:cxnSp>
        <p:nvCxnSpPr>
          <p:cNvPr id="11" name="Connector 10"/>
          <p:cNvCxnSpPr/>
          <p:nvPr/>
        </p:nvCxnSpPr>
        <p:spPr>
          <a:xfrm>
            <a:off x="2871215" y="3310128"/>
            <a:ext cx="475489"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It asks: of predicted positives, how many were correct?</a:t>
            </a:r>
          </a:p>
        </p:txBody>
      </p:sp>
      <p:cxnSp>
        <p:nvCxnSpPr>
          <p:cNvPr id="16" name="Connector 15"/>
          <p:cNvCxnSpPr/>
          <p:nvPr/>
        </p:nvCxnSpPr>
        <p:spPr>
          <a:xfrm>
            <a:off x="56144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Prioritize it when false positives are costly.</a:t>
            </a:r>
          </a:p>
        </p:txBody>
      </p:sp>
      <p:cxnSp>
        <p:nvCxnSpPr>
          <p:cNvPr id="21" name="Connector 20"/>
          <p:cNvCxnSpPr/>
          <p:nvPr/>
        </p:nvCxnSpPr>
        <p:spPr>
          <a:xfrm>
            <a:off x="83576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Report the class, threshold and validation population.</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111</a:t>
            </a:r>
          </a:p>
        </p:txBody>
      </p:sp>
    </p:spTree>
  </p:cSld>
  <p:clrMapOvr>
    <a:masterClrMapping/>
  </p:clrMapOvr>
  <p:transition spd="fast">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108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Recall or Sensitivity</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Recall = TP / (TP + FN).</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It asks: of actual positives, how many were found?</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Prioritize it when missed positives are costly.</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112</a:t>
            </a:r>
          </a:p>
        </p:txBody>
      </p:sp>
    </p:spTree>
  </p:cSld>
  <p:clrMapOvr>
    <a:masterClrMapping/>
  </p:clrMapOvr>
  <p:transition spd="fast">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109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Specificity</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Specificity = TN / (TN + FP).</a:t>
            </a:r>
          </a:p>
        </p:txBody>
      </p:sp>
      <p:cxnSp>
        <p:nvCxnSpPr>
          <p:cNvPr id="11" name="Connector 10"/>
          <p:cNvCxnSpPr/>
          <p:nvPr/>
        </p:nvCxnSpPr>
        <p:spPr>
          <a:xfrm>
            <a:off x="2871215" y="3310128"/>
            <a:ext cx="475489"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It measures how well actual negatives are rejected.</a:t>
            </a:r>
          </a:p>
        </p:txBody>
      </p:sp>
      <p:cxnSp>
        <p:nvCxnSpPr>
          <p:cNvPr id="16" name="Connector 15"/>
          <p:cNvCxnSpPr/>
          <p:nvPr/>
        </p:nvCxnSpPr>
        <p:spPr>
          <a:xfrm>
            <a:off x="56144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Low specificity produces excessive false alarms.</a:t>
            </a:r>
          </a:p>
        </p:txBody>
      </p:sp>
      <p:cxnSp>
        <p:nvCxnSpPr>
          <p:cNvPr id="21" name="Connector 20"/>
          <p:cNvCxnSpPr/>
          <p:nvPr/>
        </p:nvCxnSpPr>
        <p:spPr>
          <a:xfrm>
            <a:off x="83576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Validate it with recall and the selected threshold.</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113</a:t>
            </a:r>
          </a:p>
        </p:txBody>
      </p:sp>
    </p:spTree>
  </p:cSld>
  <p:clrMapOvr>
    <a:masterClrMapping/>
  </p:clrMapOvr>
  <p:transition spd="fast">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110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F1 Score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F1 = 2 × precision × recall / (precision + recall).</a:t>
            </a:r>
          </a:p>
        </p:txBody>
      </p:sp>
      <p:cxnSp>
        <p:nvCxnSpPr>
          <p:cNvPr id="11" name="Connector 10"/>
          <p:cNvCxnSpPr/>
          <p:nvPr/>
        </p:nvCxnSpPr>
        <p:spPr>
          <a:xfrm>
            <a:off x="2871215" y="3310128"/>
            <a:ext cx="475489"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It balances precision and recall through a harmonic mean.</a:t>
            </a:r>
          </a:p>
        </p:txBody>
      </p:sp>
      <p:cxnSp>
        <p:nvCxnSpPr>
          <p:cNvPr id="16" name="Connector 15"/>
          <p:cNvCxnSpPr/>
          <p:nvPr/>
        </p:nvCxnSpPr>
        <p:spPr>
          <a:xfrm>
            <a:off x="56144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Use it when both false-positive and false-negative costs matter.</a:t>
            </a:r>
          </a:p>
        </p:txBody>
      </p:sp>
      <p:cxnSp>
        <p:nvCxnSpPr>
          <p:cNvPr id="21" name="Connector 20"/>
          <p:cNvCxnSpPr/>
          <p:nvPr/>
        </p:nvCxnSpPr>
        <p:spPr>
          <a:xfrm>
            <a:off x="83576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Retain the underlying confusion-matrix counts.</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114</a:t>
            </a:r>
          </a:p>
        </p:txBody>
      </p:sp>
    </p:spTree>
  </p:cSld>
  <p:clrMapOvr>
    <a:masterClrMapping/>
  </p:clrMapOvr>
  <p:transition spd="fast">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111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Threshold</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Designer has a useful threshold slider for reviewing how the model performance would change depending on the set threshold.</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A score threshold converts probability into a class decision.</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Lower thresholds usually increase recall and false positives.</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115</a:t>
            </a:r>
          </a:p>
        </p:txBody>
      </p:sp>
    </p:spTree>
  </p:cSld>
  <p:clrMapOvr>
    <a:masterClrMapping/>
  </p:clrMapOvr>
  <p:transition spd="fast">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112 · FORMULA</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Threshold</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score threshold converts probability into a class decision.</a:t>
            </a:r>
          </a:p>
        </p:txBody>
      </p:sp>
      <p:cxnSp>
        <p:nvCxnSpPr>
          <p:cNvPr id="11" name="Connector 10"/>
          <p:cNvCxnSpPr/>
          <p:nvPr/>
        </p:nvCxnSpPr>
        <p:spPr>
          <a:xfrm>
            <a:off x="2871215" y="3310128"/>
            <a:ext cx="475489"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Lower thresholds usually increase recall and false positives.</a:t>
            </a:r>
          </a:p>
        </p:txBody>
      </p:sp>
      <p:cxnSp>
        <p:nvCxnSpPr>
          <p:cNvPr id="16" name="Connector 15"/>
          <p:cNvCxnSpPr/>
          <p:nvPr/>
        </p:nvCxnSpPr>
        <p:spPr>
          <a:xfrm>
            <a:off x="56144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Higher thresholds usually increase precision and false negatives.</a:t>
            </a:r>
          </a:p>
        </p:txBody>
      </p:sp>
      <p:cxnSp>
        <p:nvCxnSpPr>
          <p:cNvPr id="21" name="Connector 20"/>
          <p:cNvCxnSpPr/>
          <p:nvPr/>
        </p:nvCxnSpPr>
        <p:spPr>
          <a:xfrm>
            <a:off x="83576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Choose the operating point from business risk and evidence.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116</a:t>
            </a:r>
          </a:p>
        </p:txBody>
      </p:sp>
    </p:spTree>
  </p:cSld>
  <p:clrMapOvr>
    <a:masterClrMapping/>
  </p:clrMapOvr>
  <p:transition spd="fast">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113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ROC</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Plotting these metrics against each other for every possible threshold value between 0 and 1 results in a curve, known as the ROC curve.</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ROC plots true-positive rate against false-positive rate.</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Each point represents a different classification threshold.</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117</a:t>
            </a:r>
          </a:p>
        </p:txBody>
      </p:sp>
    </p:spTree>
  </p:cSld>
  <p:clrMapOvr>
    <a:masterClrMapping/>
  </p:clrMapOvr>
  <p:transition spd="fast">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114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ROC</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ROC plots true-positive rate against false-positive rate.</a:t>
            </a:r>
          </a:p>
        </p:txBody>
      </p:sp>
      <p:cxnSp>
        <p:nvCxnSpPr>
          <p:cNvPr id="11" name="Connector 10"/>
          <p:cNvCxnSpPr/>
          <p:nvPr/>
        </p:nvCxnSpPr>
        <p:spPr>
          <a:xfrm>
            <a:off x="2871215" y="3310128"/>
            <a:ext cx="475489"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Each point represents a different classification threshold.</a:t>
            </a:r>
          </a:p>
        </p:txBody>
      </p:sp>
      <p:cxnSp>
        <p:nvCxnSpPr>
          <p:cNvPr id="16" name="Connector 15"/>
          <p:cNvCxnSpPr/>
          <p:nvPr/>
        </p:nvCxnSpPr>
        <p:spPr>
          <a:xfrm>
            <a:off x="56144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curve near the upper-left indicates stronger separation.</a:t>
            </a:r>
          </a:p>
        </p:txBody>
      </p:sp>
      <p:cxnSp>
        <p:nvCxnSpPr>
          <p:cNvPr id="21" name="Connector 20"/>
          <p:cNvCxnSpPr/>
          <p:nvPr/>
        </p:nvCxnSpPr>
        <p:spPr>
          <a:xfrm>
            <a:off x="83576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Choose an operating point; AUC alone does not set the threshold.</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118</a:t>
            </a:r>
          </a:p>
        </p:txBody>
      </p:sp>
    </p:spTree>
  </p:cSld>
  <p:clrMapOvr>
    <a:masterClrMapping/>
  </p:clrMapOvr>
  <p:transition spd="fast">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115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AUC</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In an ideal model, the curve would go all the way up the left side and across the top, so that it covers the full area of the chart.</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The larger the area under the curve, of AUC metric, (which can be any value from 0 to 1), the better the model is performing.</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AUC summarizes ranking performance across thresholds.</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119</a:t>
            </a:r>
          </a:p>
        </p:txBody>
      </p:sp>
    </p:spTree>
  </p:cSld>
  <p:clrMapOvr>
    <a:masterClrMapping/>
  </p:clrMapOvr>
  <p:transition spd="fast">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116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Activity: Classification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Features map to one of two or more categorical labels.</a:t>
            </a:r>
          </a:p>
        </p:txBody>
      </p:sp>
      <p:cxnSp>
        <p:nvCxnSpPr>
          <p:cNvPr id="11" name="Connector 10"/>
          <p:cNvCxnSpPr/>
          <p:nvPr/>
        </p:nvCxnSpPr>
        <p:spPr>
          <a:xfrm>
            <a:off x="2871215" y="3310128"/>
            <a:ext cx="475489"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The model emits class scores or probabilities.</a:t>
            </a:r>
          </a:p>
        </p:txBody>
      </p:sp>
      <p:cxnSp>
        <p:nvCxnSpPr>
          <p:cNvPr id="16" name="Connector 15"/>
          <p:cNvCxnSpPr/>
          <p:nvPr/>
        </p:nvCxnSpPr>
        <p:spPr>
          <a:xfrm>
            <a:off x="56144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threshold converts scores into predicted labels.</a:t>
            </a:r>
          </a:p>
        </p:txBody>
      </p:sp>
      <p:cxnSp>
        <p:nvCxnSpPr>
          <p:cNvPr id="21" name="Connector 20"/>
          <p:cNvCxnSpPr/>
          <p:nvPr/>
        </p:nvCxnSpPr>
        <p:spPr>
          <a:xfrm>
            <a:off x="83576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Validate with a confusion matrix and class-specific metrics.</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120</a:t>
            </a:r>
          </a:p>
        </p:txBody>
      </p:sp>
    </p:spTree>
  </p:cSld>
  <p:clrMapOvr>
    <a:masterClrMapping/>
  </p:clrMapOvr>
  <p:transition spd="fast">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117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Iris Flower Dataset</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setosa (0).</a:t>
            </a:r>
          </a:p>
        </p:txBody>
      </p:sp>
      <p:cxnSp>
        <p:nvCxnSpPr>
          <p:cNvPr id="11" name="Connector 10"/>
          <p:cNvCxnSpPr/>
          <p:nvPr/>
        </p:nvCxnSpPr>
        <p:spPr>
          <a:xfrm>
            <a:off x="2871215" y="3310128"/>
            <a:ext cx="475489"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versicolor (1).</a:t>
            </a:r>
          </a:p>
        </p:txBody>
      </p:sp>
      <p:cxnSp>
        <p:nvCxnSpPr>
          <p:cNvPr id="16" name="Connector 15"/>
          <p:cNvCxnSpPr/>
          <p:nvPr/>
        </p:nvCxnSpPr>
        <p:spPr>
          <a:xfrm>
            <a:off x="56144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virginica (2).</a:t>
            </a:r>
          </a:p>
        </p:txBody>
      </p:sp>
      <p:cxnSp>
        <p:nvCxnSpPr>
          <p:cNvPr id="21" name="Connector 20"/>
          <p:cNvCxnSpPr/>
          <p:nvPr/>
        </p:nvCxnSpPr>
        <p:spPr>
          <a:xfrm>
            <a:off x="83576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Iris flower dataset, introduced in 1936 by Sir Ronald Fisher.</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121</a:t>
            </a:r>
          </a:p>
        </p:txBody>
      </p:sp>
    </p:spTree>
  </p:cSld>
  <p:clrMapOvr>
    <a:masterClrMapping/>
  </p:clrMapOvr>
  <p:transition spd="fast">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118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Iris Flower Dataset</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Identify the input contract for Iris Flower Dataset.</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Trace the processing component and its state change.</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Capture a named output, metric or observable artifact.</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122</a:t>
            </a:r>
          </a:p>
        </p:txBody>
      </p:sp>
    </p:spTree>
  </p:cSld>
  <p:clrMapOvr>
    <a:masterClrMapping/>
  </p:clrMapOvr>
  <p:transition spd="fast">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119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Hint for Activity</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Identify the input contract for Hint for Activity.</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Trace the processing component and its state change.</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Capture a named output, metric or observable artifact.</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123</a:t>
            </a:r>
          </a:p>
        </p:txBody>
      </p:sp>
    </p:spTree>
  </p:cSld>
  <p:clrMapOvr>
    <a:masterClrMapping/>
  </p:clrMapOvr>
  <p:transition spd="fast">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920240"/>
            <a:ext cx="8046720" cy="320040"/>
          </a:xfrm>
          <a:prstGeom prst="rect">
            <a:avLst/>
          </a:prstGeom>
          <a:noFill/>
        </p:spPr>
        <p:txBody>
          <a:bodyPr wrap="square" anchor="t" lIns="45720" rIns="45720" tIns="27432" bIns="27432">
            <a:spAutoFit/>
          </a:bodyPr>
          <a:lstStyle/>
          <a:p>
            <a:pPr algn="l">
              <a:spcAft>
                <a:spcPts val="0"/>
              </a:spcAft>
            </a:pPr>
            <a:r>
              <a:rPr sz="1300" b="1">
                <a:solidFill>
                  <a:srgbClr val="F59E0B"/>
                </a:solidFill>
                <a:latin typeface="Arial"/>
              </a:rPr>
              <a:t>LEGACY COVERAGE · SLIDE 120</a:t>
            </a:r>
          </a:p>
        </p:txBody>
      </p:sp>
      <p:sp>
        <p:nvSpPr>
          <p:cNvPr id="5" name="TextBox 4"/>
          <p:cNvSpPr txBox="1"/>
          <p:nvPr/>
        </p:nvSpPr>
        <p:spPr>
          <a:xfrm>
            <a:off x="822960" y="2423160"/>
            <a:ext cx="9875520" cy="1234440"/>
          </a:xfrm>
          <a:prstGeom prst="rect">
            <a:avLst/>
          </a:prstGeom>
          <a:noFill/>
        </p:spPr>
        <p:txBody>
          <a:bodyPr wrap="square" anchor="t" lIns="45720" rIns="45720" tIns="27432" bIns="27432">
            <a:spAutoFit/>
          </a:bodyPr>
          <a:lstStyle/>
          <a:p>
            <a:pPr algn="l">
              <a:spcAft>
                <a:spcPts val="0"/>
              </a:spcAft>
            </a:pPr>
            <a:r>
              <a:rPr sz="3800" b="1">
                <a:solidFill>
                  <a:srgbClr val="161B26"/>
                </a:solidFill>
                <a:latin typeface="Arial"/>
              </a:rPr>
              <a:t>Clustering</a:t>
            </a:r>
          </a:p>
        </p:txBody>
      </p:sp>
      <p:sp>
        <p:nvSpPr>
          <p:cNvPr id="6" name="Rectangle 5"/>
          <p:cNvSpPr/>
          <p:nvPr/>
        </p:nvSpPr>
        <p:spPr>
          <a:xfrm>
            <a:off x="822960" y="3913632"/>
            <a:ext cx="228600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731520"/>
            <a:ext cx="1645920" cy="1097280"/>
          </a:xfrm>
          <a:prstGeom prst="rect">
            <a:avLst/>
          </a:prstGeom>
          <a:noFill/>
        </p:spPr>
        <p:txBody>
          <a:bodyPr wrap="square" anchor="t" lIns="45720" rIns="45720" tIns="27432" bIns="27432">
            <a:spAutoFit/>
          </a:bodyPr>
          <a:lstStyle/>
          <a:p>
            <a:pPr algn="r">
              <a:spcAft>
                <a:spcPts val="0"/>
              </a:spcAft>
            </a:pPr>
            <a:r>
              <a:rPr sz="6400" b="1">
                <a:solidFill>
                  <a:srgbClr val="D7E0EA"/>
                </a:solidFill>
                <a:latin typeface="Arial"/>
              </a:rPr>
              <a:t>120</a:t>
            </a:r>
          </a:p>
        </p:txBody>
      </p:sp>
      <p:sp>
        <p:nvSpPr>
          <p:cNvPr id="8" name="TextBox 7"/>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9" name="TextBox 8"/>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10" name="TextBox 9"/>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124</a:t>
            </a:r>
          </a:p>
        </p:txBody>
      </p:sp>
    </p:spTree>
  </p:cSld>
  <p:clrMapOvr>
    <a:masterClrMapping/>
  </p:clrMapOvr>
  <p:transition spd="fast">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121 · CASE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Clustering Example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Clustering groups unlabeled records by similarity.</a:t>
            </a:r>
          </a:p>
        </p:txBody>
      </p:sp>
      <p:cxnSp>
        <p:nvCxnSpPr>
          <p:cNvPr id="11" name="Connector 10"/>
          <p:cNvCxnSpPr/>
          <p:nvPr/>
        </p:nvCxnSpPr>
        <p:spPr>
          <a:xfrm>
            <a:off x="2871215" y="3310128"/>
            <a:ext cx="475489"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Feature scaling changes the distance geometry.</a:t>
            </a:r>
          </a:p>
        </p:txBody>
      </p:sp>
      <p:cxnSp>
        <p:nvCxnSpPr>
          <p:cNvPr id="16" name="Connector 15"/>
          <p:cNvCxnSpPr/>
          <p:nvPr/>
        </p:nvCxnSpPr>
        <p:spPr>
          <a:xfrm>
            <a:off x="56144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Cluster IDs are not predefined business labels.</a:t>
            </a:r>
          </a:p>
        </p:txBody>
      </p:sp>
      <p:cxnSp>
        <p:nvCxnSpPr>
          <p:cNvPr id="21" name="Connector 20"/>
          <p:cNvCxnSpPr/>
          <p:nvPr/>
        </p:nvCxnSpPr>
        <p:spPr>
          <a:xfrm>
            <a:off x="83576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Profile and validate each cluster before operational use.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125</a:t>
            </a:r>
          </a:p>
        </p:txBody>
      </p:sp>
    </p:spTree>
  </p:cSld>
  <p:clrMapOvr>
    <a:masterClrMapping/>
  </p:clrMapOvr>
  <p:transition spd="fast">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122 ·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Create a Pipeline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pipeline connects versioned inputs to transformations and outputs.</a:t>
            </a:r>
          </a:p>
        </p:txBody>
      </p:sp>
      <p:cxnSp>
        <p:nvCxnSpPr>
          <p:cNvPr id="11" name="Connector 10"/>
          <p:cNvCxnSpPr/>
          <p:nvPr/>
        </p:nvCxnSpPr>
        <p:spPr>
          <a:xfrm>
            <a:off x="2871215" y="3310128"/>
            <a:ext cx="475489"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Each component exposes a typed boundary and run state.</a:t>
            </a:r>
          </a:p>
        </p:txBody>
      </p:sp>
      <p:cxnSp>
        <p:nvCxnSpPr>
          <p:cNvPr id="16" name="Connector 15"/>
          <p:cNvCxnSpPr/>
          <p:nvPr/>
        </p:nvCxnSpPr>
        <p:spPr>
          <a:xfrm>
            <a:off x="56144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Run history provides repeatability and failure evidence.</a:t>
            </a:r>
          </a:p>
        </p:txBody>
      </p:sp>
      <p:cxnSp>
        <p:nvCxnSpPr>
          <p:cNvPr id="21" name="Connector 20"/>
          <p:cNvCxnSpPr/>
          <p:nvPr/>
        </p:nvCxnSpPr>
        <p:spPr>
          <a:xfrm>
            <a:off x="83576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Deploy only a validated inference path.</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126</a:t>
            </a:r>
          </a:p>
        </p:txBody>
      </p:sp>
    </p:spTree>
  </p:cSld>
  <p:clrMapOvr>
    <a:masterClrMapping/>
  </p:clrMapOvr>
  <p:transition spd="fast">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123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Add Data Transformations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Add Data Transformations.</a:t>
            </a:r>
          </a:p>
        </p:txBody>
      </p:sp>
      <p:cxnSp>
        <p:nvCxnSpPr>
          <p:cNvPr id="11" name="Connector 10"/>
          <p:cNvCxnSpPr/>
          <p:nvPr/>
        </p:nvCxnSpPr>
        <p:spPr>
          <a:xfrm>
            <a:off x="2871215" y="3310128"/>
            <a:ext cx="475489"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Trace the processing component and its state change.</a:t>
            </a:r>
          </a:p>
        </p:txBody>
      </p:sp>
      <p:cxnSp>
        <p:nvCxnSpPr>
          <p:cNvPr id="16" name="Connector 15"/>
          <p:cNvCxnSpPr/>
          <p:nvPr/>
        </p:nvCxnSpPr>
        <p:spPr>
          <a:xfrm>
            <a:off x="56144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Capture a named output, metric or observable artifact.</a:t>
            </a:r>
          </a:p>
        </p:txBody>
      </p:sp>
      <p:cxnSp>
        <p:nvCxnSpPr>
          <p:cNvPr id="21" name="Connector 20"/>
          <p:cNvCxnSpPr/>
          <p:nvPr/>
        </p:nvCxnSpPr>
        <p:spPr>
          <a:xfrm>
            <a:off x="83576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Define the acceptance threshold and human-review route.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127</a:t>
            </a:r>
          </a:p>
        </p:txBody>
      </p:sp>
    </p:spTree>
  </p:cSld>
  <p:clrMapOvr>
    <a:masterClrMapping/>
  </p:clrMapOvr>
  <p:transition spd="fast">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124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Select Columns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Select Columns.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Define the acceptance threshold and human-review route.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128</a:t>
            </a:r>
          </a:p>
        </p:txBody>
      </p:sp>
    </p:spTree>
  </p:cSld>
  <p:clrMapOvr>
    <a:masterClrMapping/>
  </p:clrMapOvr>
  <p:transition spd="fast">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125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Clean Missing Data</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Clean Missing Data.</a:t>
            </a:r>
          </a:p>
        </p:txBody>
      </p:sp>
      <p:cxnSp>
        <p:nvCxnSpPr>
          <p:cNvPr id="11" name="Connector 10"/>
          <p:cNvCxnSpPr/>
          <p:nvPr/>
        </p:nvCxnSpPr>
        <p:spPr>
          <a:xfrm>
            <a:off x="2871215" y="3310128"/>
            <a:ext cx="475489"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Trace the processing component and its state change.</a:t>
            </a:r>
          </a:p>
        </p:txBody>
      </p:sp>
      <p:cxnSp>
        <p:nvCxnSpPr>
          <p:cNvPr id="16" name="Connector 15"/>
          <p:cNvCxnSpPr/>
          <p:nvPr/>
        </p:nvCxnSpPr>
        <p:spPr>
          <a:xfrm>
            <a:off x="56144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Capture a named output, metric or observable artifact.</a:t>
            </a:r>
          </a:p>
        </p:txBody>
      </p:sp>
      <p:cxnSp>
        <p:nvCxnSpPr>
          <p:cNvPr id="21" name="Connector 20"/>
          <p:cNvCxnSpPr/>
          <p:nvPr/>
        </p:nvCxnSpPr>
        <p:spPr>
          <a:xfrm>
            <a:off x="83576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Define the acceptance threshold and human-review route.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129</a:t>
            </a:r>
          </a:p>
        </p:txBody>
      </p:sp>
    </p:spTree>
  </p:cSld>
  <p:clrMapOvr>
    <a:masterClrMapping/>
  </p:clrMapOvr>
  <p:transition spd="fast">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126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Normalize Data</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Normalize Data.</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Define the acceptance threshold and human-review route.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130</a:t>
            </a:r>
          </a:p>
        </p:txBody>
      </p:sp>
    </p:spTree>
  </p:cSld>
  <p:clrMapOvr>
    <a:masterClrMapping/>
  </p:clrMapOvr>
  <p:transition spd="fast">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127 ·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Run the Pipeline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 pipeline connects versioned inputs to transformations and outputs.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Each component exposes a typed boundary and run state.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Run history provides repeatability and failure evidence.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Deploy only a validated inference path.</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131</a:t>
            </a:r>
          </a:p>
        </p:txBody>
      </p:sp>
    </p:spTree>
  </p:cSld>
  <p:clrMapOvr>
    <a:masterClrMapping/>
  </p:clrMapOvr>
  <p:transition spd="fast">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128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Add Training Modules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Add Training Modules.</a:t>
            </a:r>
          </a:p>
        </p:txBody>
      </p:sp>
      <p:cxnSp>
        <p:nvCxnSpPr>
          <p:cNvPr id="11" name="Connector 10"/>
          <p:cNvCxnSpPr/>
          <p:nvPr/>
        </p:nvCxnSpPr>
        <p:spPr>
          <a:xfrm>
            <a:off x="2871215" y="3310128"/>
            <a:ext cx="475489"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Trace the processing component and its state change.</a:t>
            </a:r>
          </a:p>
        </p:txBody>
      </p:sp>
      <p:cxnSp>
        <p:nvCxnSpPr>
          <p:cNvPr id="16" name="Connector 15"/>
          <p:cNvCxnSpPr/>
          <p:nvPr/>
        </p:nvCxnSpPr>
        <p:spPr>
          <a:xfrm>
            <a:off x="56144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Capture a named output, metric or observable artifact.</a:t>
            </a:r>
          </a:p>
        </p:txBody>
      </p:sp>
      <p:cxnSp>
        <p:nvCxnSpPr>
          <p:cNvPr id="21" name="Connector 20"/>
          <p:cNvCxnSpPr/>
          <p:nvPr/>
        </p:nvCxnSpPr>
        <p:spPr>
          <a:xfrm>
            <a:off x="83576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Define the acceptance threshold and human-review route.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132</a:t>
            </a:r>
          </a:p>
        </p:txBody>
      </p:sp>
    </p:spTree>
  </p:cSld>
  <p:clrMapOvr>
    <a:masterClrMapping/>
  </p:clrMapOvr>
  <p:transition spd="fast">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129 ·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Run the Training Pipeline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 pipeline connects versioned inputs to transformations and outputs.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Each component exposes a typed boundary and run state.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Run history provides repeatability and failure evidence.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Deploy only a validated inference path.</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133</a:t>
            </a:r>
          </a:p>
        </p:txBody>
      </p:sp>
    </p:spTree>
  </p:cSld>
  <p:clrMapOvr>
    <a:masterClrMapping/>
  </p:clrMapOvr>
  <p:transition spd="fast">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130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Evaluate a Clustering Model</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Clustering groups unlabeled records by similarity.</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Feature scaling changes the distance geometry.</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Cluster IDs are not predefined business labels.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Profile and validate each cluster before operational use.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134</a:t>
            </a:r>
          </a:p>
        </p:txBody>
      </p:sp>
    </p:spTree>
  </p:cSld>
  <p:clrMapOvr>
    <a:masterClrMapping/>
  </p:clrMapOvr>
  <p:transition spd="fast">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131 ·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Create an Inference Pipeline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pipeline connects versioned inputs to transformations and outputs.</a:t>
            </a:r>
          </a:p>
        </p:txBody>
      </p:sp>
      <p:cxnSp>
        <p:nvCxnSpPr>
          <p:cNvPr id="11" name="Connector 10"/>
          <p:cNvCxnSpPr/>
          <p:nvPr/>
        </p:nvCxnSpPr>
        <p:spPr>
          <a:xfrm>
            <a:off x="2871215" y="3310128"/>
            <a:ext cx="475489"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Each component exposes a typed boundary and run state.</a:t>
            </a:r>
          </a:p>
        </p:txBody>
      </p:sp>
      <p:cxnSp>
        <p:nvCxnSpPr>
          <p:cNvPr id="16" name="Connector 15"/>
          <p:cNvCxnSpPr/>
          <p:nvPr/>
        </p:nvCxnSpPr>
        <p:spPr>
          <a:xfrm>
            <a:off x="56144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Run history provides repeatability and failure evidence.</a:t>
            </a:r>
          </a:p>
        </p:txBody>
      </p:sp>
      <p:cxnSp>
        <p:nvCxnSpPr>
          <p:cNvPr id="21" name="Connector 20"/>
          <p:cNvCxnSpPr/>
          <p:nvPr/>
        </p:nvCxnSpPr>
        <p:spPr>
          <a:xfrm>
            <a:off x="83576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Deploy only a validated inference path.</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135</a:t>
            </a:r>
          </a:p>
        </p:txBody>
      </p:sp>
    </p:spTree>
  </p:cSld>
  <p:clrMapOvr>
    <a:masterClrMapping/>
  </p:clrMapOvr>
  <p:transition spd="fast">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132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Test the Service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Test the Service.</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Define the acceptance threshold and human-review route.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136</a:t>
            </a:r>
          </a:p>
        </p:txBody>
      </p:sp>
    </p:spTree>
  </p:cSld>
  <p:clrMapOvr>
    <a:masterClrMapping/>
  </p:clrMapOvr>
  <p:transition spd="fast">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133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What is Azure Automated Machine Learning?</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These automated capabilities use the power of cloud compute to find the best performing supervised machine learning model for your data.</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What is Azure Automated Machine Learning?.</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137</a:t>
            </a:r>
          </a:p>
        </p:txBody>
      </p:sp>
    </p:spTree>
  </p:cSld>
  <p:clrMapOvr>
    <a:masterClrMapping/>
  </p:clrMapOvr>
  <p:transition spd="fast">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134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Understand the AutoML process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Select a supported ML task, versioned data asset and target column.</a:t>
            </a:r>
          </a:p>
        </p:txBody>
      </p:sp>
      <p:cxnSp>
        <p:nvCxnSpPr>
          <p:cNvPr id="11" name="Connector 10"/>
          <p:cNvCxnSpPr/>
          <p:nvPr/>
        </p:nvCxnSpPr>
        <p:spPr>
          <a:xfrm>
            <a:off x="2871215" y="3310128"/>
            <a:ext cx="475489"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Set the primary metric, compute budget, timeout and validation method.</a:t>
            </a:r>
          </a:p>
        </p:txBody>
      </p:sp>
      <p:cxnSp>
        <p:nvCxnSpPr>
          <p:cNvPr id="16" name="Connector 15"/>
          <p:cNvCxnSpPr/>
          <p:nvPr/>
        </p:nvCxnSpPr>
        <p:spPr>
          <a:xfrm>
            <a:off x="56144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AutoML evaluates preprocessing and algorithm pipelines within those bounds.</a:t>
            </a:r>
          </a:p>
        </p:txBody>
      </p:sp>
      <p:cxnSp>
        <p:nvCxnSpPr>
          <p:cNvPr id="21" name="Connector 20"/>
          <p:cNvCxnSpPr/>
          <p:nvPr/>
        </p:nvCxnSpPr>
        <p:spPr>
          <a:xfrm>
            <a:off x="83576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Use leaderboard metrics and model details to justify the selected candidate.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138</a:t>
            </a:r>
          </a:p>
        </p:txBody>
      </p:sp>
    </p:spTree>
  </p:cSld>
  <p:clrMapOvr>
    <a:masterClrMapping/>
  </p:clrMapOvr>
  <p:transition spd="fast">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135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Understand the AutoML process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Select a supported ML task, versioned data asset and target column.</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Set the primary metric, compute budget, timeout and validation method.</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AutoML evaluates preprocessing and algorithm pipelines within those bounds.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Use leaderboard metrics and model details to justify the selected candidate.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139</a:t>
            </a:r>
          </a:p>
        </p:txBody>
      </p:sp>
    </p:spTree>
  </p:cSld>
  <p:clrMapOvr>
    <a:masterClrMapping/>
  </p:clrMapOvr>
  <p:transition spd="fast">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136 ·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Azure Machine Learning studio</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Azure Machine Learning studio.</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Define the acceptance threshold and human-review route.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140</a:t>
            </a:r>
          </a:p>
        </p:txBody>
      </p:sp>
    </p:spTree>
  </p:cSld>
  <p:clrMapOvr>
    <a:masterClrMapping/>
  </p:clrMapOvr>
  <p:transition spd="fast">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137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Prepare data</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_services.png"/>
          <p:cNvPicPr>
            <a:picLocks noChangeAspect="1"/>
          </p:cNvPicPr>
          <p:nvPr/>
        </p:nvPicPr>
        <p:blipFill>
          <a:blip r:embed="rId2"/>
          <a:stretch>
            <a:fillRect/>
          </a:stretch>
        </p:blipFill>
        <p:spPr>
          <a:xfrm>
            <a:off x="1197327" y="1700784"/>
            <a:ext cx="5871521" cy="4251960"/>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Identify the input contract for Prepare data.</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Trace the processing component and its state change.</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Capture a named output, metric or observable artifact.</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141</a:t>
            </a:r>
          </a:p>
        </p:txBody>
      </p:sp>
    </p:spTree>
  </p:cSld>
  <p:clrMapOvr>
    <a:masterClrMapping/>
  </p:clrMapOvr>
  <p:transition spd="fast">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138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Train model</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Train model.</a:t>
            </a:r>
          </a:p>
        </p:txBody>
      </p:sp>
      <p:cxnSp>
        <p:nvCxnSpPr>
          <p:cNvPr id="11" name="Connector 10"/>
          <p:cNvCxnSpPr/>
          <p:nvPr/>
        </p:nvCxnSpPr>
        <p:spPr>
          <a:xfrm>
            <a:off x="2871215" y="3310128"/>
            <a:ext cx="475489"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Trace the processing component and its state change.</a:t>
            </a:r>
          </a:p>
        </p:txBody>
      </p:sp>
      <p:cxnSp>
        <p:nvCxnSpPr>
          <p:cNvPr id="16" name="Connector 15"/>
          <p:cNvCxnSpPr/>
          <p:nvPr/>
        </p:nvCxnSpPr>
        <p:spPr>
          <a:xfrm>
            <a:off x="56144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Capture a named output, metric or observable artifact.</a:t>
            </a:r>
          </a:p>
        </p:txBody>
      </p:sp>
      <p:cxnSp>
        <p:nvCxnSpPr>
          <p:cNvPr id="21" name="Connector 20"/>
          <p:cNvCxnSpPr/>
          <p:nvPr/>
        </p:nvCxnSpPr>
        <p:spPr>
          <a:xfrm>
            <a:off x="8357616" y="3310128"/>
            <a:ext cx="475488"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Define the acceptance threshold and human-review route.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142</a:t>
            </a:r>
          </a:p>
        </p:txBody>
      </p:sp>
    </p:spTree>
  </p:cSld>
  <p:clrMapOvr>
    <a:masterClrMapping/>
  </p:clrMapOvr>
  <p:transition spd="fast">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139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Configuration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Configuration.</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Define the acceptance threshold and human-review route.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143</a:t>
            </a:r>
          </a:p>
        </p:txBody>
      </p:sp>
    </p:spTree>
  </p:cSld>
  <p:clrMapOvr>
    <a:masterClrMapping/>
  </p:clrMapOvr>
  <p:transition spd="fast">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140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Additional Configuration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Additional Configuration.</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Define the acceptance threshold and human-review route.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144</a:t>
            </a:r>
          </a:p>
        </p:txBody>
      </p:sp>
    </p:spTree>
  </p:cSld>
  <p:clrMapOvr>
    <a:masterClrMapping/>
  </p:clrMapOvr>
  <p:transition spd="fast">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141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Additional Configuration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Additional Configuration.</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Define the acceptance threshold and human-review route.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145</a:t>
            </a:r>
          </a:p>
        </p:txBody>
      </p:sp>
    </p:spTree>
  </p:cSld>
  <p:clrMapOvr>
    <a:masterClrMapping/>
  </p:clrMapOvr>
  <p:transition spd="fast">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142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Auto ML Experiment</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Auto ML Experiment.</a:t>
            </a:r>
          </a:p>
        </p:txBody>
      </p:sp>
      <p:cxnSp>
        <p:nvCxnSpPr>
          <p:cNvPr id="11" name="Connector 10"/>
          <p:cNvCxnSpPr/>
          <p:nvPr/>
        </p:nvCxnSpPr>
        <p:spPr>
          <a:xfrm>
            <a:off x="2871215" y="3310128"/>
            <a:ext cx="475489"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Trace the processing component and its state change.</a:t>
            </a:r>
          </a:p>
        </p:txBody>
      </p:sp>
      <p:cxnSp>
        <p:nvCxnSpPr>
          <p:cNvPr id="16" name="Connector 15"/>
          <p:cNvCxnSpPr/>
          <p:nvPr/>
        </p:nvCxnSpPr>
        <p:spPr>
          <a:xfrm>
            <a:off x="56144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Capture a named output, metric or observable artifact.</a:t>
            </a:r>
          </a:p>
        </p:txBody>
      </p:sp>
      <p:cxnSp>
        <p:nvCxnSpPr>
          <p:cNvPr id="21" name="Connector 20"/>
          <p:cNvCxnSpPr/>
          <p:nvPr/>
        </p:nvCxnSpPr>
        <p:spPr>
          <a:xfrm>
            <a:off x="83576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Define the acceptance threshold and human-review route.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146</a:t>
            </a:r>
          </a:p>
        </p:txBody>
      </p:sp>
    </p:spTree>
  </p:cSld>
  <p:clrMapOvr>
    <a:masterClrMapping/>
  </p:clrMapOvr>
  <p:transition spd="fast">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143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Auto ML Experiment</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Auto ML Experiment.</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Define the acceptance threshold and human-review route.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147</a:t>
            </a:r>
          </a:p>
        </p:txBody>
      </p:sp>
    </p:spTree>
  </p:cSld>
  <p:clrMapOvr>
    <a:masterClrMapping/>
  </p:clrMapOvr>
  <p:transition spd="fast">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144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Evaluate Performance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Evaluate Performance.</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Define the acceptance threshold and human-review route.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148</a:t>
            </a:r>
          </a:p>
        </p:txBody>
      </p:sp>
    </p:spTree>
  </p:cSld>
  <p:clrMapOvr>
    <a:masterClrMapping/>
  </p:clrMapOvr>
  <p:transition spd="fast">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145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Review Result</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_services.png"/>
          <p:cNvPicPr>
            <a:picLocks noChangeAspect="1"/>
          </p:cNvPicPr>
          <p:nvPr/>
        </p:nvPicPr>
        <p:blipFill>
          <a:blip r:embed="rId2"/>
          <a:stretch>
            <a:fillRect/>
          </a:stretch>
        </p:blipFill>
        <p:spPr>
          <a:xfrm>
            <a:off x="1197327" y="1700784"/>
            <a:ext cx="5871521" cy="4251960"/>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Identify the input contract for Review Result.</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Trace the processing component and its state change.</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Capture a named output, metric or observable artifact.</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149</a:t>
            </a:r>
          </a:p>
        </p:txBody>
      </p:sp>
    </p:spTree>
  </p:cSld>
  <p:clrMapOvr>
    <a:masterClrMapping/>
  </p:clrMapOvr>
  <p:transition spd="fast">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146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Model Summary</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Model Summary.</a:t>
            </a:r>
          </a:p>
        </p:txBody>
      </p:sp>
      <p:cxnSp>
        <p:nvCxnSpPr>
          <p:cNvPr id="11" name="Connector 10"/>
          <p:cNvCxnSpPr/>
          <p:nvPr/>
        </p:nvCxnSpPr>
        <p:spPr>
          <a:xfrm>
            <a:off x="2871215" y="3310128"/>
            <a:ext cx="475489"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Trace the processing component and its state change.</a:t>
            </a:r>
          </a:p>
        </p:txBody>
      </p:sp>
      <p:cxnSp>
        <p:nvCxnSpPr>
          <p:cNvPr id="16" name="Connector 15"/>
          <p:cNvCxnSpPr/>
          <p:nvPr/>
        </p:nvCxnSpPr>
        <p:spPr>
          <a:xfrm>
            <a:off x="56144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Capture a named output, metric or observable artifact.</a:t>
            </a:r>
          </a:p>
        </p:txBody>
      </p:sp>
      <p:cxnSp>
        <p:nvCxnSpPr>
          <p:cNvPr id="21" name="Connector 20"/>
          <p:cNvCxnSpPr/>
          <p:nvPr/>
        </p:nvCxnSpPr>
        <p:spPr>
          <a:xfrm>
            <a:off x="83576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Define the acceptance threshold and human-review route.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150</a:t>
            </a:r>
          </a:p>
        </p:txBody>
      </p:sp>
    </p:spTree>
  </p:cSld>
  <p:clrMapOvr>
    <a:masterClrMapping/>
  </p:clrMapOvr>
  <p:transition spd="fast">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147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Review the Best Model</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Review the Best Model.</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Define the acceptance threshold and human-review route.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151</a:t>
            </a:r>
          </a:p>
        </p:txBody>
      </p:sp>
    </p:spTree>
  </p:cSld>
  <p:clrMapOvr>
    <a:masterClrMapping/>
  </p:clrMapOvr>
  <p:transition spd="fast">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148 ·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Deploy a Predictive Service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In Azure Machine Learning, you can deploy a service as an Azure Container Instances (ACI) or to an Azure Kubernetes Service (AKS) cluster.</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For production scenarios, an AKS deployment is recommended, for which you must create an inference cluster compute target.</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In this exercise, you'll use an ACI service, which is a suitable deployment target for testing, and does not require you to create an inference cluster.</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 deployment binds a model, environment, code and compute.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152</a:t>
            </a:r>
          </a:p>
        </p:txBody>
      </p:sp>
    </p:spTree>
  </p:cSld>
  <p:clrMapOvr>
    <a:masterClrMapping/>
  </p:clrMapOvr>
  <p:transition spd="fast">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149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Deploy a Model as a Service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deployment binds a model, environment, code and compute.</a:t>
            </a:r>
          </a:p>
        </p:txBody>
      </p:sp>
      <p:cxnSp>
        <p:nvCxnSpPr>
          <p:cNvPr id="11" name="Connector 10"/>
          <p:cNvCxnSpPr/>
          <p:nvPr/>
        </p:nvCxnSpPr>
        <p:spPr>
          <a:xfrm>
            <a:off x="2871215" y="3310128"/>
            <a:ext cx="475489"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The endpoint exposes a versioned request and response contract.</a:t>
            </a:r>
          </a:p>
        </p:txBody>
      </p:sp>
      <p:cxnSp>
        <p:nvCxnSpPr>
          <p:cNvPr id="16" name="Connector 15"/>
          <p:cNvCxnSpPr/>
          <p:nvPr/>
        </p:nvCxnSpPr>
        <p:spPr>
          <a:xfrm>
            <a:off x="56144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Authentication and traffic rules control access.</a:t>
            </a:r>
          </a:p>
        </p:txBody>
      </p:sp>
      <p:cxnSp>
        <p:nvCxnSpPr>
          <p:cNvPr id="21" name="Connector 20"/>
          <p:cNvCxnSpPr/>
          <p:nvPr/>
        </p:nvCxnSpPr>
        <p:spPr>
          <a:xfrm>
            <a:off x="83576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Monitor latency, errors, drift and cost; retain rollback.</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153</a:t>
            </a:r>
          </a:p>
        </p:txBody>
      </p:sp>
    </p:spTree>
  </p:cSld>
  <p:clrMapOvr>
    <a:masterClrMapping/>
  </p:clrMapOvr>
  <p:transition spd="fast">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150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Deploy a Model as a Service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 deployment binds a model, environment, code and compute.</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The endpoint exposes a versioned request and response contract.</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Authentication and traffic rules control access.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Monitor latency, errors, drift and cost; retain rollback.</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154</a:t>
            </a:r>
          </a:p>
        </p:txBody>
      </p:sp>
    </p:spTree>
  </p:cSld>
  <p:clrMapOvr>
    <a:masterClrMapping/>
  </p:clrMapOvr>
  <p:transition spd="fast">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151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Topic 3 Explore Computer Vision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Topic 3 Explore Computer Vision.</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Define the acceptance threshold and human-review route.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155</a:t>
            </a:r>
          </a:p>
        </p:txBody>
      </p:sp>
    </p:spTree>
  </p:cSld>
  <p:clrMapOvr>
    <a:masterClrMapping/>
  </p:clrMapOvr>
  <p:transition spd="fast">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152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What is Computer Vision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What is Computer Vision.</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Define the acceptance threshold and human-review route.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156</a:t>
            </a:r>
          </a:p>
        </p:txBody>
      </p:sp>
    </p:spTree>
  </p:cSld>
  <p:clrMapOvr>
    <a:masterClrMapping/>
  </p:clrMapOvr>
  <p:transition spd="fast">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153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Image Classification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Features map to one of two or more categorical labels.</a:t>
            </a:r>
          </a:p>
        </p:txBody>
      </p:sp>
      <p:cxnSp>
        <p:nvCxnSpPr>
          <p:cNvPr id="11" name="Connector 10"/>
          <p:cNvCxnSpPr/>
          <p:nvPr/>
        </p:nvCxnSpPr>
        <p:spPr>
          <a:xfrm>
            <a:off x="2871215" y="3310128"/>
            <a:ext cx="475489"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The model emits class scores or probabilities.</a:t>
            </a:r>
          </a:p>
        </p:txBody>
      </p:sp>
      <p:cxnSp>
        <p:nvCxnSpPr>
          <p:cNvPr id="16" name="Connector 15"/>
          <p:cNvCxnSpPr/>
          <p:nvPr/>
        </p:nvCxnSpPr>
        <p:spPr>
          <a:xfrm>
            <a:off x="56144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threshold converts scores into predicted labels.</a:t>
            </a:r>
          </a:p>
        </p:txBody>
      </p:sp>
      <p:cxnSp>
        <p:nvCxnSpPr>
          <p:cNvPr id="21" name="Connector 20"/>
          <p:cNvCxnSpPr/>
          <p:nvPr/>
        </p:nvCxnSpPr>
        <p:spPr>
          <a:xfrm>
            <a:off x="83576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Validate with a confusion matrix and class-specific metrics.</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157</a:t>
            </a:r>
          </a:p>
        </p:txBody>
      </p:sp>
    </p:spTree>
  </p:cSld>
  <p:clrMapOvr>
    <a:masterClrMapping/>
  </p:clrMapOvr>
  <p:transition spd="fast">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154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Azure Resources for Computer Vision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To use the Computer Vision service, you need to create a resource for it in your Azure subscription.</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Cognitive Services: A general cognitive services resource that includes Custom Vision along with many other cognitive services.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You can use this type of resource for training, prediction, or both.</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Azure Resources for Computer Vision.</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158</a:t>
            </a:r>
          </a:p>
        </p:txBody>
      </p:sp>
    </p:spTree>
  </p:cSld>
  <p:clrMapOvr>
    <a:masterClrMapping/>
  </p:clrMapOvr>
  <p:transition spd="fast">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155 · FORMULA</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Model Evaluation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Precision: What percentage of the class predictions made by the model were correct?</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For example, if the model predicted that 10 images are oranges, of which eight were actually oranges, then the precision is 0.8 (80%).</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Recall: What percentage of class predictions did the model correctly identify?</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For example, if there are 10 images of apples, and the model found 7 of them, then the recall is 0.7 (70%).</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159</a:t>
            </a:r>
          </a:p>
        </p:txBody>
      </p:sp>
    </p:spTree>
  </p:cSld>
  <p:clrMapOvr>
    <a:masterClrMapping/>
  </p:clrMapOvr>
  <p:transition spd="fast">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156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Using the model for prediction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Project ID: The unique ID of the Custom Vision project you created to train the model.</a:t>
            </a:r>
          </a:p>
        </p:txBody>
      </p:sp>
      <p:cxnSp>
        <p:nvCxnSpPr>
          <p:cNvPr id="11" name="Connector 10"/>
          <p:cNvCxnSpPr/>
          <p:nvPr/>
        </p:nvCxnSpPr>
        <p:spPr>
          <a:xfrm>
            <a:off x="2871215" y="3310128"/>
            <a:ext cx="475489"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Model name: The name you assigned to the model during publishing.</a:t>
            </a:r>
          </a:p>
        </p:txBody>
      </p:sp>
      <p:cxnSp>
        <p:nvCxnSpPr>
          <p:cNvPr id="16" name="Connector 15"/>
          <p:cNvCxnSpPr/>
          <p:nvPr/>
        </p:nvCxnSpPr>
        <p:spPr>
          <a:xfrm>
            <a:off x="56144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Prediction endpoint: The HTTP address of the endpoints for the prediction resource to which you published the model (not the training resource).</a:t>
            </a:r>
          </a:p>
        </p:txBody>
      </p:sp>
      <p:cxnSp>
        <p:nvCxnSpPr>
          <p:cNvPr id="21" name="Connector 20"/>
          <p:cNvCxnSpPr/>
          <p:nvPr/>
        </p:nvCxnSpPr>
        <p:spPr>
          <a:xfrm>
            <a:off x="83576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Prediction key: The authentication key for the prediction resource to which you published the model (not the training resource).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160</a:t>
            </a:r>
          </a:p>
        </p:txBody>
      </p:sp>
    </p:spTree>
  </p:cSld>
  <p:clrMapOvr>
    <a:masterClrMapping/>
  </p:clrMapOvr>
  <p:transition spd="fast">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157 · FORMULA</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Object Detection Outputs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Object Detection.</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The class of each object identified in the image.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The model returns a label, confidence and bounding box per object.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Multiple objects can appear in one image.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161</a:t>
            </a:r>
          </a:p>
        </p:txBody>
      </p:sp>
    </p:spTree>
  </p:cSld>
  <p:clrMapOvr>
    <a:masterClrMapping/>
  </p:clrMapOvr>
  <p:transition spd="fast">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158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Face Detection Bounding Boxes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Face Detection.</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Detection returns a face region; identification asserts identity.</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Consent, purpose and legal authority must be explicit.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Do not infer sensitive traits from facial appearance.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162</a:t>
            </a:r>
          </a:p>
        </p:txBody>
      </p:sp>
    </p:spTree>
  </p:cSld>
  <p:clrMapOvr>
    <a:masterClrMapping/>
  </p:clrMapOvr>
  <p:transition spd="fast">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159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Facial Landmarks and Attributes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Face Analysis.</a:t>
            </a:r>
          </a:p>
        </p:txBody>
      </p:sp>
      <p:cxnSp>
        <p:nvCxnSpPr>
          <p:cNvPr id="11" name="Connector 10"/>
          <p:cNvCxnSpPr/>
          <p:nvPr/>
        </p:nvCxnSpPr>
        <p:spPr>
          <a:xfrm>
            <a:off x="2871215" y="3310128"/>
            <a:ext cx="475489"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Facial Landmarks and Attributes.</a:t>
            </a:r>
          </a:p>
        </p:txBody>
      </p:sp>
      <p:cxnSp>
        <p:nvCxnSpPr>
          <p:cNvPr id="16" name="Connector 15"/>
          <p:cNvCxnSpPr/>
          <p:nvPr/>
        </p:nvCxnSpPr>
        <p:spPr>
          <a:xfrm>
            <a:off x="56144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Trace the processing component and its state change.</a:t>
            </a:r>
          </a:p>
        </p:txBody>
      </p:sp>
      <p:cxnSp>
        <p:nvCxnSpPr>
          <p:cNvPr id="21" name="Connector 20"/>
          <p:cNvCxnSpPr/>
          <p:nvPr/>
        </p:nvCxnSpPr>
        <p:spPr>
          <a:xfrm>
            <a:off x="83576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Capture a named output, metric or observable artifact.</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163</a:t>
            </a:r>
          </a:p>
        </p:txBody>
      </p:sp>
    </p:spTree>
  </p:cSld>
  <p:clrMapOvr>
    <a:masterClrMapping/>
  </p:clrMapOvr>
  <p:transition spd="fast">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160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Face Identification and Responsible Use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Face Recognition.</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Detection returns a face region; identification asserts identity.</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Consent, purpose and legal authority must be explicit.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Do not infer sensitive traits from facial appearance.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164</a:t>
            </a:r>
          </a:p>
        </p:txBody>
      </p:sp>
    </p:spTree>
  </p:cSld>
  <p:clrMapOvr>
    <a:masterClrMapping/>
  </p:clrMapOvr>
  <p:transition spd="fast">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161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Face Analysis in Azure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Computer Vision, which offers face detection and some basic face analysis, such as returning the bounding box coordinates around an image.</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Video Indexer, which you can use to detect and identify faces in a video.</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Face, which offers pre-built algorithms that can detect, recognize, and analyze faces.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Detection returns a face region; identification asserts identity.</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165</a:t>
            </a:r>
          </a:p>
        </p:txBody>
      </p:sp>
    </p:spTree>
  </p:cSld>
  <p:clrMapOvr>
    <a:masterClrMapping/>
  </p:clrMapOvr>
  <p:transition spd="fast">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162 · CASE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Legacy Face Lab Migration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Activity: Face Analysis.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Detection returns a face region; identification asserts identity.</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Consent, purpose and legal authority must be explicit.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Do not infer sensitive traits from facial appearance.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166</a:t>
            </a:r>
          </a:p>
        </p:txBody>
      </p:sp>
    </p:spTree>
  </p:cSld>
  <p:clrMapOvr>
    <a:masterClrMapping/>
  </p:clrMapOvr>
  <p:transition spd="fast">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163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Read API</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The Read API uses the latest recognition models and is optimized for images that have a significant amount of text or has considerable visual noise.</a:t>
            </a:r>
          </a:p>
        </p:txBody>
      </p:sp>
      <p:cxnSp>
        <p:nvCxnSpPr>
          <p:cNvPr id="11" name="Connector 10"/>
          <p:cNvCxnSpPr/>
          <p:nvPr/>
        </p:nvCxnSpPr>
        <p:spPr>
          <a:xfrm>
            <a:off x="2871215" y="3310128"/>
            <a:ext cx="475489"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The Read API can handle scanned documents that have a lot of text.</a:t>
            </a:r>
          </a:p>
        </p:txBody>
      </p:sp>
      <p:cxnSp>
        <p:nvCxnSpPr>
          <p:cNvPr id="16" name="Connector 15"/>
          <p:cNvCxnSpPr/>
          <p:nvPr/>
        </p:nvCxnSpPr>
        <p:spPr>
          <a:xfrm>
            <a:off x="56144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OCR detects printed or handwritten text and geometry.</a:t>
            </a:r>
          </a:p>
        </p:txBody>
      </p:sp>
      <p:cxnSp>
        <p:nvCxnSpPr>
          <p:cNvPr id="21" name="Connector 20"/>
          <p:cNvCxnSpPr/>
          <p:nvPr/>
        </p:nvCxnSpPr>
        <p:spPr>
          <a:xfrm>
            <a:off x="83576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The response links text spans to pages and regions.</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167</a:t>
            </a:r>
          </a:p>
        </p:txBody>
      </p:sp>
    </p:spTree>
  </p:cSld>
  <p:clrMapOvr>
    <a:masterClrMapping/>
  </p:clrMapOvr>
  <p:transition spd="fast">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164 · CASE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Legacy OCR Lab Migration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Activity: OCR.</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OCR detects printed or handwritten text and geometry.</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The response links text spans to pages and regions.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Compare extracted text with the source image.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168</a:t>
            </a:r>
          </a:p>
        </p:txBody>
      </p:sp>
    </p:spTree>
  </p:cSld>
  <p:clrMapOvr>
    <a:masterClrMapping/>
  </p:clrMapOvr>
  <p:transition spd="fast">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165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Azure AI Document Intelligence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Custom models are trained using your own data, which helps to tailor this model to your specific forms.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Starting with only five samples of your forms, you can train the custom model.</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 prebuilt or custom model extracts typed document fields.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Results include values, tables, geometry and confidence.</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169</a:t>
            </a:r>
          </a:p>
        </p:txBody>
      </p:sp>
    </p:spTree>
  </p:cSld>
  <p:clrMapOvr>
    <a:masterClrMapping/>
  </p:clrMapOvr>
  <p:transition spd="fast">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TOPIC 2 · HANDS-ON BRIDGE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Lab 04 · Computer Vision, Image Analysis, and OCR</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64208"/>
            <a:ext cx="150876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764792"/>
            <a:ext cx="1508760" cy="219456"/>
          </a:xfrm>
          <a:prstGeom prst="rect">
            <a:avLst/>
          </a:prstGeom>
          <a:noFill/>
        </p:spPr>
        <p:txBody>
          <a:bodyPr wrap="square" anchor="t" lIns="45720" rIns="45720" tIns="27432" bIns="27432">
            <a:spAutoFit/>
          </a:bodyPr>
          <a:lstStyle/>
          <a:p>
            <a:pPr algn="ctr">
              <a:spcAft>
                <a:spcPts val="0"/>
              </a:spcAft>
            </a:pPr>
            <a:r>
              <a:rPr sz="1300" b="1">
                <a:solidFill>
                  <a:srgbClr val="FFFFFF"/>
                </a:solidFill>
                <a:latin typeface="Arial"/>
              </a:rPr>
              <a:t>65 MIN</a:t>
            </a:r>
          </a:p>
        </p:txBody>
      </p:sp>
      <p:sp>
        <p:nvSpPr>
          <p:cNvPr id="9" name="TextBox 8"/>
          <p:cNvSpPr txBox="1"/>
          <p:nvPr/>
        </p:nvSpPr>
        <p:spPr>
          <a:xfrm>
            <a:off x="658368" y="2331720"/>
            <a:ext cx="10698480" cy="658368"/>
          </a:xfrm>
          <a:prstGeom prst="rect">
            <a:avLst/>
          </a:prstGeom>
          <a:noFill/>
        </p:spPr>
        <p:txBody>
          <a:bodyPr wrap="square" anchor="t" lIns="45720" rIns="45720" tIns="27432" bIns="27432">
            <a:spAutoFit/>
          </a:bodyPr>
          <a:lstStyle/>
          <a:p>
            <a:pPr algn="l">
              <a:spcAft>
                <a:spcPts val="0"/>
              </a:spcAft>
            </a:pPr>
            <a:r>
              <a:rPr sz="1800" b="1">
                <a:solidFill>
                  <a:srgbClr val="161B26"/>
                </a:solidFill>
                <a:latin typeface="Arial"/>
              </a:rPr>
              <a:t>A product-quality team needs visual inspection and text extraction without treating model output as ground truth.</a:t>
            </a:r>
          </a:p>
        </p:txBody>
      </p:sp>
      <p:sp>
        <p:nvSpPr>
          <p:cNvPr id="10" name="Rounded Rectangle 9"/>
          <p:cNvSpPr/>
          <p:nvPr/>
        </p:nvSpPr>
        <p:spPr>
          <a:xfrm>
            <a:off x="6583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3246120"/>
            <a:ext cx="73152" cy="1783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1F6FEB"/>
                </a:solidFill>
                <a:latin typeface="Arial"/>
              </a:rPr>
              <a:t>SCENARIO</a:t>
            </a:r>
          </a:p>
        </p:txBody>
      </p:sp>
      <p:sp>
        <p:nvSpPr>
          <p:cNvPr id="13" name="TextBox 12"/>
          <p:cNvSpPr txBox="1"/>
          <p:nvPr/>
        </p:nvSpPr>
        <p:spPr>
          <a:xfrm>
            <a:off x="8869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Analyze an image, compare vision outputs with source evidence, and report accuracy or privacy issues.</a:t>
            </a:r>
          </a:p>
        </p:txBody>
      </p:sp>
      <p:sp>
        <p:nvSpPr>
          <p:cNvPr id="14" name="Rounded Rectangle 13"/>
          <p:cNvSpPr/>
          <p:nvPr/>
        </p:nvSpPr>
        <p:spPr>
          <a:xfrm>
            <a:off x="34015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01568" y="3246120"/>
            <a:ext cx="73152" cy="1783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01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10B981"/>
                </a:solidFill>
                <a:latin typeface="Arial"/>
              </a:rPr>
              <a:t>MECHANISM</a:t>
            </a:r>
          </a:p>
        </p:txBody>
      </p:sp>
      <p:sp>
        <p:nvSpPr>
          <p:cNvPr id="17" name="TextBox 16"/>
          <p:cNvSpPr txBox="1"/>
          <p:nvPr/>
        </p:nvSpPr>
        <p:spPr>
          <a:xfrm>
            <a:off x="36301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Microsoft Foundry; vision-capable model; Content Understanding OCR</a:t>
            </a:r>
          </a:p>
        </p:txBody>
      </p:sp>
      <p:sp>
        <p:nvSpPr>
          <p:cNvPr id="18" name="Rounded Rectangle 17"/>
          <p:cNvSpPr/>
          <p:nvPr/>
        </p:nvSpPr>
        <p:spPr>
          <a:xfrm>
            <a:off x="61447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3246120"/>
            <a:ext cx="73152" cy="17830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7C3AED"/>
                </a:solidFill>
                <a:latin typeface="Arial"/>
              </a:rPr>
              <a:t>EVIDENCE</a:t>
            </a:r>
          </a:p>
        </p:txBody>
      </p:sp>
      <p:sp>
        <p:nvSpPr>
          <p:cNvPr id="21" name="TextBox 20"/>
          <p:cNvSpPr txBox="1"/>
          <p:nvPr/>
        </p:nvSpPr>
        <p:spPr>
          <a:xfrm>
            <a:off x="63733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An image-analysis result, OCR extraction, confidence review and issue report.</a:t>
            </a:r>
          </a:p>
        </p:txBody>
      </p:sp>
      <p:sp>
        <p:nvSpPr>
          <p:cNvPr id="22" name="Rounded Rectangle 21"/>
          <p:cNvSpPr/>
          <p:nvPr/>
        </p:nvSpPr>
        <p:spPr>
          <a:xfrm>
            <a:off x="88879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87968" y="3246120"/>
            <a:ext cx="73152" cy="1783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165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F59E0B"/>
                </a:solidFill>
                <a:latin typeface="Arial"/>
              </a:rPr>
              <a:t>VERIFY</a:t>
            </a:r>
          </a:p>
        </p:txBody>
      </p:sp>
      <p:sp>
        <p:nvSpPr>
          <p:cNvPr id="25" name="TextBox 24"/>
          <p:cNvSpPr txBox="1"/>
          <p:nvPr/>
        </p:nvSpPr>
        <p:spPr>
          <a:xfrm>
            <a:off x="91165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Image input and model recorded · Output compared with source image</a:t>
            </a:r>
          </a:p>
        </p:txBody>
      </p:sp>
      <p:sp>
        <p:nvSpPr>
          <p:cNvPr id="26" name="Rounded Rectangle 25"/>
          <p:cNvSpPr/>
          <p:nvPr/>
        </p:nvSpPr>
        <p:spPr>
          <a:xfrm>
            <a:off x="658368" y="5285232"/>
            <a:ext cx="10835640" cy="566928"/>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5440680"/>
            <a:ext cx="10378440" cy="256032"/>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Full step-by-step: Learner Guide + labs/lab-04-computer-vision-image-analysis-ocr/README.md</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Lab bridge only—no click-by-click procedure on the slide.</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170</a:t>
            </a:r>
          </a:p>
        </p:txBody>
      </p:sp>
    </p:spTree>
  </p:cSld>
  <p:clrMapOvr>
    <a:masterClrMapping/>
  </p:clrMapOvr>
  <p:transition spd="fast">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166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Pre-built Receipt Model</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ntent-understanding.png"/>
          <p:cNvPicPr>
            <a:picLocks noChangeAspect="1"/>
          </p:cNvPicPr>
          <p:nvPr/>
        </p:nvPicPr>
        <p:blipFill>
          <a:blip r:embed="rId2"/>
          <a:stretch>
            <a:fillRect/>
          </a:stretch>
        </p:blipFill>
        <p:spPr>
          <a:xfrm>
            <a:off x="1224107" y="1700784"/>
            <a:ext cx="5817961" cy="4251960"/>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A prebuilt or custom model extracts typed document fields.</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Results include values, tables, geometry and confidence.</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Validate critical fields against the original document.</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171</a:t>
            </a:r>
          </a:p>
        </p:txBody>
      </p:sp>
    </p:spTree>
  </p:cSld>
  <p:clrMapOvr>
    <a:masterClrMapping/>
  </p:clrMapOvr>
  <p:transition spd="fast">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167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Knowledge Quiz - Fundamentals of Computer Vision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Distinguish classification, detection, segmentation and OCR.</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Read labels, confidence scores and bounding regions.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Choose evidence that proves the visual result.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a privacy or fairness risk in image analysis.</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172</a:t>
            </a:r>
          </a:p>
        </p:txBody>
      </p:sp>
    </p:spTree>
  </p:cSld>
  <p:clrMapOvr>
    <a:masterClrMapping/>
  </p:clrMapOvr>
  <p:transition spd="fast">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168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Knowledge Quiz - Fundamentals of Facial Recognition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Separate face detection from identification.</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Interpret a face bounding box and confidence score.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Apply consent, access and data-retention controls.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Route uncertain or high-impact results to human review.</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173</a:t>
            </a:r>
          </a:p>
        </p:txBody>
      </p:sp>
    </p:spTree>
  </p:cSld>
  <p:clrMapOvr>
    <a:masterClrMapping/>
  </p:clrMapOvr>
  <p:transition spd="fast">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920240"/>
            <a:ext cx="8046720" cy="320040"/>
          </a:xfrm>
          <a:prstGeom prst="rect">
            <a:avLst/>
          </a:prstGeom>
          <a:noFill/>
        </p:spPr>
        <p:txBody>
          <a:bodyPr wrap="square" anchor="t" lIns="45720" rIns="45720" tIns="27432" bIns="27432">
            <a:spAutoFit/>
          </a:bodyPr>
          <a:lstStyle/>
          <a:p>
            <a:pPr algn="l">
              <a:spcAft>
                <a:spcPts val="0"/>
              </a:spcAft>
            </a:pPr>
            <a:r>
              <a:rPr sz="1300" b="1">
                <a:solidFill>
                  <a:srgbClr val="1F6FEB"/>
                </a:solidFill>
                <a:latin typeface="Arial"/>
              </a:rPr>
              <a:t>LEGACY COVERAGE · SLIDE 169</a:t>
            </a:r>
          </a:p>
        </p:txBody>
      </p:sp>
      <p:sp>
        <p:nvSpPr>
          <p:cNvPr id="5" name="TextBox 4"/>
          <p:cNvSpPr txBox="1"/>
          <p:nvPr/>
        </p:nvSpPr>
        <p:spPr>
          <a:xfrm>
            <a:off x="822960" y="2423160"/>
            <a:ext cx="9875520" cy="1234440"/>
          </a:xfrm>
          <a:prstGeom prst="rect">
            <a:avLst/>
          </a:prstGeom>
          <a:noFill/>
        </p:spPr>
        <p:txBody>
          <a:bodyPr wrap="square" anchor="t" lIns="45720" rIns="45720" tIns="27432" bIns="27432">
            <a:spAutoFit/>
          </a:bodyPr>
          <a:lstStyle/>
          <a:p>
            <a:pPr algn="l">
              <a:spcAft>
                <a:spcPts val="0"/>
              </a:spcAft>
            </a:pPr>
            <a:r>
              <a:rPr sz="3800" b="1">
                <a:solidFill>
                  <a:srgbClr val="161B26"/>
                </a:solidFill>
                <a:latin typeface="Arial"/>
              </a:rPr>
              <a:t>Knowledge Quiz - Fundamentals of optical character recognition</a:t>
            </a:r>
          </a:p>
        </p:txBody>
      </p:sp>
      <p:sp>
        <p:nvSpPr>
          <p:cNvPr id="6" name="Rectangle 5"/>
          <p:cNvSpPr/>
          <p:nvPr/>
        </p:nvSpPr>
        <p:spPr>
          <a:xfrm>
            <a:off x="822960" y="3913632"/>
            <a:ext cx="228600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731520"/>
            <a:ext cx="1645920" cy="1097280"/>
          </a:xfrm>
          <a:prstGeom prst="rect">
            <a:avLst/>
          </a:prstGeom>
          <a:noFill/>
        </p:spPr>
        <p:txBody>
          <a:bodyPr wrap="square" anchor="t" lIns="45720" rIns="45720" tIns="27432" bIns="27432">
            <a:spAutoFit/>
          </a:bodyPr>
          <a:lstStyle/>
          <a:p>
            <a:pPr algn="r">
              <a:spcAft>
                <a:spcPts val="0"/>
              </a:spcAft>
            </a:pPr>
            <a:r>
              <a:rPr sz="6400" b="1">
                <a:solidFill>
                  <a:srgbClr val="D7E0EA"/>
                </a:solidFill>
                <a:latin typeface="Arial"/>
              </a:rPr>
              <a:t>169</a:t>
            </a:r>
          </a:p>
        </p:txBody>
      </p:sp>
      <p:sp>
        <p:nvSpPr>
          <p:cNvPr id="8" name="TextBox 7"/>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9" name="TextBox 8"/>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10" name="TextBox 9"/>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174</a:t>
            </a:r>
          </a:p>
        </p:txBody>
      </p:sp>
    </p:spTree>
  </p:cSld>
  <p:clrMapOvr>
    <a:masterClrMapping/>
  </p:clrMapOvr>
  <p:transition spd="fast">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170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Topic 4 Explore Natural Language Processing</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ROC plots true-positive rate against false-positive rate.</a:t>
            </a:r>
          </a:p>
        </p:txBody>
      </p:sp>
      <p:cxnSp>
        <p:nvCxnSpPr>
          <p:cNvPr id="11" name="Connector 10"/>
          <p:cNvCxnSpPr/>
          <p:nvPr/>
        </p:nvCxnSpPr>
        <p:spPr>
          <a:xfrm>
            <a:off x="2871215" y="3310128"/>
            <a:ext cx="475489"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Each point represents a different classification threshold.</a:t>
            </a:r>
          </a:p>
        </p:txBody>
      </p:sp>
      <p:cxnSp>
        <p:nvCxnSpPr>
          <p:cNvPr id="16" name="Connector 15"/>
          <p:cNvCxnSpPr/>
          <p:nvPr/>
        </p:nvCxnSpPr>
        <p:spPr>
          <a:xfrm>
            <a:off x="56144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curve near the upper-left indicates stronger separation.</a:t>
            </a:r>
          </a:p>
        </p:txBody>
      </p:sp>
      <p:cxnSp>
        <p:nvCxnSpPr>
          <p:cNvPr id="21" name="Connector 20"/>
          <p:cNvCxnSpPr/>
          <p:nvPr/>
        </p:nvCxnSpPr>
        <p:spPr>
          <a:xfrm>
            <a:off x="83576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Choose an operating point; AUC alone does not set the threshold.</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175</a:t>
            </a:r>
          </a:p>
        </p:txBody>
      </p:sp>
    </p:spTree>
  </p:cSld>
  <p:clrMapOvr>
    <a:masterClrMapping/>
  </p:clrMapOvr>
  <p:transition spd="fast">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171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Natural Language Processing</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Natural language processing supports applications that can see, hear, speak with, and understand users.</a:t>
            </a:r>
          </a:p>
        </p:txBody>
      </p:sp>
      <p:cxnSp>
        <p:nvCxnSpPr>
          <p:cNvPr id="11" name="Connector 10"/>
          <p:cNvCxnSpPr/>
          <p:nvPr/>
        </p:nvCxnSpPr>
        <p:spPr>
          <a:xfrm>
            <a:off x="2871215" y="3310128"/>
            <a:ext cx="475489"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ROC plots true-positive rate against false-positive rate.</a:t>
            </a:r>
          </a:p>
        </p:txBody>
      </p:sp>
      <p:cxnSp>
        <p:nvCxnSpPr>
          <p:cNvPr id="16" name="Connector 15"/>
          <p:cNvCxnSpPr/>
          <p:nvPr/>
        </p:nvCxnSpPr>
        <p:spPr>
          <a:xfrm>
            <a:off x="56144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Each point represents a different classification threshold.</a:t>
            </a:r>
          </a:p>
        </p:txBody>
      </p:sp>
      <p:cxnSp>
        <p:nvCxnSpPr>
          <p:cNvPr id="21" name="Connector 20"/>
          <p:cNvCxnSpPr/>
          <p:nvPr/>
        </p:nvCxnSpPr>
        <p:spPr>
          <a:xfrm>
            <a:off x="83576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curve near the upper-left indicates stronger separation.</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176</a:t>
            </a:r>
          </a:p>
        </p:txBody>
      </p:sp>
    </p:spTree>
  </p:cSld>
  <p:clrMapOvr>
    <a:masterClrMapping/>
  </p:clrMapOvr>
  <p:transition spd="fast">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172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Language Detection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The service accepts UTF-8 text with a document identifier.</a:t>
            </a:r>
          </a:p>
        </p:txBody>
      </p:sp>
      <p:cxnSp>
        <p:nvCxnSpPr>
          <p:cNvPr id="11" name="Connector 10"/>
          <p:cNvCxnSpPr/>
          <p:nvPr/>
        </p:nvCxnSpPr>
        <p:spPr>
          <a:xfrm>
            <a:off x="2871215" y="3310128"/>
            <a:ext cx="475489"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The output identifies language code and confidence.</a:t>
            </a:r>
          </a:p>
        </p:txBody>
      </p:sp>
      <p:cxnSp>
        <p:nvCxnSpPr>
          <p:cNvPr id="16" name="Connector 15"/>
          <p:cNvCxnSpPr/>
          <p:nvPr/>
        </p:nvCxnSpPr>
        <p:spPr>
          <a:xfrm>
            <a:off x="56144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Short or mixed-language text can be uncertain.</a:t>
            </a:r>
          </a:p>
        </p:txBody>
      </p:sp>
      <p:cxnSp>
        <p:nvCxnSpPr>
          <p:cNvPr id="21" name="Connector 20"/>
          <p:cNvCxnSpPr/>
          <p:nvPr/>
        </p:nvCxnSpPr>
        <p:spPr>
          <a:xfrm>
            <a:off x="83576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Preserve encoding and route low confidence for review.</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177</a:t>
            </a:r>
          </a:p>
        </p:txBody>
      </p:sp>
    </p:spTree>
  </p:cSld>
  <p:clrMapOvr>
    <a:masterClrMapping/>
  </p:clrMapOvr>
  <p:transition spd="fast">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173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Sentiment Analysis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The text analytics capabilities in the Language service can evaluate text and return sentiment scores and labels for each sentence.</a:t>
            </a:r>
          </a:p>
        </p:txBody>
      </p:sp>
      <p:cxnSp>
        <p:nvCxnSpPr>
          <p:cNvPr id="11" name="Connector 10"/>
          <p:cNvCxnSpPr/>
          <p:nvPr/>
        </p:nvCxnSpPr>
        <p:spPr>
          <a:xfrm>
            <a:off x="2871215" y="3310128"/>
            <a:ext cx="475489"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This capability is useful for detecting positive and negative sentiment in social media, customer reviews, discussion forums and more.</a:t>
            </a:r>
          </a:p>
        </p:txBody>
      </p:sp>
      <p:cxnSp>
        <p:nvCxnSpPr>
          <p:cNvPr id="16" name="Connector 15"/>
          <p:cNvCxnSpPr/>
          <p:nvPr/>
        </p:nvCxnSpPr>
        <p:spPr>
          <a:xfrm>
            <a:off x="56144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Scores that are close to the middle of the range (0.5) are considered neutral or indeterminate.</a:t>
            </a:r>
          </a:p>
        </p:txBody>
      </p:sp>
      <p:cxnSp>
        <p:nvCxnSpPr>
          <p:cNvPr id="21" name="Connector 20"/>
          <p:cNvCxnSpPr/>
          <p:nvPr/>
        </p:nvCxnSpPr>
        <p:spPr>
          <a:xfrm>
            <a:off x="83576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Sentiment returns positive, neutral or negative confidence.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178</a:t>
            </a:r>
          </a:p>
        </p:txBody>
      </p:sp>
    </p:spTree>
  </p:cSld>
  <p:clrMapOvr>
    <a:masterClrMapping/>
  </p:clrMapOvr>
  <p:transition spd="fast">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174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Key Phrase Extraction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table friendly hostess dinner ambiance place.</a:t>
            </a:r>
          </a:p>
        </p:txBody>
      </p:sp>
      <p:cxnSp>
        <p:nvCxnSpPr>
          <p:cNvPr id="11" name="Connector 10"/>
          <p:cNvCxnSpPr/>
          <p:nvPr/>
        </p:nvCxnSpPr>
        <p:spPr>
          <a:xfrm>
            <a:off x="2871215" y="3310128"/>
            <a:ext cx="475489"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attentive service great food birthday celebration fantastic experience.</a:t>
            </a:r>
          </a:p>
        </p:txBody>
      </p:sp>
      <p:cxnSp>
        <p:nvCxnSpPr>
          <p:cNvPr id="16" name="Connector 15"/>
          <p:cNvCxnSpPr/>
          <p:nvPr/>
        </p:nvCxnSpPr>
        <p:spPr>
          <a:xfrm>
            <a:off x="56144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Key phrase extraction is the concept of evaluating the text of a document, or documents, and then identifying the main talking points of the document(s).</a:t>
            </a:r>
          </a:p>
        </p:txBody>
      </p:sp>
      <p:cxnSp>
        <p:nvCxnSpPr>
          <p:cNvPr id="21" name="Connector 20"/>
          <p:cNvCxnSpPr/>
          <p:nvPr/>
        </p:nvCxnSpPr>
        <p:spPr>
          <a:xfrm>
            <a:off x="8357616" y="3310128"/>
            <a:ext cx="475488"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Key phrase extraction can provide some context to this review by extracting the following phrases:.</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179</a:t>
            </a:r>
          </a:p>
        </p:txBody>
      </p:sp>
    </p:spTree>
  </p:cSld>
  <p:clrMapOvr>
    <a:masterClrMapping/>
  </p:clrMapOvr>
  <p:transition spd="fast">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175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Named-Entity Recognition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Entity Recognition.</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Entity recognition returns typed spans and offsets.</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Linked entities may include a knowledge-base identifier.</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Offsets must survive preprocessing and encoding.</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180</a:t>
            </a:r>
          </a:p>
        </p:txBody>
      </p:sp>
    </p:spTree>
  </p:cSld>
  <p:clrMapOvr>
    <a:masterClrMapping/>
  </p:clrMapOvr>
  <p:transition spd="fast">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176 · CASE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Text Analysis Lab</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Activity: Text Analytics.</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Text Analysis Lab.</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Trace the processing component and its state change.</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Capture a named output, metric or observable artifact.</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181</a:t>
            </a:r>
          </a:p>
        </p:txBody>
      </p:sp>
    </p:spTree>
  </p:cSld>
  <p:clrMapOvr>
    <a:masterClrMapping/>
  </p:clrMapOvr>
  <p:transition spd="fast">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177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Speech Recognition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The spoken words can be in the form of a recorded voice in an audio file, or live audio from a microphone.</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Speech patterns are analyzed in the audio to determine recognizable patterns that are mapped to words.</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Speech recognition converts audio into timestamped text.</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Speech synthesis converts text into encoded audio.</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182</a:t>
            </a:r>
          </a:p>
        </p:txBody>
      </p:sp>
    </p:spTree>
  </p:cSld>
  <p:clrMapOvr>
    <a:masterClrMapping/>
  </p:clrMapOvr>
  <p:transition spd="fast">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178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Speech Synthesis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Speech synthesis is in many respects the reverse of speech recognition.</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It is concerned with vocalizing data, usually by converting text to speech.</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speech synthesis solution typically requires the following information: The text to be spoken.</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The voice to be used to vocalize the speech.</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183</a:t>
            </a:r>
          </a:p>
        </p:txBody>
      </p:sp>
    </p:spTree>
  </p:cSld>
  <p:clrMapOvr>
    <a:masterClrMapping/>
  </p:clrMapOvr>
  <p:transition spd="fast">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179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Speech Service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Text-to-speech - used to generate spoken audio from a text source.</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Speech Translation - used to translate speech in one language to text or speech in another.</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Speech recognition converts audio into timestamped text.</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Speech synthesis converts text into encoded audio.</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184</a:t>
            </a:r>
          </a:p>
        </p:txBody>
      </p:sp>
    </p:spTree>
  </p:cSld>
  <p:clrMapOvr>
    <a:masterClrMapping/>
  </p:clrMapOvr>
  <p:transition spd="fast">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180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Speech-to-Text API</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peech-agent.png"/>
          <p:cNvPicPr>
            <a:picLocks noChangeAspect="1"/>
          </p:cNvPicPr>
          <p:nvPr/>
        </p:nvPicPr>
        <p:blipFill>
          <a:blip r:embed="rId2"/>
          <a:stretch>
            <a:fillRect/>
          </a:stretch>
        </p:blipFill>
        <p:spPr>
          <a:xfrm>
            <a:off x="1085087" y="1700784"/>
            <a:ext cx="6096000" cy="4251960"/>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You can use the speech-to-text API to perform real-time or batch transcription of audio into a text format.</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The audio source for transcription can be a real-time audio stream from a microphone or an audio file.</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The model that is used by the speech-to-text API, is based on the Universal Language Model that was trained by Microsoft.</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185</a:t>
            </a:r>
          </a:p>
        </p:txBody>
      </p:sp>
    </p:spTree>
  </p:cSld>
  <p:clrMapOvr>
    <a:masterClrMapping/>
  </p:clrMapOvr>
  <p:transition spd="fast">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TOPIC 2 · HANDS-ON BRIDGE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400" b="1">
                <a:solidFill>
                  <a:srgbClr val="161B26"/>
                </a:solidFill>
                <a:latin typeface="Arial"/>
              </a:rPr>
              <a:t>Lab 05 · Language: Text Analysis, PII, and Clean Inputs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64208"/>
            <a:ext cx="150876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764792"/>
            <a:ext cx="1508760" cy="219456"/>
          </a:xfrm>
          <a:prstGeom prst="rect">
            <a:avLst/>
          </a:prstGeom>
          <a:noFill/>
        </p:spPr>
        <p:txBody>
          <a:bodyPr wrap="square" anchor="t" lIns="45720" rIns="45720" tIns="27432" bIns="27432">
            <a:spAutoFit/>
          </a:bodyPr>
          <a:lstStyle/>
          <a:p>
            <a:pPr algn="ctr">
              <a:spcAft>
                <a:spcPts val="0"/>
              </a:spcAft>
            </a:pPr>
            <a:r>
              <a:rPr sz="1300" b="1">
                <a:solidFill>
                  <a:srgbClr val="FFFFFF"/>
                </a:solidFill>
                <a:latin typeface="Arial"/>
              </a:rPr>
              <a:t>60 MIN</a:t>
            </a:r>
          </a:p>
        </p:txBody>
      </p:sp>
      <p:sp>
        <p:nvSpPr>
          <p:cNvPr id="9" name="TextBox 8"/>
          <p:cNvSpPr txBox="1"/>
          <p:nvPr/>
        </p:nvSpPr>
        <p:spPr>
          <a:xfrm>
            <a:off x="658368" y="2331720"/>
            <a:ext cx="10698480" cy="658368"/>
          </a:xfrm>
          <a:prstGeom prst="rect">
            <a:avLst/>
          </a:prstGeom>
          <a:noFill/>
        </p:spPr>
        <p:txBody>
          <a:bodyPr wrap="square" anchor="t" lIns="45720" rIns="45720" tIns="27432" bIns="27432">
            <a:spAutoFit/>
          </a:bodyPr>
          <a:lstStyle/>
          <a:p>
            <a:pPr algn="l">
              <a:spcAft>
                <a:spcPts val="0"/>
              </a:spcAft>
            </a:pPr>
            <a:r>
              <a:rPr sz="1800" b="1">
                <a:solidFill>
                  <a:srgbClr val="161B26"/>
                </a:solidFill>
                <a:latin typeface="Arial"/>
              </a:rPr>
              <a:t>A service desk wants useful themes from feedback while preventing personal data from entering reports.</a:t>
            </a:r>
          </a:p>
        </p:txBody>
      </p:sp>
      <p:sp>
        <p:nvSpPr>
          <p:cNvPr id="10" name="Rounded Rectangle 9"/>
          <p:cNvSpPr/>
          <p:nvPr/>
        </p:nvSpPr>
        <p:spPr>
          <a:xfrm>
            <a:off x="6583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3246120"/>
            <a:ext cx="73152" cy="1783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1F6FEB"/>
                </a:solidFill>
                <a:latin typeface="Arial"/>
              </a:rPr>
              <a:t>SCENARIO</a:t>
            </a:r>
          </a:p>
        </p:txBody>
      </p:sp>
      <p:sp>
        <p:nvSpPr>
          <p:cNvPr id="13" name="TextBox 12"/>
          <p:cNvSpPr txBox="1"/>
          <p:nvPr/>
        </p:nvSpPr>
        <p:spPr>
          <a:xfrm>
            <a:off x="8869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Analyze text, detect language and PII, clean malformed input, and verify the output contract.</a:t>
            </a:r>
          </a:p>
        </p:txBody>
      </p:sp>
      <p:sp>
        <p:nvSpPr>
          <p:cNvPr id="14" name="Rounded Rectangle 13"/>
          <p:cNvSpPr/>
          <p:nvPr/>
        </p:nvSpPr>
        <p:spPr>
          <a:xfrm>
            <a:off x="34015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01568" y="3246120"/>
            <a:ext cx="73152" cy="1783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01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10B981"/>
                </a:solidFill>
                <a:latin typeface="Arial"/>
              </a:rPr>
              <a:t>MECHANISM</a:t>
            </a:r>
          </a:p>
        </p:txBody>
      </p:sp>
      <p:sp>
        <p:nvSpPr>
          <p:cNvPr id="17" name="TextBox 16"/>
          <p:cNvSpPr txBox="1"/>
          <p:nvPr/>
        </p:nvSpPr>
        <p:spPr>
          <a:xfrm>
            <a:off x="36301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Microsoft Foundry; Azure AI Language tool; JSON</a:t>
            </a:r>
          </a:p>
        </p:txBody>
      </p:sp>
      <p:sp>
        <p:nvSpPr>
          <p:cNvPr id="18" name="Rounded Rectangle 17"/>
          <p:cNvSpPr/>
          <p:nvPr/>
        </p:nvSpPr>
        <p:spPr>
          <a:xfrm>
            <a:off x="61447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3246120"/>
            <a:ext cx="73152" cy="17830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7C3AED"/>
                </a:solidFill>
                <a:latin typeface="Arial"/>
              </a:rPr>
              <a:t>EVIDENCE</a:t>
            </a:r>
          </a:p>
        </p:txBody>
      </p:sp>
      <p:sp>
        <p:nvSpPr>
          <p:cNvPr id="21" name="TextBox 20"/>
          <p:cNvSpPr txBox="1"/>
          <p:nvPr/>
        </p:nvSpPr>
        <p:spPr>
          <a:xfrm>
            <a:off x="63733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A before/after clean-data record, text-analysis output, PII-redaction evidence and schema validation.</a:t>
            </a:r>
          </a:p>
        </p:txBody>
      </p:sp>
      <p:sp>
        <p:nvSpPr>
          <p:cNvPr id="22" name="Rounded Rectangle 21"/>
          <p:cNvSpPr/>
          <p:nvPr/>
        </p:nvSpPr>
        <p:spPr>
          <a:xfrm>
            <a:off x="88879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87968" y="3246120"/>
            <a:ext cx="73152" cy="1783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165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F59E0B"/>
                </a:solidFill>
                <a:latin typeface="Arial"/>
              </a:rPr>
              <a:t>VERIFY</a:t>
            </a:r>
          </a:p>
        </p:txBody>
      </p:sp>
      <p:sp>
        <p:nvSpPr>
          <p:cNvPr id="25" name="TextBox 24"/>
          <p:cNvSpPr txBox="1"/>
          <p:nvPr/>
        </p:nvSpPr>
        <p:spPr>
          <a:xfrm>
            <a:off x="91165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Clean dataset preserves row IDs · Summary cites source themes</a:t>
            </a:r>
          </a:p>
        </p:txBody>
      </p:sp>
      <p:sp>
        <p:nvSpPr>
          <p:cNvPr id="26" name="Rounded Rectangle 25"/>
          <p:cNvSpPr/>
          <p:nvPr/>
        </p:nvSpPr>
        <p:spPr>
          <a:xfrm>
            <a:off x="658368" y="5285232"/>
            <a:ext cx="10835640" cy="566928"/>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5440680"/>
            <a:ext cx="10378440" cy="256032"/>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Full step-by-step: Learner Guide + labs/lab-05-language-text-analysis-pii/README.md</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Lab bridge only—no click-by-click procedure on the slide.</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186</a:t>
            </a:r>
          </a:p>
        </p:txBody>
      </p:sp>
    </p:spTree>
  </p:cSld>
  <p:clrMapOvr>
    <a:masterClrMapping/>
  </p:clrMapOvr>
  <p:transition spd="fast">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181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Text-to-Speech API</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When you use the text-to-speech API, you can specify the voice to be used to vocalize the text.</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This capability offers you the flexibility to personalize your speech synthesis solution and give it a specific character.</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Speech recognition converts audio into timestamped text.</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Speech synthesis converts text into encoded audio.</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187</a:t>
            </a:r>
          </a:p>
        </p:txBody>
      </p:sp>
    </p:spTree>
  </p:cSld>
  <p:clrMapOvr>
    <a:masterClrMapping/>
  </p:clrMapOvr>
  <p:transition spd="fast">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182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Speech Lab</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peech-agent.png"/>
          <p:cNvPicPr>
            <a:picLocks noChangeAspect="1"/>
          </p:cNvPicPr>
          <p:nvPr/>
        </p:nvPicPr>
        <p:blipFill>
          <a:blip r:embed="rId2"/>
          <a:stretch>
            <a:fillRect/>
          </a:stretch>
        </p:blipFill>
        <p:spPr>
          <a:xfrm>
            <a:off x="1085087" y="1700784"/>
            <a:ext cx="6096000" cy="4251960"/>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Activity: Speech.</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response_text = 'Turning the light on.'.</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response_text = 'Turning the light off.'.</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188</a:t>
            </a:r>
          </a:p>
        </p:txBody>
      </p:sp>
    </p:spTree>
  </p:cSld>
  <p:clrMapOvr>
    <a:masterClrMapping/>
  </p:clrMapOvr>
  <p:transition spd="fast">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183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Text and Speech Translation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Speech recognition converts audio into timestamped text.</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Speech synthesis converts text into encoded audio.</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Language, voice, noise and format affect the result.</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Capture consent and route uncertain transcripts for review.</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189</a:t>
            </a:r>
          </a:p>
        </p:txBody>
      </p:sp>
    </p:spTree>
  </p:cSld>
  <p:clrMapOvr>
    <a:masterClrMapping/>
  </p:clrMapOvr>
  <p:transition spd="fast">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184 · CASE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Conversational Language Lab</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Activity: Text and Speech Translation.</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An utterance is mapped to an intent and extracted entities.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Confidence and competing intents determine the route.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Fallback handles unsupported or ambiguous requests.</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190</a:t>
            </a:r>
          </a:p>
        </p:txBody>
      </p:sp>
    </p:spTree>
  </p:cSld>
  <p:clrMapOvr>
    <a:masterClrMapping/>
  </p:clrMapOvr>
  <p:transition spd="fast">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185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Conversational language understanding</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An utterance is mapped to an intent and extracted entities.</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Confidence and competing intents determine the route.</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Fallback handles unsupported or ambiguous requests.</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Ground responses and escalate high-impact interactions.</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191</a:t>
            </a:r>
          </a:p>
        </p:txBody>
      </p:sp>
    </p:spTree>
  </p:cSld>
  <p:clrMapOvr>
    <a:masterClrMapping/>
  </p:clrMapOvr>
  <p:transition spd="fast">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186 · CASE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Legacy LUIS Lab Migration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Activity: Language Understanding.</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the input contract for Legacy LUIS Lab Migration.</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the processing component and its state change.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Capture a named output, metric or observable artifact.</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192</a:t>
            </a:r>
          </a:p>
        </p:txBody>
      </p:sp>
    </p:spTree>
  </p:cSld>
  <p:clrMapOvr>
    <a:masterClrMapping/>
  </p:clrMapOvr>
  <p:transition spd="fast">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187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Human Conversations as Language Data</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Conversational AI.</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Human Conversations as Language Data.</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Trace the processing component and its state change.</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Capture a named output, metric or observable artifact.</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193</a:t>
            </a:r>
          </a:p>
        </p:txBody>
      </p:sp>
    </p:spTree>
  </p:cSld>
  <p:clrMapOvr>
    <a:masterClrMapping/>
  </p:clrMapOvr>
  <p:transition spd="fast">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188 · CASE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Conversational AI</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Bots are designed to interact with users in a conversational manner, as shown in this example of a chat interface:.</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An utterance is mapped to an intent and extracted entities.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Confidence and competing intents determine the route.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Fallback handles unsupported or ambiguous requests.</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194</a:t>
            </a:r>
          </a:p>
        </p:txBody>
      </p:sp>
    </p:spTree>
  </p:cSld>
  <p:clrMapOvr>
    <a:masterClrMapping/>
  </p:clrMapOvr>
  <p:transition spd="fast">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189 ·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Question Answering and Azure Bot Service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You can easily create a user support bot solution on Microsoft Azure using a combination of two core technologies: Custom question answering.</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This cognitive service enables you to create and publish a knowledge base with built-in natural language processing capabilities.</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Azure Bot Service.</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This service provides a framework for developing, publishing, and managing bots on Azure.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195</a:t>
            </a:r>
          </a:p>
        </p:txBody>
      </p:sp>
    </p:spTree>
  </p:cSld>
  <p:clrMapOvr>
    <a:masterClrMapping/>
  </p:clrMapOvr>
  <p:transition spd="fast">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190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Azure Custom question answering</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Approved documents become a bounded knowledge source.</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Retrieval finds candidate passages for an answer.</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Citations provide traceability to source evidence.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Return no answer or escalate when evidence is absent.</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196</a:t>
            </a:r>
          </a:p>
        </p:txBody>
      </p:sp>
    </p:spTree>
  </p:cSld>
  <p:clrMapOvr>
    <a:masterClrMapping/>
  </p:clrMapOvr>
  <p:transition spd="fast">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191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Legacy Language Understanding Lab</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ii_extraction.png"/>
          <p:cNvPicPr>
            <a:picLocks noChangeAspect="1"/>
          </p:cNvPicPr>
          <p:nvPr/>
        </p:nvPicPr>
        <p:blipFill>
          <a:blip r:embed="rId2"/>
          <a:stretch>
            <a:fillRect/>
          </a:stretch>
        </p:blipFill>
        <p:spPr>
          <a:xfrm>
            <a:off x="1285793" y="1700784"/>
            <a:ext cx="5694589" cy="4251960"/>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Activity: Custom question answering.</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Identify the input contract for Legacy Language Understanding Lab.</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Trace the processing component and its state change.</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197</a:t>
            </a:r>
          </a:p>
        </p:txBody>
      </p:sp>
    </p:spTree>
  </p:cSld>
  <p:clrMapOvr>
    <a:masterClrMapping/>
  </p:clrMapOvr>
  <p:transition spd="fast">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192 ·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Define questions and answers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These questions and answers can be: Generated from an existing FAQ document or web page.</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Entered and edited manually.</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Define questions and answers.</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Trace the processing component and its state change.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198</a:t>
            </a:r>
          </a:p>
        </p:txBody>
      </p:sp>
    </p:spTree>
  </p:cSld>
  <p:clrMapOvr>
    <a:masterClrMapping/>
  </p:clrMapOvr>
  <p:transition spd="fast">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193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Test the Knowledge Base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oundry_iq.png"/>
          <p:cNvPicPr>
            <a:picLocks noChangeAspect="1"/>
          </p:cNvPicPr>
          <p:nvPr/>
        </p:nvPicPr>
        <p:blipFill>
          <a:blip r:embed="rId2"/>
          <a:stretch>
            <a:fillRect/>
          </a:stretch>
        </p:blipFill>
        <p:spPr>
          <a:xfrm>
            <a:off x="944117" y="1700784"/>
            <a:ext cx="6377940" cy="4251960"/>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After creating a set of question-and-answer pairs, you must save it.</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Approved documents become a bounded knowledge source.</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Retrieval finds candidate passages for an answer.</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199</a:t>
            </a:r>
          </a:p>
        </p:txBody>
      </p:sp>
    </p:spTree>
  </p:cSld>
  <p:clrMapOvr>
    <a:masterClrMapping/>
  </p:clrMapOvr>
  <p:transition spd="fast">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194 ·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Use the knowledge base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When you're satisfied with your knowledge base, deploy it.</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Then you can use it over its REST interface.</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To access the knowledge base, client applications require: The knowledge base ID The knowledge base endpoint The knowledge base authorization key.</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Approved documents become a bounded knowledge source.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200</a:t>
            </a:r>
          </a:p>
        </p:txBody>
      </p:sp>
    </p:spTree>
  </p:cSld>
  <p:clrMapOvr>
    <a:masterClrMapping/>
  </p:clrMapOvr>
  <p:transition spd="fast">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195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Legacy QnA Bot Lab Migration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_services.png"/>
          <p:cNvPicPr>
            <a:picLocks noChangeAspect="1"/>
          </p:cNvPicPr>
          <p:nvPr/>
        </p:nvPicPr>
        <p:blipFill>
          <a:blip r:embed="rId2"/>
          <a:stretch>
            <a:fillRect/>
          </a:stretch>
        </p:blipFill>
        <p:spPr>
          <a:xfrm>
            <a:off x="1197327" y="1700784"/>
            <a:ext cx="5871521" cy="4251960"/>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Activity: Custom question answering.</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Identify the input contract for Legacy QnA Bot Lab Migration.</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Trace the processing component and its state change.</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201</a:t>
            </a:r>
          </a:p>
        </p:txBody>
      </p:sp>
    </p:spTree>
  </p:cSld>
  <p:clrMapOvr>
    <a:masterClrMapping/>
  </p:clrMapOvr>
  <p:transition spd="fast">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196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Build a bot with the Azure Bot Service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oundry-portal-home.png"/>
          <p:cNvPicPr>
            <a:picLocks noChangeAspect="1"/>
          </p:cNvPicPr>
          <p:nvPr/>
        </p:nvPicPr>
        <p:blipFill>
          <a:blip r:embed="rId2"/>
          <a:stretch>
            <a:fillRect/>
          </a:stretch>
        </p:blipFill>
        <p:spPr>
          <a:xfrm>
            <a:off x="1128169" y="1700784"/>
            <a:ext cx="6009837" cy="4251960"/>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Identify the input contract for Build a bot with the Azure Bot Service.</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Trace the processing component and its state change.</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Capture a named output, metric or observable artifact.</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202</a:t>
            </a:r>
          </a:p>
        </p:txBody>
      </p:sp>
    </p:spTree>
  </p:cSld>
  <p:clrMapOvr>
    <a:masterClrMapping/>
  </p:clrMapOvr>
  <p:transition spd="fast">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197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Conversational Language Understanding</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On Microsoft Azure, conversational language understanding is supported through the Language Service.</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To work with Conversational Language Understanding, you need to take into account three core concepts: utterances entities intents.</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An utterance is mapped to an intent and extracted entities.</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Confidence and competing intents determine the route.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203</a:t>
            </a:r>
          </a:p>
        </p:txBody>
      </p:sp>
    </p:spTree>
  </p:cSld>
  <p:clrMapOvr>
    <a:masterClrMapping/>
  </p:clrMapOvr>
  <p:transition spd="fast">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198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Utterances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An utterance is mapped to an intent and extracted entities.</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Confidence and competing intents determine the route.</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Fallback handles unsupported or ambiguous requests.</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Ground responses and escalate high-impact interactions.</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204</a:t>
            </a:r>
          </a:p>
        </p:txBody>
      </p:sp>
    </p:spTree>
  </p:cSld>
  <p:clrMapOvr>
    <a:masterClrMapping/>
  </p:clrMapOvr>
  <p:transition spd="fast">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199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Entities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Entities.</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Trace the processing component and its state change.</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Capture a named output, metric or observable artifact.</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Define the acceptance threshold and human-review route.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205</a:t>
            </a:r>
          </a:p>
        </p:txBody>
      </p:sp>
    </p:spTree>
  </p:cSld>
  <p:clrMapOvr>
    <a:masterClrMapping/>
  </p:clrMapOvr>
  <p:transition spd="fast">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200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Intents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An utterance is mapped to an intent and extracted entities.</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Confidence and competing intents determine the route.</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Fallback handles unsupported or ambiguous requests.</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Ground responses and escalate high-impact interactions.</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206</a:t>
            </a:r>
          </a:p>
        </p:txBody>
      </p:sp>
    </p:spTree>
  </p:cSld>
  <p:clrMapOvr>
    <a:masterClrMapping/>
  </p:clrMapOvr>
  <p:transition spd="fast">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TOPIC 2 · HANDS-ON BRIDGE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Lab 06 · Speech, Translation, and Conversational AI</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64208"/>
            <a:ext cx="150876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764792"/>
            <a:ext cx="1508760" cy="219456"/>
          </a:xfrm>
          <a:prstGeom prst="rect">
            <a:avLst/>
          </a:prstGeom>
          <a:noFill/>
        </p:spPr>
        <p:txBody>
          <a:bodyPr wrap="square" anchor="t" lIns="45720" rIns="45720" tIns="27432" bIns="27432">
            <a:spAutoFit/>
          </a:bodyPr>
          <a:lstStyle/>
          <a:p>
            <a:pPr algn="ctr">
              <a:spcAft>
                <a:spcPts val="0"/>
              </a:spcAft>
            </a:pPr>
            <a:r>
              <a:rPr sz="1300" b="1">
                <a:solidFill>
                  <a:srgbClr val="FFFFFF"/>
                </a:solidFill>
                <a:latin typeface="Arial"/>
              </a:rPr>
              <a:t>60 MIN</a:t>
            </a:r>
          </a:p>
        </p:txBody>
      </p:sp>
      <p:sp>
        <p:nvSpPr>
          <p:cNvPr id="9" name="TextBox 8"/>
          <p:cNvSpPr txBox="1"/>
          <p:nvPr/>
        </p:nvSpPr>
        <p:spPr>
          <a:xfrm>
            <a:off x="658368" y="2331720"/>
            <a:ext cx="10698480" cy="658368"/>
          </a:xfrm>
          <a:prstGeom prst="rect">
            <a:avLst/>
          </a:prstGeom>
          <a:noFill/>
        </p:spPr>
        <p:txBody>
          <a:bodyPr wrap="square" anchor="t" lIns="45720" rIns="45720" tIns="27432" bIns="27432">
            <a:spAutoFit/>
          </a:bodyPr>
          <a:lstStyle/>
          <a:p>
            <a:pPr algn="l">
              <a:spcAft>
                <a:spcPts val="0"/>
              </a:spcAft>
            </a:pPr>
            <a:r>
              <a:rPr sz="1800" b="1">
                <a:solidFill>
                  <a:srgbClr val="161B26"/>
                </a:solidFill>
                <a:latin typeface="Arial"/>
              </a:rPr>
              <a:t>A multilingual support team needs a voice interaction that fails safely in noisy conditions.</a:t>
            </a:r>
          </a:p>
        </p:txBody>
      </p:sp>
      <p:sp>
        <p:nvSpPr>
          <p:cNvPr id="10" name="Rounded Rectangle 9"/>
          <p:cNvSpPr/>
          <p:nvPr/>
        </p:nvSpPr>
        <p:spPr>
          <a:xfrm>
            <a:off x="6583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3246120"/>
            <a:ext cx="73152" cy="1783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1F6FEB"/>
                </a:solidFill>
                <a:latin typeface="Arial"/>
              </a:rPr>
              <a:t>SCENARIO</a:t>
            </a:r>
          </a:p>
        </p:txBody>
      </p:sp>
      <p:sp>
        <p:nvSpPr>
          <p:cNvPr id="13" name="TextBox 12"/>
          <p:cNvSpPr txBox="1"/>
          <p:nvPr/>
        </p:nvSpPr>
        <p:spPr>
          <a:xfrm>
            <a:off x="8869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Use speech input/output, design a translation contract, and define a human handoff for conversational AI.</a:t>
            </a:r>
          </a:p>
        </p:txBody>
      </p:sp>
      <p:sp>
        <p:nvSpPr>
          <p:cNvPr id="14" name="Rounded Rectangle 13"/>
          <p:cNvSpPr/>
          <p:nvPr/>
        </p:nvSpPr>
        <p:spPr>
          <a:xfrm>
            <a:off x="34015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01568" y="3246120"/>
            <a:ext cx="73152" cy="1783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01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10B981"/>
                </a:solidFill>
                <a:latin typeface="Arial"/>
              </a:rPr>
              <a:t>MECHANISM</a:t>
            </a:r>
          </a:p>
        </p:txBody>
      </p:sp>
      <p:sp>
        <p:nvSpPr>
          <p:cNvPr id="17" name="TextBox 16"/>
          <p:cNvSpPr txBox="1"/>
          <p:nvPr/>
        </p:nvSpPr>
        <p:spPr>
          <a:xfrm>
            <a:off x="36301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Microsoft Foundry; Azure Speech Voice Live or Speech; Translator design worksheet</a:t>
            </a:r>
          </a:p>
        </p:txBody>
      </p:sp>
      <p:sp>
        <p:nvSpPr>
          <p:cNvPr id="18" name="Rounded Rectangle 17"/>
          <p:cNvSpPr/>
          <p:nvPr/>
        </p:nvSpPr>
        <p:spPr>
          <a:xfrm>
            <a:off x="61447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3246120"/>
            <a:ext cx="73152" cy="17830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7C3AED"/>
                </a:solidFill>
                <a:latin typeface="Arial"/>
              </a:rPr>
              <a:t>EVIDENCE</a:t>
            </a:r>
          </a:p>
        </p:txBody>
      </p:sp>
      <p:sp>
        <p:nvSpPr>
          <p:cNvPr id="21" name="TextBox 20"/>
          <p:cNvSpPr txBox="1"/>
          <p:nvPr/>
        </p:nvSpPr>
        <p:spPr>
          <a:xfrm>
            <a:off x="63733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A transcript/output evidence pack, translation message contract and escalation decision table.</a:t>
            </a:r>
          </a:p>
        </p:txBody>
      </p:sp>
      <p:sp>
        <p:nvSpPr>
          <p:cNvPr id="22" name="Rounded Rectangle 21"/>
          <p:cNvSpPr/>
          <p:nvPr/>
        </p:nvSpPr>
        <p:spPr>
          <a:xfrm>
            <a:off x="88879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87968" y="3246120"/>
            <a:ext cx="73152" cy="1783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165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F59E0B"/>
                </a:solidFill>
                <a:latin typeface="Arial"/>
              </a:rPr>
              <a:t>VERIFY</a:t>
            </a:r>
          </a:p>
        </p:txBody>
      </p:sp>
      <p:sp>
        <p:nvSpPr>
          <p:cNvPr id="25" name="TextBox 24"/>
          <p:cNvSpPr txBox="1"/>
          <p:nvPr/>
        </p:nvSpPr>
        <p:spPr>
          <a:xfrm>
            <a:off x="91165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Speech input and output both evidenced · Noise/accent difference discussed</a:t>
            </a:r>
          </a:p>
        </p:txBody>
      </p:sp>
      <p:sp>
        <p:nvSpPr>
          <p:cNvPr id="26" name="Rounded Rectangle 25"/>
          <p:cNvSpPr/>
          <p:nvPr/>
        </p:nvSpPr>
        <p:spPr>
          <a:xfrm>
            <a:off x="658368" y="5285232"/>
            <a:ext cx="10835640" cy="566928"/>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5440680"/>
            <a:ext cx="10378440" cy="256032"/>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Full step-by-step: Learner Guide + labs/lab-06-speech-translation-conversational-ai/README.md</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Lab bridge only—no click-by-click procedure on the slide.</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207</a:t>
            </a:r>
          </a:p>
        </p:txBody>
      </p:sp>
    </p:spTree>
  </p:cSld>
  <p:clrMapOvr>
    <a:masterClrMapping/>
  </p:clrMapOvr>
  <p:transition spd="fast">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201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Azure AI Language Capability</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Identify language, sentiment, key phrases, entities and PII.</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Select the correct input and response schema.</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Validate offsets, confidence and redacted spans.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Route ambiguous or sensitive outputs for review.</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208</a:t>
            </a:r>
          </a:p>
        </p:txBody>
      </p:sp>
    </p:spTree>
  </p:cSld>
  <p:clrMapOvr>
    <a:masterClrMapping/>
  </p:clrMapOvr>
  <p:transition spd="fast">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202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Azure AI Language Capability</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Define a grounded knowledge source and answer boundary.</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Distinguish retrieval evidence from generated wording.</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Test supported, unsupported and adversarial questions.</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Escalate when no approved source supports an answer.</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209</a:t>
            </a:r>
          </a:p>
        </p:txBody>
      </p:sp>
    </p:spTree>
  </p:cSld>
  <p:clrMapOvr>
    <a:masterClrMapping/>
  </p:clrMapOvr>
  <p:transition spd="fast">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203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400" b="1">
                <a:solidFill>
                  <a:srgbClr val="161B26"/>
                </a:solidFill>
                <a:latin typeface="Arial"/>
              </a:rPr>
              <a:t>Knowledge Quiz - Fundamentals of conversational language understanding</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Distinguish utterance, intent and entity.</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Write representative training and test utterances.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Interpret confidence and competing intent evidence.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Use a fallback or human route below threshold.</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210</a:t>
            </a:r>
          </a:p>
        </p:txBody>
      </p:sp>
    </p:spTree>
  </p:cSld>
  <p:clrMapOvr>
    <a:masterClrMapping/>
  </p:clrMapOvr>
  <p:transition spd="fast">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204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Knowledge Quiz - Fundamentals of Azure AI Speech</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Distinguish speech recognition from synthesis.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Set language, voice and audio format deliberately.</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Validate transcript or audio output against the input.</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Handle noise, consent and uncertain recognition safely.</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211</a:t>
            </a:r>
          </a:p>
        </p:txBody>
      </p:sp>
    </p:spTree>
  </p:cSld>
  <p:clrMapOvr>
    <a:masterClrMapping/>
  </p:clrMapOvr>
  <p:transition spd="fast">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F59E0B"/>
                </a:solidFill>
                <a:latin typeface="Arial"/>
              </a:rPr>
              <a:t>LEGACY SLIDE 205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Knowledge Quiz - Fundamentals of language translation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Choose text or speech translation for the channel.</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Preserve language codes and encoding across services.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Validate meaning, named terms and unsupported language behavior.</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Retain a human review route for consequential content.</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212</a:t>
            </a:r>
          </a:p>
        </p:txBody>
      </p:sp>
    </p:spTree>
  </p:cSld>
  <p:clrMapOvr>
    <a:masterClrMapping/>
  </p:clrMapOvr>
  <p:transition spd="fast">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920240"/>
            <a:ext cx="8046720" cy="320040"/>
          </a:xfrm>
          <a:prstGeom prst="rect">
            <a:avLst/>
          </a:prstGeom>
          <a:noFill/>
        </p:spPr>
        <p:txBody>
          <a:bodyPr wrap="square" anchor="t" lIns="45720" rIns="45720" tIns="27432" bIns="27432">
            <a:spAutoFit/>
          </a:bodyPr>
          <a:lstStyle/>
          <a:p>
            <a:pPr algn="l">
              <a:spcAft>
                <a:spcPts val="0"/>
              </a:spcAft>
            </a:pPr>
            <a:r>
              <a:rPr sz="1300" b="1">
                <a:solidFill>
                  <a:srgbClr val="10B981"/>
                </a:solidFill>
                <a:latin typeface="Arial"/>
              </a:rPr>
              <a:t>LEGACY COVERAGE · SLIDE 206</a:t>
            </a:r>
          </a:p>
        </p:txBody>
      </p:sp>
      <p:sp>
        <p:nvSpPr>
          <p:cNvPr id="5" name="TextBox 4"/>
          <p:cNvSpPr txBox="1"/>
          <p:nvPr/>
        </p:nvSpPr>
        <p:spPr>
          <a:xfrm>
            <a:off x="822960" y="2423160"/>
            <a:ext cx="9875520" cy="1234440"/>
          </a:xfrm>
          <a:prstGeom prst="rect">
            <a:avLst/>
          </a:prstGeom>
          <a:noFill/>
        </p:spPr>
        <p:txBody>
          <a:bodyPr wrap="square" anchor="t" lIns="45720" rIns="45720" tIns="27432" bIns="27432">
            <a:spAutoFit/>
          </a:bodyPr>
          <a:lstStyle/>
          <a:p>
            <a:pPr algn="l">
              <a:spcAft>
                <a:spcPts val="0"/>
              </a:spcAft>
            </a:pPr>
            <a:r>
              <a:rPr sz="3800" b="1">
                <a:solidFill>
                  <a:srgbClr val="161B26"/>
                </a:solidFill>
                <a:latin typeface="Arial"/>
              </a:rPr>
              <a:t>Topic 5 Explore Decision Support</a:t>
            </a:r>
          </a:p>
        </p:txBody>
      </p:sp>
      <p:sp>
        <p:nvSpPr>
          <p:cNvPr id="6" name="Rectangle 5"/>
          <p:cNvSpPr/>
          <p:nvPr/>
        </p:nvSpPr>
        <p:spPr>
          <a:xfrm>
            <a:off x="822960" y="3913632"/>
            <a:ext cx="228600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731520"/>
            <a:ext cx="1645920" cy="1097280"/>
          </a:xfrm>
          <a:prstGeom prst="rect">
            <a:avLst/>
          </a:prstGeom>
          <a:noFill/>
        </p:spPr>
        <p:txBody>
          <a:bodyPr wrap="square" anchor="t" lIns="45720" rIns="45720" tIns="27432" bIns="27432">
            <a:spAutoFit/>
          </a:bodyPr>
          <a:lstStyle/>
          <a:p>
            <a:pPr algn="r">
              <a:spcAft>
                <a:spcPts val="0"/>
              </a:spcAft>
            </a:pPr>
            <a:r>
              <a:rPr sz="6400" b="1">
                <a:solidFill>
                  <a:srgbClr val="D7E0EA"/>
                </a:solidFill>
                <a:latin typeface="Arial"/>
              </a:rPr>
              <a:t>206</a:t>
            </a:r>
          </a:p>
        </p:txBody>
      </p:sp>
      <p:sp>
        <p:nvSpPr>
          <p:cNvPr id="8" name="TextBox 7"/>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9" name="TextBox 8"/>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10" name="TextBox 9"/>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213</a:t>
            </a:r>
          </a:p>
        </p:txBody>
      </p:sp>
    </p:spTree>
  </p:cSld>
  <p:clrMapOvr>
    <a:masterClrMapping/>
  </p:clrMapOvr>
  <p:transition spd="fast">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207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Anomaly Detection Boundaries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The Anomaly Detector service identifies anomalies that exist outside the scope of a boundary.</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The boundary is set using a sensitivity value.</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By default, the upper and lower boundaries for anomaly detection are calculated using concepts known as expectedValue, upperMargin, and lowerMargin.</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214</a:t>
            </a:r>
          </a:p>
        </p:txBody>
      </p:sp>
    </p:spTree>
  </p:cSld>
  <p:clrMapOvr>
    <a:masterClrMapping/>
  </p:clrMapOvr>
  <p:transition spd="fast">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LEGACY SLIDE 208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Data format</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Data format.</a:t>
            </a:r>
          </a:p>
        </p:txBody>
      </p:sp>
      <p:cxnSp>
        <p:nvCxnSpPr>
          <p:cNvPr id="11" name="Connector 10"/>
          <p:cNvCxnSpPr/>
          <p:nvPr/>
        </p:nvCxnSpPr>
        <p:spPr>
          <a:xfrm>
            <a:off x="2871215" y="3310128"/>
            <a:ext cx="475489"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Trace the processing component and its state change.</a:t>
            </a:r>
          </a:p>
        </p:txBody>
      </p:sp>
      <p:cxnSp>
        <p:nvCxnSpPr>
          <p:cNvPr id="16" name="Connector 15"/>
          <p:cNvCxnSpPr/>
          <p:nvPr/>
        </p:nvCxnSpPr>
        <p:spPr>
          <a:xfrm>
            <a:off x="56144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Capture a named output, metric or observable artifact.</a:t>
            </a:r>
          </a:p>
        </p:txBody>
      </p:sp>
      <p:cxnSp>
        <p:nvCxnSpPr>
          <p:cNvPr id="21" name="Connector 20"/>
          <p:cNvCxnSpPr/>
          <p:nvPr/>
        </p:nvCxnSpPr>
        <p:spPr>
          <a:xfrm>
            <a:off x="8357616" y="3310128"/>
            <a:ext cx="47548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Define the acceptance threshold and human-review route.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215</a:t>
            </a:r>
          </a:p>
        </p:txBody>
      </p:sp>
    </p:spTree>
  </p:cSld>
  <p:clrMapOvr>
    <a:masterClrMapping/>
  </p:clrMapOvr>
  <p:transition spd="fast">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209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Choose Batch or Real-Time Detection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The Anomaly Detector service supports batch processing of time series data and last-point anomaly detection for real-time data.</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Identify the input contract for Choose Batch or Real-Time Detection.</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Trace the processing component and its state change.</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216</a:t>
            </a:r>
          </a:p>
        </p:txBody>
      </p:sp>
    </p:spTree>
  </p:cSld>
  <p:clrMapOvr>
    <a:masterClrMapping/>
  </p:clrMapOvr>
  <p:transition spd="fast">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210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Batch Detection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Identify the input contract for Batch Detection.</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Trace the processing component and its state change.</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Capture a named output, metric or observable artifact.</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217</a:t>
            </a:r>
          </a:p>
        </p:txBody>
      </p:sp>
    </p:spTree>
  </p:cSld>
  <p:clrMapOvr>
    <a:masterClrMapping/>
  </p:clrMapOvr>
  <p:transition spd="fast">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211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Batch Detection Example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Batch detection involves applying the algorithm to an entire data series at one time.</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The concept of time series data involves evaluation of a data set as a batch.</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Use your time series to detect any anomalies that might exist throughout your data.</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218</a:t>
            </a:r>
          </a:p>
        </p:txBody>
      </p:sp>
    </p:spTree>
  </p:cSld>
  <p:clrMapOvr>
    <a:masterClrMapping/>
  </p:clrMapOvr>
  <p:transition spd="fast">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212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Real-time Detection</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Real-time detection uses streaming data by comparing previously seen data points to the last data point to determine if your latest one is an anomaly.</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This operation generates a model using the data points you send, and determines if the target (current) point is an anomaly.</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By calling the service with each new data point you generate, you can monitor your data as it's created.</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219</a:t>
            </a:r>
          </a:p>
        </p:txBody>
      </p:sp>
    </p:spTree>
  </p:cSld>
  <p:clrMapOvr>
    <a:masterClrMapping/>
  </p:clrMapOvr>
  <p:transition spd="fast">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213 · NATIVE PPT CHART</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Real-time Detection Example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58368" y="1737360"/>
          <a:ext cx="69951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7973568" y="1828800"/>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73568" y="1828800"/>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975104"/>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Consider a scenario in the carbonated beverage industry where real-time anomaly detection may be useful.</a:t>
            </a:r>
          </a:p>
        </p:txBody>
      </p:sp>
      <p:sp>
        <p:nvSpPr>
          <p:cNvPr id="11" name="Rounded Rectangle 10"/>
          <p:cNvSpPr/>
          <p:nvPr/>
        </p:nvSpPr>
        <p:spPr>
          <a:xfrm>
            <a:off x="7973568" y="2990088"/>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299008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136392"/>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The carbon dioxide added to soft drinks during the bottling or canning process needs to stay in a specific temperature range.</a:t>
            </a:r>
          </a:p>
        </p:txBody>
      </p:sp>
      <p:sp>
        <p:nvSpPr>
          <p:cNvPr id="14" name="Rounded Rectangle 13"/>
          <p:cNvSpPr/>
          <p:nvPr/>
        </p:nvSpPr>
        <p:spPr>
          <a:xfrm>
            <a:off x="7973568" y="4151376"/>
            <a:ext cx="3520440" cy="93268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4151376"/>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297680"/>
            <a:ext cx="3063240" cy="640080"/>
          </a:xfrm>
          <a:prstGeom prst="rect">
            <a:avLst/>
          </a:prstGeom>
          <a:noFill/>
        </p:spPr>
        <p:txBody>
          <a:bodyPr wrap="square" anchor="t" lIns="45720" rIns="45720" tIns="27432" bIns="27432">
            <a:spAutoFit/>
          </a:bodyPr>
          <a:lstStyle/>
          <a:p>
            <a:pPr algn="l">
              <a:spcAft>
                <a:spcPts val="0"/>
              </a:spcAft>
            </a:pPr>
            <a:r>
              <a:rPr sz="1150" b="0">
                <a:solidFill>
                  <a:srgbClr val="161B26"/>
                </a:solidFill>
                <a:latin typeface="Arial"/>
              </a:rPr>
              <a:t>Bottling systems use a device known as a carbo-cooler to achieve the refrigeration of the product for this process.</a:t>
            </a:r>
          </a:p>
        </p:txBody>
      </p:sp>
      <p:sp>
        <p:nvSpPr>
          <p:cNvPr id="17" name="Rounded Rectangle 16"/>
          <p:cNvSpPr/>
          <p:nvPr/>
        </p:nvSpPr>
        <p:spPr>
          <a:xfrm>
            <a:off x="7973568" y="5413248"/>
            <a:ext cx="3520440" cy="438912"/>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5513832"/>
            <a:ext cx="3108960" cy="22860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Interpret the evidence; do not infer causality.</a:t>
            </a:r>
          </a:p>
        </p:txBody>
      </p:sp>
      <p:sp>
        <p:nvSpPr>
          <p:cNvPr id="19" name="TextBox 18"/>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Editable native PowerPoint chart; example values align to Labs 2 and 9.</a:t>
            </a:r>
          </a:p>
        </p:txBody>
      </p:sp>
      <p:sp>
        <p:nvSpPr>
          <p:cNvPr id="20" name="TextBox 19"/>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1" name="TextBox 20"/>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220</a:t>
            </a:r>
          </a:p>
        </p:txBody>
      </p:sp>
    </p:spTree>
  </p:cSld>
  <p:clrMapOvr>
    <a:masterClrMapping/>
  </p:clrMapOvr>
  <p:transition spd="fast">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TOPIC 3 · HANDS-ON BRIDGE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400" b="1">
                <a:solidFill>
                  <a:srgbClr val="161B26"/>
                </a:solidFill>
                <a:latin typeface="Arial"/>
              </a:rPr>
              <a:t>Lab 09 · Anomaly Evidence, Content Safety, Security, and Governance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64208"/>
            <a:ext cx="150876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764792"/>
            <a:ext cx="1508760" cy="219456"/>
          </a:xfrm>
          <a:prstGeom prst="rect">
            <a:avLst/>
          </a:prstGeom>
          <a:noFill/>
        </p:spPr>
        <p:txBody>
          <a:bodyPr wrap="square" anchor="t" lIns="45720" rIns="45720" tIns="27432" bIns="27432">
            <a:spAutoFit/>
          </a:bodyPr>
          <a:lstStyle/>
          <a:p>
            <a:pPr algn="ctr">
              <a:spcAft>
                <a:spcPts val="0"/>
              </a:spcAft>
            </a:pPr>
            <a:r>
              <a:rPr sz="1300" b="1">
                <a:solidFill>
                  <a:srgbClr val="FFFFFF"/>
                </a:solidFill>
                <a:latin typeface="Arial"/>
              </a:rPr>
              <a:t>60 MIN</a:t>
            </a:r>
          </a:p>
        </p:txBody>
      </p:sp>
      <p:sp>
        <p:nvSpPr>
          <p:cNvPr id="9" name="TextBox 8"/>
          <p:cNvSpPr txBox="1"/>
          <p:nvPr/>
        </p:nvSpPr>
        <p:spPr>
          <a:xfrm>
            <a:off x="658368" y="2331720"/>
            <a:ext cx="10698480" cy="658368"/>
          </a:xfrm>
          <a:prstGeom prst="rect">
            <a:avLst/>
          </a:prstGeom>
          <a:noFill/>
        </p:spPr>
        <p:txBody>
          <a:bodyPr wrap="square" anchor="t" lIns="45720" rIns="45720" tIns="27432" bIns="27432">
            <a:spAutoFit/>
          </a:bodyPr>
          <a:lstStyle/>
          <a:p>
            <a:pPr algn="l">
              <a:spcAft>
                <a:spcPts val="0"/>
              </a:spcAft>
            </a:pPr>
            <a:r>
              <a:rPr sz="1800" b="1">
                <a:solidFill>
                  <a:srgbClr val="161B26"/>
                </a:solidFill>
                <a:latin typeface="Arial"/>
              </a:rPr>
              <a:t>Operations must replace a retired managed anomaly service without losing detection evidence or escalation controls.</a:t>
            </a:r>
          </a:p>
        </p:txBody>
      </p:sp>
      <p:sp>
        <p:nvSpPr>
          <p:cNvPr id="10" name="Rounded Rectangle 9"/>
          <p:cNvSpPr/>
          <p:nvPr/>
        </p:nvSpPr>
        <p:spPr>
          <a:xfrm>
            <a:off x="6583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3246120"/>
            <a:ext cx="73152" cy="1783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1F6FEB"/>
                </a:solidFill>
                <a:latin typeface="Arial"/>
              </a:rPr>
              <a:t>SCENARIO</a:t>
            </a:r>
          </a:p>
        </p:txBody>
      </p:sp>
      <p:sp>
        <p:nvSpPr>
          <p:cNvPr id="13" name="TextBox 12"/>
          <p:cNvSpPr txBox="1"/>
          <p:nvPr/>
        </p:nvSpPr>
        <p:spPr>
          <a:xfrm>
            <a:off x="8869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Compute anomaly evidence, test content-safety categories, and produce an actionable issue/governance report.</a:t>
            </a:r>
          </a:p>
        </p:txBody>
      </p:sp>
      <p:sp>
        <p:nvSpPr>
          <p:cNvPr id="14" name="Rounded Rectangle 13"/>
          <p:cNvSpPr/>
          <p:nvPr/>
        </p:nvSpPr>
        <p:spPr>
          <a:xfrm>
            <a:off x="34015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01568" y="3246120"/>
            <a:ext cx="73152" cy="1783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01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10B981"/>
                </a:solidFill>
                <a:latin typeface="Arial"/>
              </a:rPr>
              <a:t>MECHANISM</a:t>
            </a:r>
          </a:p>
        </p:txBody>
      </p:sp>
      <p:sp>
        <p:nvSpPr>
          <p:cNvPr id="17" name="TextBox 16"/>
          <p:cNvSpPr txBox="1"/>
          <p:nvPr/>
        </p:nvSpPr>
        <p:spPr>
          <a:xfrm>
            <a:off x="36301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Spreadsheet or Python; Microsoft Foundry safety guardrails; Azure governance worksheet</a:t>
            </a:r>
          </a:p>
        </p:txBody>
      </p:sp>
      <p:sp>
        <p:nvSpPr>
          <p:cNvPr id="18" name="Rounded Rectangle 17"/>
          <p:cNvSpPr/>
          <p:nvPr/>
        </p:nvSpPr>
        <p:spPr>
          <a:xfrm>
            <a:off x="61447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3246120"/>
            <a:ext cx="73152" cy="17830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7C3AED"/>
                </a:solidFill>
                <a:latin typeface="Arial"/>
              </a:rPr>
              <a:t>EVIDENCE</a:t>
            </a:r>
          </a:p>
        </p:txBody>
      </p:sp>
      <p:sp>
        <p:nvSpPr>
          <p:cNvPr id="21" name="TextBox 20"/>
          <p:cNvSpPr txBox="1"/>
          <p:nvPr/>
        </p:nvSpPr>
        <p:spPr>
          <a:xfrm>
            <a:off x="63733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A reproducible anomaly table, safety-severity results, issue report, access model and cost/cleanup checklist.</a:t>
            </a:r>
          </a:p>
        </p:txBody>
      </p:sp>
      <p:sp>
        <p:nvSpPr>
          <p:cNvPr id="22" name="Rounded Rectangle 21"/>
          <p:cNvSpPr/>
          <p:nvPr/>
        </p:nvSpPr>
        <p:spPr>
          <a:xfrm>
            <a:off x="88879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87968" y="3246120"/>
            <a:ext cx="73152" cy="1783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165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F59E0B"/>
                </a:solidFill>
                <a:latin typeface="Arial"/>
              </a:rPr>
              <a:t>VERIFY</a:t>
            </a:r>
          </a:p>
        </p:txBody>
      </p:sp>
      <p:sp>
        <p:nvSpPr>
          <p:cNvPr id="25" name="TextBox 24"/>
          <p:cNvSpPr txBox="1"/>
          <p:nvPr/>
        </p:nvSpPr>
        <p:spPr>
          <a:xfrm>
            <a:off x="91165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Anomaly rule is reproducible · Retirement/migration risk stated</a:t>
            </a:r>
          </a:p>
        </p:txBody>
      </p:sp>
      <p:sp>
        <p:nvSpPr>
          <p:cNvPr id="26" name="Rounded Rectangle 25"/>
          <p:cNvSpPr/>
          <p:nvPr/>
        </p:nvSpPr>
        <p:spPr>
          <a:xfrm>
            <a:off x="658368" y="5285232"/>
            <a:ext cx="10835640" cy="566928"/>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5440680"/>
            <a:ext cx="10378440" cy="256032"/>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Full step-by-step: Learner Guide + labs/lab-09-anomaly-safety-governance/README.md</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Lab bridge only—no click-by-click procedure on the slide.</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221</a:t>
            </a:r>
          </a:p>
        </p:txBody>
      </p:sp>
    </p:spTree>
  </p:cSld>
  <p:clrMapOvr>
    <a:masterClrMapping/>
  </p:clrMapOvr>
  <p:transition spd="fast">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920240"/>
            <a:ext cx="8046720" cy="320040"/>
          </a:xfrm>
          <a:prstGeom prst="rect">
            <a:avLst/>
          </a:prstGeom>
          <a:noFill/>
        </p:spPr>
        <p:txBody>
          <a:bodyPr wrap="square" anchor="t" lIns="45720" rIns="45720" tIns="27432" bIns="27432">
            <a:spAutoFit/>
          </a:bodyPr>
          <a:lstStyle/>
          <a:p>
            <a:pPr algn="l">
              <a:spcAft>
                <a:spcPts val="0"/>
              </a:spcAft>
            </a:pPr>
            <a:r>
              <a:rPr sz="1300" b="1">
                <a:solidFill>
                  <a:srgbClr val="10B981"/>
                </a:solidFill>
                <a:latin typeface="Arial"/>
              </a:rPr>
              <a:t>LEGACY COVERAGE · SLIDE 214</a:t>
            </a:r>
          </a:p>
        </p:txBody>
      </p:sp>
      <p:sp>
        <p:nvSpPr>
          <p:cNvPr id="5" name="TextBox 4"/>
          <p:cNvSpPr txBox="1"/>
          <p:nvPr/>
        </p:nvSpPr>
        <p:spPr>
          <a:xfrm>
            <a:off x="822960" y="2423160"/>
            <a:ext cx="9875520" cy="1234440"/>
          </a:xfrm>
          <a:prstGeom prst="rect">
            <a:avLst/>
          </a:prstGeom>
          <a:noFill/>
        </p:spPr>
        <p:txBody>
          <a:bodyPr wrap="square" anchor="t" lIns="45720" rIns="45720" tIns="27432" bIns="27432">
            <a:spAutoFit/>
          </a:bodyPr>
          <a:lstStyle/>
          <a:p>
            <a:pPr algn="l">
              <a:spcAft>
                <a:spcPts val="0"/>
              </a:spcAft>
            </a:pPr>
            <a:r>
              <a:rPr sz="3800" b="1">
                <a:solidFill>
                  <a:srgbClr val="161B26"/>
                </a:solidFill>
                <a:latin typeface="Arial"/>
              </a:rPr>
              <a:t>Topic 6 Explore knowledge mining</a:t>
            </a:r>
          </a:p>
        </p:txBody>
      </p:sp>
      <p:sp>
        <p:nvSpPr>
          <p:cNvPr id="6" name="Rectangle 5"/>
          <p:cNvSpPr/>
          <p:nvPr/>
        </p:nvSpPr>
        <p:spPr>
          <a:xfrm>
            <a:off x="822960" y="3913632"/>
            <a:ext cx="228600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731520"/>
            <a:ext cx="1645920" cy="1097280"/>
          </a:xfrm>
          <a:prstGeom prst="rect">
            <a:avLst/>
          </a:prstGeom>
          <a:noFill/>
        </p:spPr>
        <p:txBody>
          <a:bodyPr wrap="square" anchor="t" lIns="45720" rIns="45720" tIns="27432" bIns="27432">
            <a:spAutoFit/>
          </a:bodyPr>
          <a:lstStyle/>
          <a:p>
            <a:pPr algn="r">
              <a:spcAft>
                <a:spcPts val="0"/>
              </a:spcAft>
            </a:pPr>
            <a:r>
              <a:rPr sz="6400" b="1">
                <a:solidFill>
                  <a:srgbClr val="D7E0EA"/>
                </a:solidFill>
                <a:latin typeface="Arial"/>
              </a:rPr>
              <a:t>214</a:t>
            </a:r>
          </a:p>
        </p:txBody>
      </p:sp>
      <p:sp>
        <p:nvSpPr>
          <p:cNvPr id="8" name="TextBox 7"/>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9" name="TextBox 8"/>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10" name="TextBox 9"/>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222</a:t>
            </a:r>
          </a:p>
        </p:txBody>
      </p:sp>
    </p:spTree>
  </p:cSld>
  <p:clrMapOvr>
    <a:masterClrMapping/>
  </p:clrMapOvr>
  <p:transition spd="fast">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215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Azure AI Search</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key field uniquely identifies each indexed document.</a:t>
            </a:r>
          </a:p>
        </p:txBody>
      </p:sp>
      <p:cxnSp>
        <p:nvCxnSpPr>
          <p:cNvPr id="11" name="Connector 10"/>
          <p:cNvCxnSpPr/>
          <p:nvPr/>
        </p:nvCxnSpPr>
        <p:spPr>
          <a:xfrm>
            <a:off x="2871215" y="3310128"/>
            <a:ext cx="475489"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Searchable, filterable and retrievable flags shape queries.</a:t>
            </a:r>
          </a:p>
        </p:txBody>
      </p:sp>
      <p:cxnSp>
        <p:nvCxnSpPr>
          <p:cNvPr id="16" name="Connector 15"/>
          <p:cNvCxnSpPr/>
          <p:nvPr/>
        </p:nvCxnSpPr>
        <p:spPr>
          <a:xfrm>
            <a:off x="56144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An indexer moves and enriches content from a data source.</a:t>
            </a:r>
          </a:p>
        </p:txBody>
      </p:sp>
      <p:cxnSp>
        <p:nvCxnSpPr>
          <p:cNvPr id="21" name="Connector 20"/>
          <p:cNvCxnSpPr/>
          <p:nvPr/>
        </p:nvCxnSpPr>
        <p:spPr>
          <a:xfrm>
            <a:off x="83576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Validate freshness, permissions and query evidence.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223</a:t>
            </a:r>
          </a:p>
        </p:txBody>
      </p:sp>
    </p:spTree>
  </p:cSld>
  <p:clrMapOvr>
    <a:masterClrMapping/>
  </p:clrMapOvr>
  <p:transition spd="fast">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216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Understand Indexes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An Azure AI Search index can be thought of as a container of searchable documents.</a:t>
            </a:r>
          </a:p>
        </p:txBody>
      </p:sp>
      <p:cxnSp>
        <p:nvCxnSpPr>
          <p:cNvPr id="11" name="Connector 10"/>
          <p:cNvCxnSpPr/>
          <p:nvPr/>
        </p:nvCxnSpPr>
        <p:spPr>
          <a:xfrm>
            <a:off x="2871215" y="3310128"/>
            <a:ext cx="475489"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Conceptually you can think of an index as a table and each row in the table represents a document.</a:t>
            </a:r>
          </a:p>
        </p:txBody>
      </p:sp>
      <p:cxnSp>
        <p:nvCxnSpPr>
          <p:cNvPr id="16" name="Connector 15"/>
          <p:cNvCxnSpPr/>
          <p:nvPr/>
        </p:nvCxnSpPr>
        <p:spPr>
          <a:xfrm>
            <a:off x="56144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Tables have columns, and the columns can be thought of as equivalent to the fields in a document.</a:t>
            </a:r>
          </a:p>
        </p:txBody>
      </p:sp>
      <p:cxnSp>
        <p:nvCxnSpPr>
          <p:cNvPr id="21" name="Connector 20"/>
          <p:cNvCxnSpPr/>
          <p:nvPr/>
        </p:nvCxnSpPr>
        <p:spPr>
          <a:xfrm>
            <a:off x="83576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Columns have data types, just as the fields do on the documents.</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224</a:t>
            </a:r>
          </a:p>
        </p:txBody>
      </p:sp>
    </p:spTree>
  </p:cSld>
  <p:clrMapOvr>
    <a:masterClrMapping/>
  </p:clrMapOvr>
  <p:transition spd="fast">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217 ·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Index Schema</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key field uniquely identifies each indexed document.</a:t>
            </a:r>
          </a:p>
        </p:txBody>
      </p:sp>
      <p:cxnSp>
        <p:nvCxnSpPr>
          <p:cNvPr id="11" name="Connector 10"/>
          <p:cNvCxnSpPr/>
          <p:nvPr/>
        </p:nvCxnSpPr>
        <p:spPr>
          <a:xfrm>
            <a:off x="2871215" y="3310128"/>
            <a:ext cx="475489"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Searchable, filterable and retrievable flags shape queries.</a:t>
            </a:r>
          </a:p>
        </p:txBody>
      </p:sp>
      <p:cxnSp>
        <p:nvCxnSpPr>
          <p:cNvPr id="16" name="Connector 15"/>
          <p:cNvCxnSpPr/>
          <p:nvPr/>
        </p:nvCxnSpPr>
        <p:spPr>
          <a:xfrm>
            <a:off x="56144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An indexer moves and enriches content from a data source.</a:t>
            </a:r>
          </a:p>
        </p:txBody>
      </p:sp>
      <p:cxnSp>
        <p:nvCxnSpPr>
          <p:cNvPr id="21" name="Connector 20"/>
          <p:cNvCxnSpPr/>
          <p:nvPr/>
        </p:nvCxnSpPr>
        <p:spPr>
          <a:xfrm>
            <a:off x="83576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Validate freshness, permissions and query evidence.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225</a:t>
            </a:r>
          </a:p>
        </p:txBody>
      </p:sp>
    </p:spTree>
  </p:cSld>
  <p:clrMapOvr>
    <a:masterClrMapping/>
  </p:clrMapOvr>
  <p:transition spd="fast">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218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Index Attributes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key field uniquely identifies each indexed document.</a:t>
            </a:r>
          </a:p>
        </p:txBody>
      </p:sp>
      <p:cxnSp>
        <p:nvCxnSpPr>
          <p:cNvPr id="11" name="Connector 10"/>
          <p:cNvCxnSpPr/>
          <p:nvPr/>
        </p:nvCxnSpPr>
        <p:spPr>
          <a:xfrm>
            <a:off x="2871215" y="3310128"/>
            <a:ext cx="475489"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Searchable, filterable and retrievable flags shape queries.</a:t>
            </a:r>
          </a:p>
        </p:txBody>
      </p:sp>
      <p:cxnSp>
        <p:nvCxnSpPr>
          <p:cNvPr id="16" name="Connector 15"/>
          <p:cNvCxnSpPr/>
          <p:nvPr/>
        </p:nvCxnSpPr>
        <p:spPr>
          <a:xfrm>
            <a:off x="56144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An indexer moves and enriches content from a data source.</a:t>
            </a:r>
          </a:p>
        </p:txBody>
      </p:sp>
      <p:cxnSp>
        <p:nvCxnSpPr>
          <p:cNvPr id="21" name="Connector 20"/>
          <p:cNvCxnSpPr/>
          <p:nvPr/>
        </p:nvCxnSpPr>
        <p:spPr>
          <a:xfrm>
            <a:off x="83576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Validate freshness, permissions and query evidence.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226</a:t>
            </a:r>
          </a:p>
        </p:txBody>
      </p:sp>
    </p:spTree>
  </p:cSld>
  <p:clrMapOvr>
    <a:masterClrMapping/>
  </p:clrMapOvr>
  <p:transition spd="fast">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219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Use an indexer to build an index</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Pushing data has the most flexibility as it has no restrictions on the data source type, location, or frequency of execution.</a:t>
            </a:r>
          </a:p>
        </p:txBody>
      </p:sp>
      <p:cxnSp>
        <p:nvCxnSpPr>
          <p:cNvPr id="11" name="Connector 10"/>
          <p:cNvCxnSpPr/>
          <p:nvPr/>
        </p:nvCxnSpPr>
        <p:spPr>
          <a:xfrm>
            <a:off x="2871215" y="3310128"/>
            <a:ext cx="475489"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key field uniquely identifies each indexed document.</a:t>
            </a:r>
          </a:p>
        </p:txBody>
      </p:sp>
      <p:cxnSp>
        <p:nvCxnSpPr>
          <p:cNvPr id="16" name="Connector 15"/>
          <p:cNvCxnSpPr/>
          <p:nvPr/>
        </p:nvCxnSpPr>
        <p:spPr>
          <a:xfrm>
            <a:off x="56144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Searchable, filterable and retrievable flags shape queries.</a:t>
            </a:r>
          </a:p>
        </p:txBody>
      </p:sp>
      <p:cxnSp>
        <p:nvCxnSpPr>
          <p:cNvPr id="21" name="Connector 20"/>
          <p:cNvCxnSpPr/>
          <p:nvPr/>
        </p:nvCxnSpPr>
        <p:spPr>
          <a:xfrm>
            <a:off x="83576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An indexer moves and enriches content from a data source.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227</a:t>
            </a:r>
          </a:p>
        </p:txBody>
      </p:sp>
    </p:spTree>
  </p:cSld>
  <p:clrMapOvr>
    <a:masterClrMapping/>
  </p:clrMapOvr>
  <p:transition spd="fast">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220 · ARCH</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Knowledge Store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knowledge store is persistent storage of enriched content.</a:t>
            </a:r>
          </a:p>
        </p:txBody>
      </p:sp>
      <p:cxnSp>
        <p:nvCxnSpPr>
          <p:cNvPr id="11" name="Connector 10"/>
          <p:cNvCxnSpPr/>
          <p:nvPr/>
        </p:nvCxnSpPr>
        <p:spPr>
          <a:xfrm>
            <a:off x="2871215" y="3310128"/>
            <a:ext cx="475489"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The purpose of a knowledge store is to store the data generated from AI enrichment in a container.</a:t>
            </a:r>
          </a:p>
        </p:txBody>
      </p:sp>
      <p:cxnSp>
        <p:nvCxnSpPr>
          <p:cNvPr id="16" name="Connector 15"/>
          <p:cNvCxnSpPr/>
          <p:nvPr/>
        </p:nvCxnSpPr>
        <p:spPr>
          <a:xfrm>
            <a:off x="56144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For example, you may want to save the results of an AI skillset that generates captions from images.</a:t>
            </a:r>
          </a:p>
        </p:txBody>
      </p:sp>
      <p:cxnSp>
        <p:nvCxnSpPr>
          <p:cNvPr id="21" name="Connector 20"/>
          <p:cNvCxnSpPr/>
          <p:nvPr/>
        </p:nvCxnSpPr>
        <p:spPr>
          <a:xfrm>
            <a:off x="83576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Knowledge Store.</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228</a:t>
            </a:r>
          </a:p>
        </p:txBody>
      </p:sp>
    </p:spTree>
  </p:cSld>
  <p:clrMapOvr>
    <a:masterClrMapping/>
  </p:clrMapOvr>
  <p:transition spd="fast">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221 · AUTHENTIC UI</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Create an index in the Azure portal</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949440" cy="425196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_services.png"/>
          <p:cNvPicPr>
            <a:picLocks noChangeAspect="1"/>
          </p:cNvPicPr>
          <p:nvPr/>
        </p:nvPicPr>
        <p:blipFill>
          <a:blip r:embed="rId2"/>
          <a:stretch>
            <a:fillRect/>
          </a:stretch>
        </p:blipFill>
        <p:spPr>
          <a:xfrm>
            <a:off x="1197327" y="1700784"/>
            <a:ext cx="5871521" cy="4251960"/>
          </a:xfrm>
          <a:prstGeom prst="rect">
            <a:avLst/>
          </a:prstGeom>
        </p:spPr>
      </p:pic>
      <p:sp>
        <p:nvSpPr>
          <p:cNvPr id="9" name="Rounded Rectangle 8"/>
          <p:cNvSpPr/>
          <p:nvPr/>
        </p:nvSpPr>
        <p:spPr>
          <a:xfrm>
            <a:off x="7909560" y="175564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65008" y="1965960"/>
            <a:ext cx="457200" cy="4572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205740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2" name="TextBox 11"/>
          <p:cNvSpPr txBox="1"/>
          <p:nvPr/>
        </p:nvSpPr>
        <p:spPr>
          <a:xfrm>
            <a:off x="8668512" y="1911095"/>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A key field uniquely identifies each indexed document.</a:t>
            </a:r>
          </a:p>
        </p:txBody>
      </p:sp>
      <p:sp>
        <p:nvSpPr>
          <p:cNvPr id="13" name="Rounded Rectangle 12"/>
          <p:cNvSpPr/>
          <p:nvPr/>
        </p:nvSpPr>
        <p:spPr>
          <a:xfrm>
            <a:off x="7909560" y="308152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3291840"/>
            <a:ext cx="45720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38328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6" name="TextBox 15"/>
          <p:cNvSpPr txBox="1"/>
          <p:nvPr/>
        </p:nvSpPr>
        <p:spPr>
          <a:xfrm>
            <a:off x="8668512" y="323697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Searchable, filterable and retrievable flags shape queries.</a:t>
            </a:r>
          </a:p>
        </p:txBody>
      </p:sp>
      <p:sp>
        <p:nvSpPr>
          <p:cNvPr id="17" name="Rounded Rectangle 16"/>
          <p:cNvSpPr/>
          <p:nvPr/>
        </p:nvSpPr>
        <p:spPr>
          <a:xfrm>
            <a:off x="7909560" y="4407408"/>
            <a:ext cx="3584448" cy="107899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5008" y="4617720"/>
            <a:ext cx="457200"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4709160"/>
            <a:ext cx="457200" cy="228600"/>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0" name="TextBox 19"/>
          <p:cNvSpPr txBox="1"/>
          <p:nvPr/>
        </p:nvSpPr>
        <p:spPr>
          <a:xfrm>
            <a:off x="8668512" y="4562856"/>
            <a:ext cx="2578608" cy="749808"/>
          </a:xfrm>
          <a:prstGeom prst="rect">
            <a:avLst/>
          </a:prstGeom>
          <a:noFill/>
        </p:spPr>
        <p:txBody>
          <a:bodyPr wrap="square" anchor="t" lIns="45720" rIns="45720" tIns="27432" bIns="27432">
            <a:spAutoFit/>
          </a:bodyPr>
          <a:lstStyle/>
          <a:p>
            <a:pPr algn="l">
              <a:spcAft>
                <a:spcPts val="0"/>
              </a:spcAft>
            </a:pPr>
            <a:r>
              <a:rPr sz="1140" b="0">
                <a:solidFill>
                  <a:srgbClr val="161B26"/>
                </a:solidFill>
                <a:latin typeface="Arial"/>
              </a:rPr>
              <a:t>An indexer moves and enriches content from a data source.</a:t>
            </a:r>
          </a:p>
        </p:txBody>
      </p:sp>
      <p:sp>
        <p:nvSpPr>
          <p:cNvPr id="21" name="Rounded Rectangle 20"/>
          <p:cNvSpPr/>
          <p:nvPr/>
        </p:nvSpPr>
        <p:spPr>
          <a:xfrm>
            <a:off x="7909560" y="5577840"/>
            <a:ext cx="3584448" cy="384048"/>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5650992"/>
            <a:ext cx="3154680" cy="201168"/>
          </a:xfrm>
          <a:prstGeom prst="rect">
            <a:avLst/>
          </a:prstGeom>
          <a:noFill/>
        </p:spPr>
        <p:txBody>
          <a:bodyPr wrap="square" anchor="t" lIns="45720" rIns="45720" tIns="27432" bIns="27432">
            <a:spAutoFit/>
          </a:bodyPr>
          <a:lstStyle/>
          <a:p>
            <a:pPr algn="l">
              <a:spcAft>
                <a:spcPts val="0"/>
              </a:spcAft>
            </a:pPr>
            <a:r>
              <a:rPr sz="980" b="1">
                <a:solidFill>
                  <a:srgbClr val="1F6FEB"/>
                </a:solidFill>
                <a:latin typeface="Arial"/>
              </a:rPr>
              <a:t>UI may evolve; verify the named state and output.</a:t>
            </a:r>
          </a:p>
        </p:txBody>
      </p:sp>
      <p:sp>
        <p:nvSpPr>
          <p:cNvPr id="23" name="TextBox 2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UI source: MicrosoftLearning repositories; screenshot pinned to the source register.</a:t>
            </a:r>
          </a:p>
        </p:txBody>
      </p:sp>
      <p:sp>
        <p:nvSpPr>
          <p:cNvPr id="24" name="TextBox 2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5" name="TextBox 2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229</a:t>
            </a:r>
          </a:p>
        </p:txBody>
      </p:sp>
    </p:spTree>
  </p:cSld>
  <p:clrMapOvr>
    <a:masterClrMapping/>
  </p:clrMapOvr>
  <p:transition spd="fast">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222 · MODEL</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Query an Azure AI Search Index</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Index and query design are closely linked.</a:t>
            </a:r>
          </a:p>
        </p:txBody>
      </p:sp>
      <p:cxnSp>
        <p:nvCxnSpPr>
          <p:cNvPr id="11" name="Connector 10"/>
          <p:cNvCxnSpPr/>
          <p:nvPr/>
        </p:nvCxnSpPr>
        <p:spPr>
          <a:xfrm>
            <a:off x="2871215" y="3310128"/>
            <a:ext cx="475489"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After we build the index, we can perform queries.</a:t>
            </a:r>
          </a:p>
        </p:txBody>
      </p:sp>
      <p:cxnSp>
        <p:nvCxnSpPr>
          <p:cNvPr id="16" name="Connector 15"/>
          <p:cNvCxnSpPr/>
          <p:nvPr/>
        </p:nvCxnSpPr>
        <p:spPr>
          <a:xfrm>
            <a:off x="56144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crucial component to understand is that the schema of the index determines what queries can be answered.</a:t>
            </a:r>
          </a:p>
        </p:txBody>
      </p:sp>
      <p:cxnSp>
        <p:nvCxnSpPr>
          <p:cNvPr id="21" name="Connector 20"/>
          <p:cNvCxnSpPr/>
          <p:nvPr/>
        </p:nvCxnSpPr>
        <p:spPr>
          <a:xfrm>
            <a:off x="83576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Azure AI Search queries can be submitted as an HTTP or REST API request, with the response coming back as JSON.</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230</a:t>
            </a:r>
          </a:p>
        </p:txBody>
      </p:sp>
    </p:spTree>
  </p:cSld>
  <p:clrMapOvr>
    <a:masterClrMapping/>
  </p:clrMapOvr>
  <p:transition spd="fast">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LEGACY SLIDE 223 · CASE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Simple query requests</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807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841247"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A query request is a list or words (search terms) and query operators (simple or full) of what you would like to see returned in a result set.</a:t>
            </a:r>
          </a:p>
        </p:txBody>
      </p:sp>
      <p:cxnSp>
        <p:nvCxnSpPr>
          <p:cNvPr id="11" name="Connector 10"/>
          <p:cNvCxnSpPr/>
          <p:nvPr/>
        </p:nvCxnSpPr>
        <p:spPr>
          <a:xfrm>
            <a:off x="2871215" y="3310128"/>
            <a:ext cx="475489"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239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35844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Let's look what components make up a search query.</a:t>
            </a:r>
          </a:p>
        </p:txBody>
      </p:sp>
      <p:cxnSp>
        <p:nvCxnSpPr>
          <p:cNvPr id="16" name="Connector 15"/>
          <p:cNvCxnSpPr/>
          <p:nvPr/>
        </p:nvCxnSpPr>
        <p:spPr>
          <a:xfrm>
            <a:off x="56144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47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671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671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63276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Consider this simple search example coffee (-"busy" + "wifi").</a:t>
            </a:r>
          </a:p>
        </p:txBody>
      </p:sp>
      <p:cxnSp>
        <p:nvCxnSpPr>
          <p:cNvPr id="21" name="Connector 20"/>
          <p:cNvCxnSpPr/>
          <p:nvPr/>
        </p:nvCxnSpPr>
        <p:spPr>
          <a:xfrm>
            <a:off x="8357616" y="3310128"/>
            <a:ext cx="475488"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87968" y="1965960"/>
            <a:ext cx="2212848" cy="269748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0344" y="2221992"/>
            <a:ext cx="768096" cy="76809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0344" y="2395728"/>
            <a:ext cx="768096" cy="310896"/>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4</a:t>
            </a:r>
          </a:p>
        </p:txBody>
      </p:sp>
      <p:sp>
        <p:nvSpPr>
          <p:cNvPr id="25" name="TextBox 24"/>
          <p:cNvSpPr txBox="1"/>
          <p:nvPr/>
        </p:nvSpPr>
        <p:spPr>
          <a:xfrm>
            <a:off x="9070848" y="3182112"/>
            <a:ext cx="1847088" cy="1161288"/>
          </a:xfrm>
          <a:prstGeom prst="rect">
            <a:avLst/>
          </a:prstGeom>
          <a:noFill/>
        </p:spPr>
        <p:txBody>
          <a:bodyPr wrap="square" anchor="ctr" lIns="45720" rIns="45720" tIns="27432" bIns="27432">
            <a:spAutoFit/>
          </a:bodyPr>
          <a:lstStyle/>
          <a:p>
            <a:pPr algn="ctr">
              <a:spcAft>
                <a:spcPts val="0"/>
              </a:spcAft>
            </a:pPr>
            <a:r>
              <a:rPr sz="1250" b="0">
                <a:solidFill>
                  <a:srgbClr val="161B26"/>
                </a:solidFill>
                <a:latin typeface="Arial"/>
              </a:rPr>
              <a:t>Identify the input contract for Simple query requests.</a:t>
            </a:r>
          </a:p>
        </p:txBody>
      </p:sp>
      <p:sp>
        <p:nvSpPr>
          <p:cNvPr id="26" name="Rounded Rectangle 25"/>
          <p:cNvSpPr/>
          <p:nvPr/>
        </p:nvSpPr>
        <p:spPr>
          <a:xfrm>
            <a:off x="658368" y="4983480"/>
            <a:ext cx="10835640" cy="6858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166360"/>
            <a:ext cx="10332720" cy="292608"/>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Trace the named input, transformation, output and review decision. Full click path: Learner Guide and aligned lab folder.</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Mechanism redraw from legacy v9; editable PowerPoint shapes.</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231</a:t>
            </a:r>
          </a:p>
        </p:txBody>
      </p:sp>
    </p:spTree>
  </p:cSld>
  <p:clrMapOvr>
    <a:masterClrMapping/>
  </p:clrMapOvr>
  <p:transition spd="fast">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TOPIC 4 · HANDS-ON BRIDGE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Lab 07 · Document Intelligence and Knowledge Mining</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64208"/>
            <a:ext cx="150876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764792"/>
            <a:ext cx="1508760" cy="219456"/>
          </a:xfrm>
          <a:prstGeom prst="rect">
            <a:avLst/>
          </a:prstGeom>
          <a:noFill/>
        </p:spPr>
        <p:txBody>
          <a:bodyPr wrap="square" anchor="t" lIns="45720" rIns="45720" tIns="27432" bIns="27432">
            <a:spAutoFit/>
          </a:bodyPr>
          <a:lstStyle/>
          <a:p>
            <a:pPr algn="ctr">
              <a:spcAft>
                <a:spcPts val="0"/>
              </a:spcAft>
            </a:pPr>
            <a:r>
              <a:rPr sz="1300" b="1">
                <a:solidFill>
                  <a:srgbClr val="FFFFFF"/>
                </a:solidFill>
                <a:latin typeface="Arial"/>
              </a:rPr>
              <a:t>70 MIN</a:t>
            </a:r>
          </a:p>
        </p:txBody>
      </p:sp>
      <p:sp>
        <p:nvSpPr>
          <p:cNvPr id="9" name="TextBox 8"/>
          <p:cNvSpPr txBox="1"/>
          <p:nvPr/>
        </p:nvSpPr>
        <p:spPr>
          <a:xfrm>
            <a:off x="658368" y="2331720"/>
            <a:ext cx="10698480" cy="658368"/>
          </a:xfrm>
          <a:prstGeom prst="rect">
            <a:avLst/>
          </a:prstGeom>
          <a:noFill/>
        </p:spPr>
        <p:txBody>
          <a:bodyPr wrap="square" anchor="t" lIns="45720" rIns="45720" tIns="27432" bIns="27432">
            <a:spAutoFit/>
          </a:bodyPr>
          <a:lstStyle/>
          <a:p>
            <a:pPr algn="l">
              <a:spcAft>
                <a:spcPts val="0"/>
              </a:spcAft>
            </a:pPr>
            <a:r>
              <a:rPr sz="1800" b="1">
                <a:solidFill>
                  <a:srgbClr val="161B26"/>
                </a:solidFill>
                <a:latin typeface="Arial"/>
              </a:rPr>
              <a:t>Accounts payable needs receipt data that can move safely from extraction into search and reporting systems.</a:t>
            </a:r>
          </a:p>
        </p:txBody>
      </p:sp>
      <p:sp>
        <p:nvSpPr>
          <p:cNvPr id="10" name="Rounded Rectangle 9"/>
          <p:cNvSpPr/>
          <p:nvPr/>
        </p:nvSpPr>
        <p:spPr>
          <a:xfrm>
            <a:off x="6583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3246120"/>
            <a:ext cx="73152" cy="1783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1F6FEB"/>
                </a:solidFill>
                <a:latin typeface="Arial"/>
              </a:rPr>
              <a:t>SCENARIO</a:t>
            </a:r>
          </a:p>
        </p:txBody>
      </p:sp>
      <p:sp>
        <p:nvSpPr>
          <p:cNvPr id="13" name="TextBox 12"/>
          <p:cNvSpPr txBox="1"/>
          <p:nvPr/>
        </p:nvSpPr>
        <p:spPr>
          <a:xfrm>
            <a:off x="8869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Extract document fields, normalize them to a data contract, and prepare searchable knowledge records.</a:t>
            </a:r>
          </a:p>
        </p:txBody>
      </p:sp>
      <p:sp>
        <p:nvSpPr>
          <p:cNvPr id="14" name="Rounded Rectangle 13"/>
          <p:cNvSpPr/>
          <p:nvPr/>
        </p:nvSpPr>
        <p:spPr>
          <a:xfrm>
            <a:off x="34015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01568" y="3246120"/>
            <a:ext cx="73152" cy="1783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01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10B981"/>
                </a:solidFill>
                <a:latin typeface="Arial"/>
              </a:rPr>
              <a:t>MECHANISM</a:t>
            </a:r>
          </a:p>
        </p:txBody>
      </p:sp>
      <p:sp>
        <p:nvSpPr>
          <p:cNvPr id="17" name="TextBox 16"/>
          <p:cNvSpPr txBox="1"/>
          <p:nvPr/>
        </p:nvSpPr>
        <p:spPr>
          <a:xfrm>
            <a:off x="36301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Microsoft Foundry Content Understanding; Azure AI Search design worksheet; JSON Schema</a:t>
            </a:r>
          </a:p>
        </p:txBody>
      </p:sp>
      <p:sp>
        <p:nvSpPr>
          <p:cNvPr id="18" name="Rounded Rectangle 17"/>
          <p:cNvSpPr/>
          <p:nvPr/>
        </p:nvSpPr>
        <p:spPr>
          <a:xfrm>
            <a:off x="61447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3246120"/>
            <a:ext cx="73152" cy="17830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7C3AED"/>
                </a:solidFill>
                <a:latin typeface="Arial"/>
              </a:rPr>
              <a:t>EVIDENCE</a:t>
            </a:r>
          </a:p>
        </p:txBody>
      </p:sp>
      <p:sp>
        <p:nvSpPr>
          <p:cNvPr id="21" name="TextBox 20"/>
          <p:cNvSpPr txBox="1"/>
          <p:nvPr/>
        </p:nvSpPr>
        <p:spPr>
          <a:xfrm>
            <a:off x="63733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A receipt extraction, cleaned interoperable JSON document, field-quality report and search-index design.</a:t>
            </a:r>
          </a:p>
        </p:txBody>
      </p:sp>
      <p:sp>
        <p:nvSpPr>
          <p:cNvPr id="22" name="Rounded Rectangle 21"/>
          <p:cNvSpPr/>
          <p:nvPr/>
        </p:nvSpPr>
        <p:spPr>
          <a:xfrm>
            <a:off x="88879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87968" y="3246120"/>
            <a:ext cx="73152" cy="1783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165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F59E0B"/>
                </a:solidFill>
                <a:latin typeface="Arial"/>
              </a:rPr>
              <a:t>VERIFY</a:t>
            </a:r>
          </a:p>
        </p:txBody>
      </p:sp>
      <p:sp>
        <p:nvSpPr>
          <p:cNvPr id="25" name="TextBox 24"/>
          <p:cNvSpPr txBox="1"/>
          <p:nvPr/>
        </p:nvSpPr>
        <p:spPr>
          <a:xfrm>
            <a:off x="91165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Raw and structured outputs compared · Normalized JSON validates</a:t>
            </a:r>
          </a:p>
        </p:txBody>
      </p:sp>
      <p:sp>
        <p:nvSpPr>
          <p:cNvPr id="26" name="Rounded Rectangle 25"/>
          <p:cNvSpPr/>
          <p:nvPr/>
        </p:nvSpPr>
        <p:spPr>
          <a:xfrm>
            <a:off x="658368" y="5285232"/>
            <a:ext cx="10835640" cy="566928"/>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5440680"/>
            <a:ext cx="10378440" cy="256032"/>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Full step-by-step: Learner Guide + labs/lab-07-document-intelligence-knowledge-mining/README.md</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Lab bridge only—no click-by-click procedure on the slide.</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232</a:t>
            </a:r>
          </a:p>
        </p:txBody>
      </p:sp>
    </p:spTree>
  </p:cSld>
  <p:clrMapOvr>
    <a:masterClrMapping/>
  </p:clrMapOvr>
  <p:transition spd="fast">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224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400" b="1">
                <a:solidFill>
                  <a:srgbClr val="161B26"/>
                </a:solidFill>
                <a:latin typeface="Arial"/>
              </a:rPr>
              <a:t>Knowledge Quiz - Fundamentals of Azure AI Document Intelligence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Compare prebuilt and custom document extraction.</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Validate fields, tables, geometry and confidence.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Preserve the original document for traceability.</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Redact sensitive fields and document review decisions.</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233</a:t>
            </a:r>
          </a:p>
        </p:txBody>
      </p:sp>
    </p:spTree>
  </p:cSld>
  <p:clrMapOvr>
    <a:masterClrMapping/>
  </p:clrMapOvr>
  <p:transition spd="fast">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225 · EVIDENCE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Knowledge Check · Knowledge Mining and Azure AI Search</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Define key, searchable, filterable and retrievable fields.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Trace ingestion from data source through indexer to index.</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Test simple, filtered and semantic retrieval behavior.</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Monitor freshness, access scope and failed enrichment.</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234</a:t>
            </a:r>
          </a:p>
        </p:txBody>
      </p:sp>
    </p:spTree>
  </p:cSld>
  <p:clrMapOvr>
    <a:masterClrMapping/>
  </p:clrMapOvr>
  <p:transition spd="fast">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TOPIC 4 · HANDS-ON BRIDGE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400" b="1">
                <a:solidFill>
                  <a:srgbClr val="161B26"/>
                </a:solidFill>
                <a:latin typeface="Arial"/>
              </a:rPr>
              <a:t>Lab 10 · AI-900 Capstone: End-to-End Azure AI Solution Review</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64208"/>
            <a:ext cx="150876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764792"/>
            <a:ext cx="1508760" cy="219456"/>
          </a:xfrm>
          <a:prstGeom prst="rect">
            <a:avLst/>
          </a:prstGeom>
          <a:noFill/>
        </p:spPr>
        <p:txBody>
          <a:bodyPr wrap="square" anchor="t" lIns="45720" rIns="45720" tIns="27432" bIns="27432">
            <a:spAutoFit/>
          </a:bodyPr>
          <a:lstStyle/>
          <a:p>
            <a:pPr algn="ctr">
              <a:spcAft>
                <a:spcPts val="0"/>
              </a:spcAft>
            </a:pPr>
            <a:r>
              <a:rPr sz="1300" b="1">
                <a:solidFill>
                  <a:srgbClr val="FFFFFF"/>
                </a:solidFill>
                <a:latin typeface="Arial"/>
              </a:rPr>
              <a:t>80 MIN</a:t>
            </a:r>
          </a:p>
        </p:txBody>
      </p:sp>
      <p:sp>
        <p:nvSpPr>
          <p:cNvPr id="9" name="TextBox 8"/>
          <p:cNvSpPr txBox="1"/>
          <p:nvPr/>
        </p:nvSpPr>
        <p:spPr>
          <a:xfrm>
            <a:off x="658368" y="2331720"/>
            <a:ext cx="10698480" cy="658368"/>
          </a:xfrm>
          <a:prstGeom prst="rect">
            <a:avLst/>
          </a:prstGeom>
          <a:noFill/>
        </p:spPr>
        <p:txBody>
          <a:bodyPr wrap="square" anchor="t" lIns="45720" rIns="45720" tIns="27432" bIns="27432">
            <a:spAutoFit/>
          </a:bodyPr>
          <a:lstStyle/>
          <a:p>
            <a:pPr algn="l">
              <a:spcAft>
                <a:spcPts val="0"/>
              </a:spcAft>
            </a:pPr>
            <a:r>
              <a:rPr sz="1800" b="1">
                <a:solidFill>
                  <a:srgbClr val="161B26"/>
                </a:solidFill>
                <a:latin typeface="Arial"/>
              </a:rPr>
              <a:t>Contoso must approve one cross-service Azure AI solution for product feedback, receipts and policy support.</a:t>
            </a:r>
          </a:p>
        </p:txBody>
      </p:sp>
      <p:sp>
        <p:nvSpPr>
          <p:cNvPr id="10" name="Rounded Rectangle 9"/>
          <p:cNvSpPr/>
          <p:nvPr/>
        </p:nvSpPr>
        <p:spPr>
          <a:xfrm>
            <a:off x="6583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3246120"/>
            <a:ext cx="73152" cy="1783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1F6FEB"/>
                </a:solidFill>
                <a:latin typeface="Arial"/>
              </a:rPr>
              <a:t>SCENARIO</a:t>
            </a:r>
          </a:p>
        </p:txBody>
      </p:sp>
      <p:sp>
        <p:nvSpPr>
          <p:cNvPr id="13" name="TextBox 12"/>
          <p:cNvSpPr txBox="1"/>
          <p:nvPr/>
        </p:nvSpPr>
        <p:spPr>
          <a:xfrm>
            <a:off x="8869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Integrate service selection, workflow deployment, issue reporting, interoperability, cleaning and governance into one evidence-backed design.</a:t>
            </a:r>
          </a:p>
        </p:txBody>
      </p:sp>
      <p:sp>
        <p:nvSpPr>
          <p:cNvPr id="14" name="Rounded Rectangle 13"/>
          <p:cNvSpPr/>
          <p:nvPr/>
        </p:nvSpPr>
        <p:spPr>
          <a:xfrm>
            <a:off x="34015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01568" y="3246120"/>
            <a:ext cx="73152" cy="1783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01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10B981"/>
                </a:solidFill>
                <a:latin typeface="Arial"/>
              </a:rPr>
              <a:t>MECHANISM</a:t>
            </a:r>
          </a:p>
        </p:txBody>
      </p:sp>
      <p:sp>
        <p:nvSpPr>
          <p:cNvPr id="17" name="TextBox 16"/>
          <p:cNvSpPr txBox="1"/>
          <p:nvPr/>
        </p:nvSpPr>
        <p:spPr>
          <a:xfrm>
            <a:off x="36301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Architecture worksheet; prior lab evidence; Microsoft Foundry; Azure AI Search design</a:t>
            </a:r>
          </a:p>
        </p:txBody>
      </p:sp>
      <p:sp>
        <p:nvSpPr>
          <p:cNvPr id="18" name="Rounded Rectangle 17"/>
          <p:cNvSpPr/>
          <p:nvPr/>
        </p:nvSpPr>
        <p:spPr>
          <a:xfrm>
            <a:off x="61447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3246120"/>
            <a:ext cx="73152" cy="17830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7C3AED"/>
                </a:solidFill>
                <a:latin typeface="Arial"/>
              </a:rPr>
              <a:t>EVIDENCE</a:t>
            </a:r>
          </a:p>
        </p:txBody>
      </p:sp>
      <p:sp>
        <p:nvSpPr>
          <p:cNvPr id="21" name="TextBox 20"/>
          <p:cNvSpPr txBox="1"/>
          <p:nvPr/>
        </p:nvSpPr>
        <p:spPr>
          <a:xfrm>
            <a:off x="63733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A final architecture, data contract, evidence matrix, issue register, validation plan and resource-cleanup record.</a:t>
            </a:r>
          </a:p>
        </p:txBody>
      </p:sp>
      <p:sp>
        <p:nvSpPr>
          <p:cNvPr id="22" name="Rounded Rectangle 21"/>
          <p:cNvSpPr/>
          <p:nvPr/>
        </p:nvSpPr>
        <p:spPr>
          <a:xfrm>
            <a:off x="8887968" y="3246120"/>
            <a:ext cx="2487168" cy="1783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87968" y="3246120"/>
            <a:ext cx="73152" cy="1783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16568" y="3456432"/>
            <a:ext cx="2011680" cy="228600"/>
          </a:xfrm>
          <a:prstGeom prst="rect">
            <a:avLst/>
          </a:prstGeom>
          <a:noFill/>
        </p:spPr>
        <p:txBody>
          <a:bodyPr wrap="square" anchor="t" lIns="45720" rIns="45720" tIns="27432" bIns="27432">
            <a:spAutoFit/>
          </a:bodyPr>
          <a:lstStyle/>
          <a:p>
            <a:pPr algn="l">
              <a:spcAft>
                <a:spcPts val="0"/>
              </a:spcAft>
            </a:pPr>
            <a:r>
              <a:rPr sz="1100" b="1">
                <a:solidFill>
                  <a:srgbClr val="F59E0B"/>
                </a:solidFill>
                <a:latin typeface="Arial"/>
              </a:rPr>
              <a:t>VERIFY</a:t>
            </a:r>
          </a:p>
        </p:txBody>
      </p:sp>
      <p:sp>
        <p:nvSpPr>
          <p:cNvPr id="25" name="TextBox 24"/>
          <p:cNvSpPr txBox="1"/>
          <p:nvPr/>
        </p:nvSpPr>
        <p:spPr>
          <a:xfrm>
            <a:off x="9116568" y="3867912"/>
            <a:ext cx="2011680" cy="914400"/>
          </a:xfrm>
          <a:prstGeom prst="rect">
            <a:avLst/>
          </a:prstGeom>
          <a:noFill/>
        </p:spPr>
        <p:txBody>
          <a:bodyPr wrap="square" anchor="t" lIns="45720" rIns="45720" tIns="27432" bIns="27432">
            <a:spAutoFit/>
          </a:bodyPr>
          <a:lstStyle/>
          <a:p>
            <a:pPr algn="l">
              <a:spcAft>
                <a:spcPts val="0"/>
              </a:spcAft>
            </a:pPr>
            <a:r>
              <a:rPr sz="1120" b="0">
                <a:solidFill>
                  <a:srgbClr val="161B26"/>
                </a:solidFill>
                <a:latin typeface="Arial"/>
              </a:rPr>
              <a:t>Architecture names inputs, outputs and stores · Canonical schema and cleaning rules included</a:t>
            </a:r>
          </a:p>
        </p:txBody>
      </p:sp>
      <p:sp>
        <p:nvSpPr>
          <p:cNvPr id="26" name="Rounded Rectangle 25"/>
          <p:cNvSpPr/>
          <p:nvPr/>
        </p:nvSpPr>
        <p:spPr>
          <a:xfrm>
            <a:off x="658368" y="5285232"/>
            <a:ext cx="10835640" cy="566928"/>
          </a:xfrm>
          <a:prstGeom prst="roundRect">
            <a:avLst/>
          </a:prstGeom>
          <a:solidFill>
            <a:srgbClr val="ED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5440680"/>
            <a:ext cx="10378440" cy="256032"/>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Full step-by-step: Learner Guide + labs/lab-10-ai900-capstone-course-review/README.md</a:t>
            </a:r>
          </a:p>
        </p:txBody>
      </p:sp>
      <p:sp>
        <p:nvSpPr>
          <p:cNvPr id="28" name="TextBox 27"/>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Lab bridge only—no click-by-click procedure on the slide.</a:t>
            </a:r>
          </a:p>
        </p:txBody>
      </p:sp>
      <p:sp>
        <p:nvSpPr>
          <p:cNvPr id="29" name="TextBox 28"/>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0" name="TextBox 29"/>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1" name="TextBox 30"/>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235</a:t>
            </a:r>
          </a:p>
        </p:txBody>
      </p:sp>
    </p:spTree>
  </p:cSld>
  <p:clrMapOvr>
    <a:masterClrMapping/>
  </p:clrMapOvr>
  <p:transition spd="fast">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226 · ADMIN</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Summary Q&amp;A</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Connect each workload to its input, model/service and output.</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Explain one metric and the decision it supports.</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Name one Responsible AI control and its evidence.</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Resolve remaining questions before the assessment briefing.</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236</a:t>
            </a:r>
          </a:p>
        </p:txBody>
      </p:sp>
    </p:spTree>
  </p:cSld>
  <p:clrMapOvr>
    <a:masterClrMapping/>
  </p:clrMapOvr>
  <p:transition spd="fast">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227 · ADMIN</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Course Feedback and TRAQOM</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Complete the course feedback in the LMS-TMS.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Complete the mandatory TRAQOM survey.</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Use the correct course run and enrolled learner identity.</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Show the submitted confirmation state to the trainer.</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237</a:t>
            </a:r>
          </a:p>
        </p:txBody>
      </p:sp>
    </p:spTree>
  </p:cSld>
  <p:clrMapOvr>
    <a:masterClrMapping/>
  </p:clrMapOvr>
  <p:transition spd="fast">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228 · ADMIN</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Digital Attendance</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Scan the assessment attendance QR code shown by the trainer.</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Submit with the enrolled learner identity.</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Confirm the correct course run and session.</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Show the confirmation state before starting assessment.</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238</a:t>
            </a:r>
          </a:p>
        </p:txBody>
      </p:sp>
    </p:spTree>
  </p:cSld>
  <p:clrMapOvr>
    <a:masterClrMapping/>
  </p:clrMapOvr>
  <p:transition spd="fast">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F6FEB"/>
                </a:solidFill>
                <a:latin typeface="Arial"/>
              </a:rPr>
              <a:t>LEGACY SLIDE 229 · ADMIN</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Final Assessment</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01952"/>
            <a:ext cx="438912" cy="438912"/>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1</a:t>
            </a:r>
          </a:p>
        </p:txBody>
      </p:sp>
      <p:sp>
        <p:nvSpPr>
          <p:cNvPr id="11" name="TextBox 10"/>
          <p:cNvSpPr txBox="1"/>
          <p:nvPr/>
        </p:nvSpPr>
        <p:spPr>
          <a:xfrm>
            <a:off x="14081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F6FEB"/>
                </a:solidFill>
                <a:latin typeface="Arial"/>
              </a:rPr>
              <a:t>INPUT / SIGNAL</a:t>
            </a:r>
          </a:p>
        </p:txBody>
      </p:sp>
      <p:sp>
        <p:nvSpPr>
          <p:cNvPr id="12" name="TextBox 11"/>
          <p:cNvSpPr txBox="1"/>
          <p:nvPr/>
        </p:nvSpPr>
        <p:spPr>
          <a:xfrm>
            <a:off x="8869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Complete WA-SAQ and PP within the stated durations.</a:t>
            </a:r>
          </a:p>
        </p:txBody>
      </p:sp>
      <p:sp>
        <p:nvSpPr>
          <p:cNvPr id="13" name="Rounded Rectangle 12"/>
          <p:cNvSpPr/>
          <p:nvPr/>
        </p:nvSpPr>
        <p:spPr>
          <a:xfrm>
            <a:off x="34015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02736" y="1901952"/>
            <a:ext cx="438912"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2</a:t>
            </a:r>
          </a:p>
        </p:txBody>
      </p:sp>
      <p:sp>
        <p:nvSpPr>
          <p:cNvPr id="17" name="TextBox 16"/>
          <p:cNvSpPr txBox="1"/>
          <p:nvPr/>
        </p:nvSpPr>
        <p:spPr>
          <a:xfrm>
            <a:off x="41513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10B981"/>
                </a:solidFill>
                <a:latin typeface="Arial"/>
              </a:rPr>
              <a:t>MECHANISM</a:t>
            </a:r>
          </a:p>
        </p:txBody>
      </p:sp>
      <p:sp>
        <p:nvSpPr>
          <p:cNvPr id="18" name="TextBox 17"/>
          <p:cNvSpPr txBox="1"/>
          <p:nvPr/>
        </p:nvSpPr>
        <p:spPr>
          <a:xfrm>
            <a:off x="36301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Use only approved materials and your own evidence.</a:t>
            </a:r>
          </a:p>
        </p:txBody>
      </p:sp>
      <p:sp>
        <p:nvSpPr>
          <p:cNvPr id="19" name="Rounded Rectangle 18"/>
          <p:cNvSpPr/>
          <p:nvPr/>
        </p:nvSpPr>
        <p:spPr>
          <a:xfrm>
            <a:off x="61447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45936" y="1901952"/>
            <a:ext cx="438912" cy="43891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3</a:t>
            </a:r>
          </a:p>
        </p:txBody>
      </p:sp>
      <p:sp>
        <p:nvSpPr>
          <p:cNvPr id="23" name="TextBox 22"/>
          <p:cNvSpPr txBox="1"/>
          <p:nvPr/>
        </p:nvSpPr>
        <p:spPr>
          <a:xfrm>
            <a:off x="68945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7C3AED"/>
                </a:solidFill>
                <a:latin typeface="Arial"/>
              </a:rPr>
              <a:t>OUTPUT / EVIDENCE</a:t>
            </a:r>
          </a:p>
        </p:txBody>
      </p:sp>
      <p:sp>
        <p:nvSpPr>
          <p:cNvPr id="24" name="TextBox 23"/>
          <p:cNvSpPr txBox="1"/>
          <p:nvPr/>
        </p:nvSpPr>
        <p:spPr>
          <a:xfrm>
            <a:off x="63733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Check that every response and practical artifact is submitted.</a:t>
            </a:r>
          </a:p>
        </p:txBody>
      </p:sp>
      <p:sp>
        <p:nvSpPr>
          <p:cNvPr id="25" name="Rounded Rectangle 24"/>
          <p:cNvSpPr/>
          <p:nvPr/>
        </p:nvSpPr>
        <p:spPr>
          <a:xfrm>
            <a:off x="8887968" y="1700784"/>
            <a:ext cx="2487168" cy="36118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89136" y="1901952"/>
            <a:ext cx="438912" cy="43891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1984248"/>
            <a:ext cx="438912" cy="219456"/>
          </a:xfrm>
          <a:prstGeom prst="rect">
            <a:avLst/>
          </a:prstGeom>
          <a:noFill/>
        </p:spPr>
        <p:txBody>
          <a:bodyPr wrap="square" anchor="t" lIns="45720" rIns="45720" tIns="27432" bIns="27432">
            <a:spAutoFit/>
          </a:bodyPr>
          <a:lstStyle/>
          <a:p>
            <a:pPr algn="ctr">
              <a:spcAft>
                <a:spcPts val="0"/>
              </a:spcAft>
            </a:pPr>
            <a:r>
              <a:rPr sz="1400" b="1">
                <a:solidFill>
                  <a:srgbClr val="FFFFFF"/>
                </a:solidFill>
                <a:latin typeface="Arial"/>
              </a:rPr>
              <a:t>4</a:t>
            </a:r>
          </a:p>
        </p:txBody>
      </p:sp>
      <p:sp>
        <p:nvSpPr>
          <p:cNvPr id="29" name="TextBox 28"/>
          <p:cNvSpPr txBox="1"/>
          <p:nvPr/>
        </p:nvSpPr>
        <p:spPr>
          <a:xfrm>
            <a:off x="9637776" y="1901952"/>
            <a:ext cx="1508760" cy="365760"/>
          </a:xfrm>
          <a:prstGeom prst="rect">
            <a:avLst/>
          </a:prstGeom>
          <a:noFill/>
        </p:spPr>
        <p:txBody>
          <a:bodyPr wrap="square" anchor="t" lIns="45720" rIns="45720" tIns="27432" bIns="27432">
            <a:spAutoFit/>
          </a:bodyPr>
          <a:lstStyle/>
          <a:p>
            <a:pPr algn="l">
              <a:spcAft>
                <a:spcPts val="0"/>
              </a:spcAft>
            </a:pPr>
            <a:r>
              <a:rPr sz="1050" b="1">
                <a:solidFill>
                  <a:srgbClr val="F59E0B"/>
                </a:solidFill>
                <a:latin typeface="Arial"/>
              </a:rPr>
              <a:t>CONTROL / VERIFY</a:t>
            </a:r>
          </a:p>
        </p:txBody>
      </p:sp>
      <p:sp>
        <p:nvSpPr>
          <p:cNvPr id="30" name="TextBox 29"/>
          <p:cNvSpPr txBox="1"/>
          <p:nvPr/>
        </p:nvSpPr>
        <p:spPr>
          <a:xfrm>
            <a:off x="9116568" y="2578608"/>
            <a:ext cx="2029968" cy="2331720"/>
          </a:xfrm>
          <a:prstGeom prst="rect">
            <a:avLst/>
          </a:prstGeom>
          <a:noFill/>
        </p:spPr>
        <p:txBody>
          <a:bodyPr wrap="square" anchor="t" lIns="45720" rIns="45720" tIns="27432" bIns="27432">
            <a:spAutoFit/>
          </a:bodyPr>
          <a:lstStyle/>
          <a:p>
            <a:pPr algn="l">
              <a:spcAft>
                <a:spcPts val="0"/>
              </a:spcAft>
            </a:pPr>
            <a:r>
              <a:rPr sz="1350" b="0">
                <a:solidFill>
                  <a:srgbClr val="161B26"/>
                </a:solidFill>
                <a:latin typeface="Arial"/>
              </a:rPr>
              <a:t>Follow the documented appeal or reassessment process if required.</a:t>
            </a:r>
          </a:p>
        </p:txBody>
      </p:sp>
      <p:sp>
        <p:nvSpPr>
          <p:cNvPr id="31" name="Rounded Rectangle 30"/>
          <p:cNvSpPr/>
          <p:nvPr/>
        </p:nvSpPr>
        <p:spPr>
          <a:xfrm>
            <a:off x="658368" y="5486400"/>
            <a:ext cx="10835640" cy="438912"/>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96128"/>
            <a:ext cx="10424160" cy="201168"/>
          </a:xfrm>
          <a:prstGeom prst="rect">
            <a:avLst/>
          </a:prstGeom>
          <a:noFill/>
        </p:spPr>
        <p:txBody>
          <a:bodyPr wrap="square" anchor="t" lIns="45720" rIns="45720" tIns="27432" bIns="27432">
            <a:spAutoFit/>
          </a:bodyPr>
          <a:lstStyle/>
          <a:p>
            <a:pPr algn="l">
              <a:spcAft>
                <a:spcPts val="0"/>
              </a:spcAft>
            </a:pPr>
            <a:r>
              <a:rPr sz="1150" b="1">
                <a:solidFill>
                  <a:srgbClr val="161B26"/>
                </a:solidFill>
                <a:latin typeface="Arial"/>
              </a:rPr>
              <a:t>Control: define the threshold or failure that routes to human review.</a:t>
            </a:r>
          </a:p>
        </p:txBody>
      </p:sp>
      <p:sp>
        <p:nvSpPr>
          <p:cNvPr id="33" name="TextBox 32"/>
          <p:cNvSpPr txBox="1"/>
          <p:nvPr/>
        </p:nvSpPr>
        <p:spPr>
          <a:xfrm>
            <a:off x="694944" y="6089904"/>
            <a:ext cx="10698480" cy="201168"/>
          </a:xfrm>
          <a:prstGeom prst="rect">
            <a:avLst/>
          </a:prstGeom>
          <a:noFill/>
        </p:spPr>
        <p:txBody>
          <a:bodyPr wrap="square" anchor="t" lIns="45720" rIns="45720" tIns="27432" bIns="27432">
            <a:spAutoFit/>
          </a:bodyPr>
          <a:lstStyle/>
          <a:p>
            <a:pPr algn="l">
              <a:spcAft>
                <a:spcPts val="0"/>
              </a:spcAft>
            </a:pPr>
            <a:r>
              <a:rPr sz="750" b="0">
                <a:solidFill>
                  <a:srgbClr val="5B6372"/>
                </a:solidFill>
                <a:latin typeface="Arial"/>
              </a:rPr>
              <a:t>Source: legacy v9 deck; terminology refreshed against MicrosoftLearning current exercises (commit d1a6668).</a:t>
            </a:r>
          </a:p>
        </p:txBody>
      </p:sp>
      <p:sp>
        <p:nvSpPr>
          <p:cNvPr id="34" name="TextBox 33"/>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5" name="TextBox 34"/>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6" name="TextBox 35"/>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239</a:t>
            </a:r>
          </a:p>
        </p:txBody>
      </p:sp>
    </p:spTree>
  </p:cSld>
  <p:clrMapOvr>
    <a:masterClrMapping/>
  </p:clrMapOvr>
  <p:transition spd="fast">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7C3AED"/>
                </a:solidFill>
                <a:latin typeface="Arial"/>
              </a:rPr>
              <a:t>CLOSING · WA-SAQ + PRACTICAL PERFORMANCE</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Assessment Flow</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11680"/>
            <a:ext cx="2304288" cy="242316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53312" y="2304288"/>
            <a:ext cx="914400" cy="9144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596896"/>
            <a:ext cx="914400" cy="274320"/>
          </a:xfrm>
          <a:prstGeom prst="rect">
            <a:avLst/>
          </a:prstGeom>
          <a:noFill/>
        </p:spPr>
        <p:txBody>
          <a:bodyPr wrap="square" anchor="t" lIns="45720" rIns="45720" tIns="27432" bIns="27432">
            <a:spAutoFit/>
          </a:bodyPr>
          <a:lstStyle/>
          <a:p>
            <a:pPr algn="ctr">
              <a:spcAft>
                <a:spcPts val="0"/>
              </a:spcAft>
            </a:pPr>
            <a:r>
              <a:rPr sz="2200" b="1">
                <a:solidFill>
                  <a:srgbClr val="FFFFFF"/>
                </a:solidFill>
                <a:latin typeface="Arial"/>
              </a:rPr>
              <a:t>1</a:t>
            </a:r>
          </a:p>
        </p:txBody>
      </p:sp>
      <p:sp>
        <p:nvSpPr>
          <p:cNvPr id="10" name="TextBox 9"/>
          <p:cNvSpPr txBox="1"/>
          <p:nvPr/>
        </p:nvSpPr>
        <p:spPr>
          <a:xfrm>
            <a:off x="822959" y="3401568"/>
            <a:ext cx="1975104" cy="292608"/>
          </a:xfrm>
          <a:prstGeom prst="rect">
            <a:avLst/>
          </a:prstGeom>
          <a:noFill/>
        </p:spPr>
        <p:txBody>
          <a:bodyPr wrap="square" anchor="t" lIns="45720" rIns="45720" tIns="27432" bIns="27432">
            <a:spAutoFit/>
          </a:bodyPr>
          <a:lstStyle/>
          <a:p>
            <a:pPr algn="ctr">
              <a:spcAft>
                <a:spcPts val="0"/>
              </a:spcAft>
            </a:pPr>
            <a:r>
              <a:rPr sz="1400" b="1">
                <a:solidFill>
                  <a:srgbClr val="1F6FEB"/>
                </a:solidFill>
                <a:latin typeface="Arial"/>
              </a:rPr>
              <a:t>WA-SAQ</a:t>
            </a:r>
          </a:p>
        </p:txBody>
      </p:sp>
      <p:sp>
        <p:nvSpPr>
          <p:cNvPr id="11" name="TextBox 10"/>
          <p:cNvSpPr txBox="1"/>
          <p:nvPr/>
        </p:nvSpPr>
        <p:spPr>
          <a:xfrm>
            <a:off x="822959" y="3767328"/>
            <a:ext cx="1975104" cy="512064"/>
          </a:xfrm>
          <a:prstGeom prst="rect">
            <a:avLst/>
          </a:prstGeom>
          <a:noFill/>
        </p:spPr>
        <p:txBody>
          <a:bodyPr wrap="square" anchor="t" lIns="45720" rIns="45720" tIns="27432" bIns="27432">
            <a:spAutoFit/>
          </a:bodyPr>
          <a:lstStyle/>
          <a:p>
            <a:pPr algn="ctr">
              <a:spcAft>
                <a:spcPts val="0"/>
              </a:spcAft>
            </a:pPr>
            <a:r>
              <a:rPr sz="1100" b="0">
                <a:solidFill>
                  <a:srgbClr val="161B26"/>
                </a:solidFill>
                <a:latin typeface="Arial"/>
              </a:rPr>
              <a:t>11 open-ended questions
60 minutes</a:t>
            </a:r>
          </a:p>
        </p:txBody>
      </p:sp>
      <p:cxnSp>
        <p:nvCxnSpPr>
          <p:cNvPr id="12" name="Connector 11"/>
          <p:cNvCxnSpPr/>
          <p:nvPr/>
        </p:nvCxnSpPr>
        <p:spPr>
          <a:xfrm>
            <a:off x="2962656" y="3218688"/>
            <a:ext cx="374904" cy="0"/>
          </a:xfrm>
          <a:prstGeom prst="line">
            <a:avLst/>
          </a:prstGeom>
          <a:ln>
            <a:solidFill>
              <a:srgbClr val="7C3AE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01568" y="2011680"/>
            <a:ext cx="2304288" cy="242316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096511" y="2304288"/>
            <a:ext cx="914400" cy="9144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6511" y="2596896"/>
            <a:ext cx="914400" cy="274320"/>
          </a:xfrm>
          <a:prstGeom prst="rect">
            <a:avLst/>
          </a:prstGeom>
          <a:noFill/>
        </p:spPr>
        <p:txBody>
          <a:bodyPr wrap="square" anchor="t" lIns="45720" rIns="45720" tIns="27432" bIns="27432">
            <a:spAutoFit/>
          </a:bodyPr>
          <a:lstStyle/>
          <a:p>
            <a:pPr algn="ctr">
              <a:spcAft>
                <a:spcPts val="0"/>
              </a:spcAft>
            </a:pPr>
            <a:r>
              <a:rPr sz="2200" b="1">
                <a:solidFill>
                  <a:srgbClr val="FFFFFF"/>
                </a:solidFill>
                <a:latin typeface="Arial"/>
              </a:rPr>
              <a:t>2</a:t>
            </a:r>
          </a:p>
        </p:txBody>
      </p:sp>
      <p:sp>
        <p:nvSpPr>
          <p:cNvPr id="16" name="TextBox 15"/>
          <p:cNvSpPr txBox="1"/>
          <p:nvPr/>
        </p:nvSpPr>
        <p:spPr>
          <a:xfrm>
            <a:off x="3566160" y="3401568"/>
            <a:ext cx="1975104" cy="292608"/>
          </a:xfrm>
          <a:prstGeom prst="rect">
            <a:avLst/>
          </a:prstGeom>
          <a:noFill/>
        </p:spPr>
        <p:txBody>
          <a:bodyPr wrap="square" anchor="t" lIns="45720" rIns="45720" tIns="27432" bIns="27432">
            <a:spAutoFit/>
          </a:bodyPr>
          <a:lstStyle/>
          <a:p>
            <a:pPr algn="ctr">
              <a:spcAft>
                <a:spcPts val="0"/>
              </a:spcAft>
            </a:pPr>
            <a:r>
              <a:rPr sz="1400" b="1">
                <a:solidFill>
                  <a:srgbClr val="10B981"/>
                </a:solidFill>
                <a:latin typeface="Arial"/>
              </a:rPr>
              <a:t>PP</a:t>
            </a:r>
          </a:p>
        </p:txBody>
      </p:sp>
      <p:sp>
        <p:nvSpPr>
          <p:cNvPr id="17" name="TextBox 16"/>
          <p:cNvSpPr txBox="1"/>
          <p:nvPr/>
        </p:nvSpPr>
        <p:spPr>
          <a:xfrm>
            <a:off x="3566160" y="3767328"/>
            <a:ext cx="1975104" cy="512064"/>
          </a:xfrm>
          <a:prstGeom prst="rect">
            <a:avLst/>
          </a:prstGeom>
          <a:noFill/>
        </p:spPr>
        <p:txBody>
          <a:bodyPr wrap="square" anchor="t" lIns="45720" rIns="45720" tIns="27432" bIns="27432">
            <a:spAutoFit/>
          </a:bodyPr>
          <a:lstStyle/>
          <a:p>
            <a:pPr algn="ctr">
              <a:spcAft>
                <a:spcPts val="0"/>
              </a:spcAft>
            </a:pPr>
            <a:r>
              <a:rPr sz="1100" b="0">
                <a:solidFill>
                  <a:srgbClr val="161B26"/>
                </a:solidFill>
                <a:latin typeface="Arial"/>
              </a:rPr>
              <a:t>4 lab-aligned tasks
90 minutes</a:t>
            </a:r>
          </a:p>
        </p:txBody>
      </p:sp>
      <p:cxnSp>
        <p:nvCxnSpPr>
          <p:cNvPr id="18" name="Connector 17"/>
          <p:cNvCxnSpPr/>
          <p:nvPr/>
        </p:nvCxnSpPr>
        <p:spPr>
          <a:xfrm>
            <a:off x="5705856" y="3218688"/>
            <a:ext cx="374904" cy="0"/>
          </a:xfrm>
          <a:prstGeom prst="line">
            <a:avLst/>
          </a:prstGeom>
          <a:ln>
            <a:solidFill>
              <a:srgbClr val="7C3AED"/>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44768" y="2011680"/>
            <a:ext cx="2304288" cy="242316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839712" y="2304288"/>
            <a:ext cx="914400" cy="9144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39712" y="2596896"/>
            <a:ext cx="914400" cy="274320"/>
          </a:xfrm>
          <a:prstGeom prst="rect">
            <a:avLst/>
          </a:prstGeom>
          <a:noFill/>
        </p:spPr>
        <p:txBody>
          <a:bodyPr wrap="square" anchor="t" lIns="45720" rIns="45720" tIns="27432" bIns="27432">
            <a:spAutoFit/>
          </a:bodyPr>
          <a:lstStyle/>
          <a:p>
            <a:pPr algn="ctr">
              <a:spcAft>
                <a:spcPts val="0"/>
              </a:spcAft>
            </a:pPr>
            <a:r>
              <a:rPr sz="2200" b="1">
                <a:solidFill>
                  <a:srgbClr val="FFFFFF"/>
                </a:solidFill>
                <a:latin typeface="Arial"/>
              </a:rPr>
              <a:t>3</a:t>
            </a:r>
          </a:p>
        </p:txBody>
      </p:sp>
      <p:sp>
        <p:nvSpPr>
          <p:cNvPr id="22" name="TextBox 21"/>
          <p:cNvSpPr txBox="1"/>
          <p:nvPr/>
        </p:nvSpPr>
        <p:spPr>
          <a:xfrm>
            <a:off x="6309359" y="3401568"/>
            <a:ext cx="1975104" cy="292608"/>
          </a:xfrm>
          <a:prstGeom prst="rect">
            <a:avLst/>
          </a:prstGeom>
          <a:noFill/>
        </p:spPr>
        <p:txBody>
          <a:bodyPr wrap="square" anchor="t" lIns="45720" rIns="45720" tIns="27432" bIns="27432">
            <a:spAutoFit/>
          </a:bodyPr>
          <a:lstStyle/>
          <a:p>
            <a:pPr algn="ctr">
              <a:spcAft>
                <a:spcPts val="0"/>
              </a:spcAft>
            </a:pPr>
            <a:r>
              <a:rPr sz="1400" b="1">
                <a:solidFill>
                  <a:srgbClr val="7C3AED"/>
                </a:solidFill>
                <a:latin typeface="Arial"/>
              </a:rPr>
              <a:t>DECISION</a:t>
            </a:r>
          </a:p>
        </p:txBody>
      </p:sp>
      <p:sp>
        <p:nvSpPr>
          <p:cNvPr id="23" name="TextBox 22"/>
          <p:cNvSpPr txBox="1"/>
          <p:nvPr/>
        </p:nvSpPr>
        <p:spPr>
          <a:xfrm>
            <a:off x="6309359" y="3767328"/>
            <a:ext cx="1975104" cy="512064"/>
          </a:xfrm>
          <a:prstGeom prst="rect">
            <a:avLst/>
          </a:prstGeom>
          <a:noFill/>
        </p:spPr>
        <p:txBody>
          <a:bodyPr wrap="square" anchor="t" lIns="45720" rIns="45720" tIns="27432" bIns="27432">
            <a:spAutoFit/>
          </a:bodyPr>
          <a:lstStyle/>
          <a:p>
            <a:pPr algn="ctr">
              <a:spcAft>
                <a:spcPts val="0"/>
              </a:spcAft>
            </a:pPr>
            <a:r>
              <a:rPr sz="1100" b="0">
                <a:solidFill>
                  <a:srgbClr val="161B26"/>
                </a:solidFill>
                <a:latin typeface="Arial"/>
              </a:rPr>
              <a:t>K1-K11 and A1-A5
must be competent</a:t>
            </a:r>
          </a:p>
        </p:txBody>
      </p:sp>
      <p:cxnSp>
        <p:nvCxnSpPr>
          <p:cNvPr id="24" name="Connector 23"/>
          <p:cNvCxnSpPr/>
          <p:nvPr/>
        </p:nvCxnSpPr>
        <p:spPr>
          <a:xfrm>
            <a:off x="8449056" y="3218688"/>
            <a:ext cx="374904" cy="0"/>
          </a:xfrm>
          <a:prstGeom prst="line">
            <a:avLst/>
          </a:prstGeom>
          <a:ln>
            <a:solidFill>
              <a:srgbClr val="7C3AED"/>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887968" y="2011680"/>
            <a:ext cx="2304288" cy="2423160"/>
          </a:xfrm>
          <a:prstGeom prst="round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582912" y="2304288"/>
            <a:ext cx="914400" cy="914400"/>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82912" y="2596896"/>
            <a:ext cx="914400" cy="274320"/>
          </a:xfrm>
          <a:prstGeom prst="rect">
            <a:avLst/>
          </a:prstGeom>
          <a:noFill/>
        </p:spPr>
        <p:txBody>
          <a:bodyPr wrap="square" anchor="t" lIns="45720" rIns="45720" tIns="27432" bIns="27432">
            <a:spAutoFit/>
          </a:bodyPr>
          <a:lstStyle/>
          <a:p>
            <a:pPr algn="ctr">
              <a:spcAft>
                <a:spcPts val="0"/>
              </a:spcAft>
            </a:pPr>
            <a:r>
              <a:rPr sz="2200" b="1">
                <a:solidFill>
                  <a:srgbClr val="FFFFFF"/>
                </a:solidFill>
                <a:latin typeface="Arial"/>
              </a:rPr>
              <a:t>4</a:t>
            </a:r>
          </a:p>
        </p:txBody>
      </p:sp>
      <p:sp>
        <p:nvSpPr>
          <p:cNvPr id="28" name="TextBox 27"/>
          <p:cNvSpPr txBox="1"/>
          <p:nvPr/>
        </p:nvSpPr>
        <p:spPr>
          <a:xfrm>
            <a:off x="9052560" y="3401568"/>
            <a:ext cx="1975104" cy="292608"/>
          </a:xfrm>
          <a:prstGeom prst="rect">
            <a:avLst/>
          </a:prstGeom>
          <a:noFill/>
        </p:spPr>
        <p:txBody>
          <a:bodyPr wrap="square" anchor="t" lIns="45720" rIns="45720" tIns="27432" bIns="27432">
            <a:spAutoFit/>
          </a:bodyPr>
          <a:lstStyle/>
          <a:p>
            <a:pPr algn="ctr">
              <a:spcAft>
                <a:spcPts val="0"/>
              </a:spcAft>
            </a:pPr>
            <a:r>
              <a:rPr sz="1400" b="1">
                <a:solidFill>
                  <a:srgbClr val="F59E0B"/>
                </a:solidFill>
                <a:latin typeface="Arial"/>
              </a:rPr>
              <a:t>SIGN-OFF</a:t>
            </a:r>
          </a:p>
        </p:txBody>
      </p:sp>
      <p:sp>
        <p:nvSpPr>
          <p:cNvPr id="29" name="TextBox 28"/>
          <p:cNvSpPr txBox="1"/>
          <p:nvPr/>
        </p:nvSpPr>
        <p:spPr>
          <a:xfrm>
            <a:off x="9052560" y="3767328"/>
            <a:ext cx="1975104" cy="512064"/>
          </a:xfrm>
          <a:prstGeom prst="rect">
            <a:avLst/>
          </a:prstGeom>
          <a:noFill/>
        </p:spPr>
        <p:txBody>
          <a:bodyPr wrap="square" anchor="t" lIns="45720" rIns="45720" tIns="27432" bIns="27432">
            <a:spAutoFit/>
          </a:bodyPr>
          <a:lstStyle/>
          <a:p>
            <a:pPr algn="ctr">
              <a:spcAft>
                <a:spcPts val="0"/>
              </a:spcAft>
            </a:pPr>
            <a:r>
              <a:rPr sz="1100" b="0">
                <a:solidFill>
                  <a:srgbClr val="161B26"/>
                </a:solidFill>
                <a:latin typeface="Arial"/>
              </a:rPr>
              <a:t>Feedback · agreement · appeal path</a:t>
            </a:r>
          </a:p>
        </p:txBody>
      </p:sp>
      <p:sp>
        <p:nvSpPr>
          <p:cNvPr id="30" name="Rounded Rectangle 29"/>
          <p:cNvSpPr/>
          <p:nvPr/>
        </p:nvSpPr>
        <p:spPr>
          <a:xfrm>
            <a:off x="658368" y="4892040"/>
            <a:ext cx="10835640" cy="7772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102352"/>
            <a:ext cx="10332720" cy="365760"/>
          </a:xfrm>
          <a:prstGeom prst="rect">
            <a:avLst/>
          </a:prstGeom>
          <a:noFill/>
        </p:spPr>
        <p:txBody>
          <a:bodyPr wrap="square" anchor="t" lIns="45720" rIns="45720" tIns="27432" bIns="27432">
            <a:spAutoFit/>
          </a:bodyPr>
          <a:lstStyle/>
          <a:p>
            <a:pPr algn="l">
              <a:spcAft>
                <a:spcPts val="0"/>
              </a:spcAft>
            </a:pPr>
            <a:r>
              <a:rPr sz="1200" b="1">
                <a:solidFill>
                  <a:srgbClr val="161B26"/>
                </a:solidFill>
                <a:latin typeface="Arial"/>
              </a:rPr>
              <a:t>If the candidate disagrees, do not sign; notify the assessor and use the documented appeal process within 7 days.</a:t>
            </a:r>
          </a:p>
        </p:txBody>
      </p:sp>
      <p:sp>
        <p:nvSpPr>
          <p:cNvPr id="32" name="TextBox 31"/>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33" name="TextBox 32"/>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34" name="TextBox 33"/>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240</a:t>
            </a:r>
          </a:p>
        </p:txBody>
      </p:sp>
    </p:spTree>
  </p:cSld>
  <p:clrMapOvr>
    <a:masterClrMapping/>
  </p:clrMapOvr>
  <p:transition spd="fast">
    <p:fade/>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45720" rIns="45720" tIns="27432" bIns="27432">
            <a:spAutoFit/>
          </a:bodyPr>
          <a:lstStyle/>
          <a:p>
            <a:pPr algn="l">
              <a:spcAft>
                <a:spcPts val="0"/>
              </a:spcAft>
            </a:pPr>
            <a:r>
              <a:rPr sz="1200" b="1">
                <a:solidFill>
                  <a:srgbClr val="10B981"/>
                </a:solidFill>
                <a:latin typeface="Arial"/>
              </a:rPr>
              <a:t>TRAQOM · MANDATORY</a:t>
            </a:r>
          </a:p>
        </p:txBody>
      </p:sp>
      <p:sp>
        <p:nvSpPr>
          <p:cNvPr id="5" name="TextBox 4"/>
          <p:cNvSpPr txBox="1"/>
          <p:nvPr/>
        </p:nvSpPr>
        <p:spPr>
          <a:xfrm>
            <a:off x="658368" y="640080"/>
            <a:ext cx="10835640" cy="658368"/>
          </a:xfrm>
          <a:prstGeom prst="rect">
            <a:avLst/>
          </a:prstGeom>
          <a:noFill/>
        </p:spPr>
        <p:txBody>
          <a:bodyPr wrap="square" anchor="t" lIns="45720" rIns="45720" tIns="27432" bIns="27432">
            <a:spAutoFit/>
          </a:bodyPr>
          <a:lstStyle/>
          <a:p>
            <a:pPr algn="l">
              <a:spcAft>
                <a:spcPts val="0"/>
              </a:spcAft>
            </a:pPr>
            <a:r>
              <a:rPr sz="2800" b="1">
                <a:solidFill>
                  <a:srgbClr val="161B26"/>
                </a:solidFill>
                <a:latin typeface="Arial"/>
              </a:rPr>
              <a:t>Digital Attendance (Assessment)</a:t>
            </a:r>
          </a:p>
        </p:txBody>
      </p:sp>
      <p:sp>
        <p:nvSpPr>
          <p:cNvPr id="6" name="Rectangle 5"/>
          <p:cNvSpPr/>
          <p:nvPr/>
        </p:nvSpPr>
        <p:spPr>
          <a:xfrm>
            <a:off x="658368" y="1371600"/>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41248" y="1920240"/>
            <a:ext cx="3063240" cy="30632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938528" y="2286000"/>
            <a:ext cx="822960" cy="82296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38528" y="2523744"/>
            <a:ext cx="822960" cy="256032"/>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1</a:t>
            </a:r>
          </a:p>
        </p:txBody>
      </p:sp>
      <p:sp>
        <p:nvSpPr>
          <p:cNvPr id="10" name="TextBox 9"/>
          <p:cNvSpPr txBox="1"/>
          <p:nvPr/>
        </p:nvSpPr>
        <p:spPr>
          <a:xfrm>
            <a:off x="1069848" y="3429000"/>
            <a:ext cx="2606040" cy="320040"/>
          </a:xfrm>
          <a:prstGeom prst="rect">
            <a:avLst/>
          </a:prstGeom>
          <a:noFill/>
        </p:spPr>
        <p:txBody>
          <a:bodyPr wrap="square" anchor="t" lIns="45720" rIns="45720" tIns="27432" bIns="27432">
            <a:spAutoFit/>
          </a:bodyPr>
          <a:lstStyle/>
          <a:p>
            <a:pPr algn="ctr">
              <a:spcAft>
                <a:spcPts val="0"/>
              </a:spcAft>
            </a:pPr>
            <a:r>
              <a:rPr sz="1600" b="1">
                <a:solidFill>
                  <a:srgbClr val="1F6FEB"/>
                </a:solidFill>
                <a:latin typeface="Arial"/>
              </a:rPr>
              <a:t>SCAN</a:t>
            </a:r>
          </a:p>
        </p:txBody>
      </p:sp>
      <p:sp>
        <p:nvSpPr>
          <p:cNvPr id="11" name="TextBox 10"/>
          <p:cNvSpPr txBox="1"/>
          <p:nvPr/>
        </p:nvSpPr>
        <p:spPr>
          <a:xfrm>
            <a:off x="1161288" y="3886200"/>
            <a:ext cx="2423160" cy="640080"/>
          </a:xfrm>
          <a:prstGeom prst="rect">
            <a:avLst/>
          </a:prstGeom>
          <a:noFill/>
        </p:spPr>
        <p:txBody>
          <a:bodyPr wrap="square" anchor="t" lIns="45720" rIns="45720" tIns="27432" bIns="27432">
            <a:spAutoFit/>
          </a:bodyPr>
          <a:lstStyle/>
          <a:p>
            <a:pPr algn="ctr">
              <a:spcAft>
                <a:spcPts val="0"/>
              </a:spcAft>
            </a:pPr>
            <a:r>
              <a:rPr sz="1300" b="0">
                <a:solidFill>
                  <a:srgbClr val="161B26"/>
                </a:solidFill>
                <a:latin typeface="Arial"/>
              </a:rPr>
              <a:t>Use the SSG QR code shown by the trainer.</a:t>
            </a:r>
          </a:p>
        </p:txBody>
      </p:sp>
      <p:sp>
        <p:nvSpPr>
          <p:cNvPr id="12" name="Rounded Rectangle 11"/>
          <p:cNvSpPr/>
          <p:nvPr/>
        </p:nvSpPr>
        <p:spPr>
          <a:xfrm>
            <a:off x="4498848" y="1920240"/>
            <a:ext cx="3063240" cy="30632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596128" y="2286000"/>
            <a:ext cx="822960" cy="82296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96128" y="2523744"/>
            <a:ext cx="822960" cy="256032"/>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2</a:t>
            </a:r>
          </a:p>
        </p:txBody>
      </p:sp>
      <p:sp>
        <p:nvSpPr>
          <p:cNvPr id="15" name="TextBox 14"/>
          <p:cNvSpPr txBox="1"/>
          <p:nvPr/>
        </p:nvSpPr>
        <p:spPr>
          <a:xfrm>
            <a:off x="4727448" y="3429000"/>
            <a:ext cx="2606040" cy="320040"/>
          </a:xfrm>
          <a:prstGeom prst="rect">
            <a:avLst/>
          </a:prstGeom>
          <a:noFill/>
        </p:spPr>
        <p:txBody>
          <a:bodyPr wrap="square" anchor="t" lIns="45720" rIns="45720" tIns="27432" bIns="27432">
            <a:spAutoFit/>
          </a:bodyPr>
          <a:lstStyle/>
          <a:p>
            <a:pPr algn="ctr">
              <a:spcAft>
                <a:spcPts val="0"/>
              </a:spcAft>
            </a:pPr>
            <a:r>
              <a:rPr sz="1600" b="1">
                <a:solidFill>
                  <a:srgbClr val="10B981"/>
                </a:solidFill>
                <a:latin typeface="Arial"/>
              </a:rPr>
              <a:t>SUBMIT</a:t>
            </a:r>
          </a:p>
        </p:txBody>
      </p:sp>
      <p:sp>
        <p:nvSpPr>
          <p:cNvPr id="16" name="TextBox 15"/>
          <p:cNvSpPr txBox="1"/>
          <p:nvPr/>
        </p:nvSpPr>
        <p:spPr>
          <a:xfrm>
            <a:off x="4818888" y="3886200"/>
            <a:ext cx="2423160" cy="640080"/>
          </a:xfrm>
          <a:prstGeom prst="rect">
            <a:avLst/>
          </a:prstGeom>
          <a:noFill/>
        </p:spPr>
        <p:txBody>
          <a:bodyPr wrap="square" anchor="t" lIns="45720" rIns="45720" tIns="27432" bIns="27432">
            <a:spAutoFit/>
          </a:bodyPr>
          <a:lstStyle/>
          <a:p>
            <a:pPr algn="ctr">
              <a:spcAft>
                <a:spcPts val="0"/>
              </a:spcAft>
            </a:pPr>
            <a:r>
              <a:rPr sz="1300" b="0">
                <a:solidFill>
                  <a:srgbClr val="161B26"/>
                </a:solidFill>
                <a:latin typeface="Arial"/>
              </a:rPr>
              <a:t>Complete assessment attendance in Singpass.</a:t>
            </a:r>
          </a:p>
        </p:txBody>
      </p:sp>
      <p:sp>
        <p:nvSpPr>
          <p:cNvPr id="17" name="Rounded Rectangle 16"/>
          <p:cNvSpPr/>
          <p:nvPr/>
        </p:nvSpPr>
        <p:spPr>
          <a:xfrm>
            <a:off x="8156448" y="1920240"/>
            <a:ext cx="3063240" cy="30632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253728" y="2286000"/>
            <a:ext cx="822960" cy="82296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53728" y="2523744"/>
            <a:ext cx="822960" cy="256032"/>
          </a:xfrm>
          <a:prstGeom prst="rect">
            <a:avLst/>
          </a:prstGeom>
          <a:noFill/>
        </p:spPr>
        <p:txBody>
          <a:bodyPr wrap="square" anchor="t" lIns="45720" rIns="45720" tIns="27432" bIns="27432">
            <a:spAutoFit/>
          </a:bodyPr>
          <a:lstStyle/>
          <a:p>
            <a:pPr algn="ctr">
              <a:spcAft>
                <a:spcPts val="0"/>
              </a:spcAft>
            </a:pPr>
            <a:r>
              <a:rPr sz="2000" b="1">
                <a:solidFill>
                  <a:srgbClr val="FFFFFF"/>
                </a:solidFill>
                <a:latin typeface="Arial"/>
              </a:rPr>
              <a:t>3</a:t>
            </a:r>
          </a:p>
        </p:txBody>
      </p:sp>
      <p:sp>
        <p:nvSpPr>
          <p:cNvPr id="20" name="TextBox 19"/>
          <p:cNvSpPr txBox="1"/>
          <p:nvPr/>
        </p:nvSpPr>
        <p:spPr>
          <a:xfrm>
            <a:off x="8385048" y="3429000"/>
            <a:ext cx="2606040" cy="320040"/>
          </a:xfrm>
          <a:prstGeom prst="rect">
            <a:avLst/>
          </a:prstGeom>
          <a:noFill/>
        </p:spPr>
        <p:txBody>
          <a:bodyPr wrap="square" anchor="t" lIns="45720" rIns="45720" tIns="27432" bIns="27432">
            <a:spAutoFit/>
          </a:bodyPr>
          <a:lstStyle/>
          <a:p>
            <a:pPr algn="ctr">
              <a:spcAft>
                <a:spcPts val="0"/>
              </a:spcAft>
            </a:pPr>
            <a:r>
              <a:rPr sz="1600" b="1">
                <a:solidFill>
                  <a:srgbClr val="7C3AED"/>
                </a:solidFill>
                <a:latin typeface="Arial"/>
              </a:rPr>
              <a:t>VERIFY</a:t>
            </a:r>
          </a:p>
        </p:txBody>
      </p:sp>
      <p:sp>
        <p:nvSpPr>
          <p:cNvPr id="21" name="TextBox 20"/>
          <p:cNvSpPr txBox="1"/>
          <p:nvPr/>
        </p:nvSpPr>
        <p:spPr>
          <a:xfrm>
            <a:off x="8476488" y="3886200"/>
            <a:ext cx="2423160" cy="640080"/>
          </a:xfrm>
          <a:prstGeom prst="rect">
            <a:avLst/>
          </a:prstGeom>
          <a:noFill/>
        </p:spPr>
        <p:txBody>
          <a:bodyPr wrap="square" anchor="t" lIns="45720" rIns="45720" tIns="27432" bIns="27432">
            <a:spAutoFit/>
          </a:bodyPr>
          <a:lstStyle/>
          <a:p>
            <a:pPr algn="ctr">
              <a:spcAft>
                <a:spcPts val="0"/>
              </a:spcAft>
            </a:pPr>
            <a:r>
              <a:rPr sz="1300" b="0">
                <a:solidFill>
                  <a:srgbClr val="161B26"/>
                </a:solidFill>
                <a:latin typeface="Arial"/>
              </a:rPr>
              <a:t>Show confirmation before leaving.</a:t>
            </a:r>
          </a:p>
        </p:txBody>
      </p:sp>
      <p:sp>
        <p:nvSpPr>
          <p:cNvPr id="22" name="TextBox 21"/>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23" name="TextBox 22"/>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24" name="TextBox 23"/>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241</a:t>
            </a:r>
          </a:p>
        </p:txBody>
      </p:sp>
    </p:spTree>
  </p:cSld>
  <p:clrMapOvr>
    <a:masterClrMapping/>
  </p:clrMapOvr>
  <p:transition spd="fast">
    <p:fade/>
  </p:transition>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74519"/>
            <a:ext cx="10515600" cy="320040"/>
          </a:xfrm>
          <a:prstGeom prst="rect">
            <a:avLst/>
          </a:prstGeom>
          <a:noFill/>
        </p:spPr>
        <p:txBody>
          <a:bodyPr wrap="square" anchor="t" lIns="45720" rIns="45720" tIns="27432" bIns="27432">
            <a:spAutoFit/>
          </a:bodyPr>
          <a:lstStyle/>
          <a:p>
            <a:pPr algn="l">
              <a:spcAft>
                <a:spcPts val="0"/>
              </a:spcAft>
            </a:pPr>
            <a:r>
              <a:rPr sz="1300" b="1">
                <a:solidFill>
                  <a:srgbClr val="1F6FEB"/>
                </a:solidFill>
                <a:latin typeface="Arial"/>
              </a:rPr>
              <a:t>MICROSOFT AZURE AI FUNDAMENTALS · COMPLETE</a:t>
            </a:r>
          </a:p>
        </p:txBody>
      </p:sp>
      <p:sp>
        <p:nvSpPr>
          <p:cNvPr id="5" name="TextBox 4"/>
          <p:cNvSpPr txBox="1"/>
          <p:nvPr/>
        </p:nvSpPr>
        <p:spPr>
          <a:xfrm>
            <a:off x="822960" y="2395728"/>
            <a:ext cx="10515600" cy="914400"/>
          </a:xfrm>
          <a:prstGeom prst="rect">
            <a:avLst/>
          </a:prstGeom>
          <a:noFill/>
        </p:spPr>
        <p:txBody>
          <a:bodyPr wrap="square" anchor="t" lIns="45720" rIns="45720" tIns="27432" bIns="27432">
            <a:spAutoFit/>
          </a:bodyPr>
          <a:lstStyle/>
          <a:p>
            <a:pPr algn="l">
              <a:spcAft>
                <a:spcPts val="0"/>
              </a:spcAft>
            </a:pPr>
            <a:r>
              <a:rPr sz="4400" b="1">
                <a:solidFill>
                  <a:srgbClr val="161B26"/>
                </a:solidFill>
                <a:latin typeface="Arial"/>
              </a:rPr>
              <a:t>Thank You</a:t>
            </a:r>
          </a:p>
        </p:txBody>
      </p:sp>
      <p:sp>
        <p:nvSpPr>
          <p:cNvPr id="6" name="TextBox 5"/>
          <p:cNvSpPr txBox="1"/>
          <p:nvPr/>
        </p:nvSpPr>
        <p:spPr>
          <a:xfrm>
            <a:off x="822960" y="3703320"/>
            <a:ext cx="10241280" cy="685800"/>
          </a:xfrm>
          <a:prstGeom prst="rect">
            <a:avLst/>
          </a:prstGeom>
          <a:noFill/>
        </p:spPr>
        <p:txBody>
          <a:bodyPr wrap="square" anchor="t" lIns="45720" rIns="45720" tIns="27432" bIns="27432">
            <a:spAutoFit/>
          </a:bodyPr>
          <a:lstStyle/>
          <a:p>
            <a:pPr algn="l">
              <a:spcAft>
                <a:spcPts val="0"/>
              </a:spcAft>
            </a:pPr>
            <a:r>
              <a:rPr sz="1700" b="0">
                <a:solidFill>
                  <a:srgbClr val="5B6372"/>
                </a:solidFill>
                <a:latin typeface="Arial"/>
              </a:rPr>
              <a:t>Support: enquiry@tertiaryinfotech.com · +65 6100 0613</a:t>
            </a:r>
          </a:p>
        </p:txBody>
      </p:sp>
      <p:sp>
        <p:nvSpPr>
          <p:cNvPr id="7" name="TextBox 6"/>
          <p:cNvSpPr txBox="1"/>
          <p:nvPr/>
        </p:nvSpPr>
        <p:spPr>
          <a:xfrm>
            <a:off x="822960" y="4736592"/>
            <a:ext cx="10241280" cy="548640"/>
          </a:xfrm>
          <a:prstGeom prst="rect">
            <a:avLst/>
          </a:prstGeom>
          <a:noFill/>
        </p:spPr>
        <p:txBody>
          <a:bodyPr wrap="square" anchor="t" lIns="45720" rIns="45720" tIns="27432" bIns="27432">
            <a:spAutoFit/>
          </a:bodyPr>
          <a:lstStyle/>
          <a:p>
            <a:pPr algn="l">
              <a:spcAft>
                <a:spcPts val="0"/>
              </a:spcAft>
            </a:pPr>
            <a:r>
              <a:rPr sz="1500" b="1">
                <a:solidFill>
                  <a:srgbClr val="10B981"/>
                </a:solidFill>
                <a:latin typeface="Arial"/>
              </a:rPr>
              <a:t>Retain your redacted evidence pack and confirm all temporary Azure resources are deleted or stopped.</a:t>
            </a:r>
          </a:p>
        </p:txBody>
      </p:sp>
      <p:sp>
        <p:nvSpPr>
          <p:cNvPr id="8" name="TextBox 7"/>
          <p:cNvSpPr txBox="1"/>
          <p:nvPr/>
        </p:nvSpPr>
        <p:spPr>
          <a:xfrm>
            <a:off x="658368" y="6437376"/>
            <a:ext cx="4754880" cy="201168"/>
          </a:xfrm>
          <a:prstGeom prst="rect">
            <a:avLst/>
          </a:prstGeom>
          <a:noFill/>
        </p:spPr>
        <p:txBody>
          <a:bodyPr wrap="square" anchor="t" lIns="45720" rIns="45720" tIns="27432" bIns="27432">
            <a:spAutoFit/>
          </a:bodyPr>
          <a:lstStyle/>
          <a:p>
            <a:pPr algn="l">
              <a:spcAft>
                <a:spcPts val="0"/>
              </a:spcAft>
            </a:pPr>
            <a:r>
              <a:rPr sz="800" b="0">
                <a:solidFill>
                  <a:srgbClr val="5B6372"/>
                </a:solidFill>
                <a:latin typeface="Arial"/>
              </a:rPr>
              <a:t>Microsoft Azure AI Fundamentals AI-900 · TGS-2023021100</a:t>
            </a:r>
          </a:p>
        </p:txBody>
      </p:sp>
      <p:sp>
        <p:nvSpPr>
          <p:cNvPr id="9" name="TextBox 8"/>
          <p:cNvSpPr txBox="1"/>
          <p:nvPr/>
        </p:nvSpPr>
        <p:spPr>
          <a:xfrm>
            <a:off x="4480560" y="6437376"/>
            <a:ext cx="3383280" cy="201168"/>
          </a:xfrm>
          <a:prstGeom prst="rect">
            <a:avLst/>
          </a:prstGeom>
          <a:noFill/>
        </p:spPr>
        <p:txBody>
          <a:bodyPr wrap="square" anchor="t" lIns="45720" rIns="45720" tIns="27432" bIns="27432">
            <a:spAutoFit/>
          </a:bodyPr>
          <a:lstStyle/>
          <a:p>
            <a:pPr algn="ctr">
              <a:spcAft>
                <a:spcPts val="0"/>
              </a:spcAft>
            </a:pPr>
            <a:r>
              <a:rPr sz="800" b="0">
                <a:solidFill>
                  <a:srgbClr val="5B6372"/>
                </a:solidFill>
                <a:latin typeface="Arial"/>
              </a:rPr>
              <a:t>© 2026 Tertiary Infotech Academy Pte Ltd</a:t>
            </a:r>
          </a:p>
        </p:txBody>
      </p:sp>
      <p:sp>
        <p:nvSpPr>
          <p:cNvPr id="10" name="TextBox 9"/>
          <p:cNvSpPr txBox="1"/>
          <p:nvPr/>
        </p:nvSpPr>
        <p:spPr>
          <a:xfrm>
            <a:off x="11018520" y="6437376"/>
            <a:ext cx="502920" cy="201168"/>
          </a:xfrm>
          <a:prstGeom prst="rect">
            <a:avLst/>
          </a:prstGeom>
          <a:noFill/>
        </p:spPr>
        <p:txBody>
          <a:bodyPr wrap="square" anchor="t" lIns="45720" rIns="45720" tIns="27432" bIns="27432">
            <a:spAutoFit/>
          </a:bodyPr>
          <a:lstStyle/>
          <a:p>
            <a:pPr algn="r">
              <a:spcAft>
                <a:spcPts val="0"/>
              </a:spcAft>
            </a:pPr>
            <a:r>
              <a:rPr sz="800" b="0">
                <a:solidFill>
                  <a:srgbClr val="5B6372"/>
                </a:solidFill>
                <a:latin typeface="Arial"/>
              </a:rPr>
              <a:t>242</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